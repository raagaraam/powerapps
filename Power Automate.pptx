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333" r:id="rId3"/>
    <p:sldId id="257" r:id="rId4"/>
    <p:sldId id="258" r:id="rId5"/>
    <p:sldId id="259" r:id="rId6"/>
    <p:sldId id="260" r:id="rId7"/>
    <p:sldId id="262" r:id="rId8"/>
    <p:sldId id="261" r:id="rId9"/>
    <p:sldId id="263" r:id="rId10"/>
    <p:sldId id="264" r:id="rId11"/>
    <p:sldId id="292" r:id="rId12"/>
    <p:sldId id="265" r:id="rId13"/>
    <p:sldId id="266" r:id="rId14"/>
    <p:sldId id="267" r:id="rId15"/>
    <p:sldId id="273" r:id="rId16"/>
    <p:sldId id="269" r:id="rId17"/>
    <p:sldId id="270" r:id="rId18"/>
    <p:sldId id="271" r:id="rId19"/>
    <p:sldId id="272" r:id="rId20"/>
    <p:sldId id="268" r:id="rId21"/>
    <p:sldId id="318" r:id="rId22"/>
    <p:sldId id="293" r:id="rId23"/>
    <p:sldId id="277" r:id="rId24"/>
    <p:sldId id="278" r:id="rId25"/>
    <p:sldId id="280" r:id="rId26"/>
    <p:sldId id="281" r:id="rId27"/>
    <p:sldId id="279" r:id="rId28"/>
    <p:sldId id="282" r:id="rId29"/>
    <p:sldId id="283" r:id="rId30"/>
    <p:sldId id="284" r:id="rId31"/>
    <p:sldId id="285" r:id="rId32"/>
    <p:sldId id="286" r:id="rId33"/>
    <p:sldId id="287" r:id="rId34"/>
    <p:sldId id="288" r:id="rId35"/>
    <p:sldId id="289" r:id="rId36"/>
    <p:sldId id="290" r:id="rId37"/>
    <p:sldId id="291"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10" r:id="rId51"/>
    <p:sldId id="311" r:id="rId52"/>
    <p:sldId id="306" r:id="rId53"/>
    <p:sldId id="307" r:id="rId54"/>
    <p:sldId id="312" r:id="rId55"/>
    <p:sldId id="313" r:id="rId56"/>
    <p:sldId id="315" r:id="rId57"/>
    <p:sldId id="334" r:id="rId58"/>
    <p:sldId id="335" r:id="rId59"/>
    <p:sldId id="336" r:id="rId60"/>
    <p:sldId id="337" r:id="rId61"/>
    <p:sldId id="314" r:id="rId62"/>
    <p:sldId id="316" r:id="rId63"/>
    <p:sldId id="317" r:id="rId64"/>
    <p:sldId id="275" r:id="rId65"/>
    <p:sldId id="309" r:id="rId66"/>
    <p:sldId id="319" r:id="rId67"/>
    <p:sldId id="320" r:id="rId68"/>
    <p:sldId id="321" r:id="rId69"/>
    <p:sldId id="322" r:id="rId70"/>
    <p:sldId id="323" r:id="rId71"/>
    <p:sldId id="324" r:id="rId72"/>
    <p:sldId id="325" r:id="rId73"/>
    <p:sldId id="327" r:id="rId74"/>
    <p:sldId id="328" r:id="rId75"/>
    <p:sldId id="329" r:id="rId76"/>
    <p:sldId id="338" r:id="rId77"/>
    <p:sldId id="330" r:id="rId78"/>
    <p:sldId id="308" r:id="rId79"/>
    <p:sldId id="331" r:id="rId80"/>
    <p:sldId id="332"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170A0A-CB61-41F6-A63D-39844E708DB7}">
          <p14:sldIdLst>
            <p14:sldId id="256"/>
            <p14:sldId id="333"/>
            <p14:sldId id="257"/>
            <p14:sldId id="258"/>
            <p14:sldId id="259"/>
            <p14:sldId id="260"/>
            <p14:sldId id="262"/>
            <p14:sldId id="261"/>
            <p14:sldId id="263"/>
            <p14:sldId id="264"/>
            <p14:sldId id="292"/>
            <p14:sldId id="265"/>
            <p14:sldId id="266"/>
            <p14:sldId id="267"/>
            <p14:sldId id="273"/>
            <p14:sldId id="269"/>
            <p14:sldId id="270"/>
            <p14:sldId id="271"/>
            <p14:sldId id="272"/>
            <p14:sldId id="268"/>
            <p14:sldId id="318"/>
            <p14:sldId id="293"/>
            <p14:sldId id="277"/>
            <p14:sldId id="278"/>
            <p14:sldId id="280"/>
            <p14:sldId id="281"/>
            <p14:sldId id="279"/>
            <p14:sldId id="282"/>
            <p14:sldId id="283"/>
            <p14:sldId id="284"/>
            <p14:sldId id="285"/>
            <p14:sldId id="286"/>
            <p14:sldId id="287"/>
            <p14:sldId id="288"/>
            <p14:sldId id="289"/>
            <p14:sldId id="290"/>
            <p14:sldId id="291"/>
            <p14:sldId id="294"/>
            <p14:sldId id="295"/>
            <p14:sldId id="296"/>
            <p14:sldId id="297"/>
            <p14:sldId id="298"/>
            <p14:sldId id="299"/>
            <p14:sldId id="300"/>
            <p14:sldId id="301"/>
            <p14:sldId id="302"/>
            <p14:sldId id="303"/>
            <p14:sldId id="304"/>
            <p14:sldId id="305"/>
            <p14:sldId id="310"/>
            <p14:sldId id="311"/>
            <p14:sldId id="306"/>
            <p14:sldId id="307"/>
            <p14:sldId id="312"/>
            <p14:sldId id="313"/>
            <p14:sldId id="315"/>
            <p14:sldId id="334"/>
            <p14:sldId id="335"/>
            <p14:sldId id="336"/>
            <p14:sldId id="337"/>
            <p14:sldId id="314"/>
            <p14:sldId id="316"/>
            <p14:sldId id="317"/>
            <p14:sldId id="275"/>
            <p14:sldId id="309"/>
            <p14:sldId id="319"/>
            <p14:sldId id="320"/>
            <p14:sldId id="321"/>
            <p14:sldId id="322"/>
            <p14:sldId id="323"/>
            <p14:sldId id="324"/>
            <p14:sldId id="325"/>
            <p14:sldId id="327"/>
            <p14:sldId id="328"/>
            <p14:sldId id="329"/>
            <p14:sldId id="338"/>
            <p14:sldId id="330"/>
            <p14:sldId id="308"/>
            <p14:sldId id="331"/>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hyperlink" Target="https://flow.microsoft.com/"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flow.microsoft.com/"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7BC903-3718-4260-A8E4-632D61ED3FA7}" type="doc">
      <dgm:prSet loTypeId="urn:microsoft.com/office/officeart/2005/8/layout/hierarchy3" loCatId="hierarchy" qsTypeId="urn:microsoft.com/office/officeart/2005/8/quickstyle/simple2" qsCatId="simple" csTypeId="urn:microsoft.com/office/officeart/2005/8/colors/colorful5" csCatId="colorful"/>
      <dgm:spPr/>
      <dgm:t>
        <a:bodyPr/>
        <a:lstStyle/>
        <a:p>
          <a:endParaRPr lang="en-US"/>
        </a:p>
      </dgm:t>
    </dgm:pt>
    <dgm:pt modelId="{5B402590-C64C-4C59-9428-099BB2D2FB88}">
      <dgm:prSet/>
      <dgm:spPr/>
      <dgm:t>
        <a:bodyPr/>
        <a:lstStyle/>
        <a:p>
          <a:pPr rtl="0"/>
          <a:r>
            <a:rPr lang="en-US" b="1" smtClean="0"/>
            <a:t>Sign Up and Access:</a:t>
          </a:r>
          <a:endParaRPr lang="en-IN"/>
        </a:p>
      </dgm:t>
    </dgm:pt>
    <dgm:pt modelId="{67B44A4F-C94E-4561-8030-45E5546B3FDB}" type="parTrans" cxnId="{53FC0035-0C0B-4E9F-A8D0-9224814B86B3}">
      <dgm:prSet/>
      <dgm:spPr/>
      <dgm:t>
        <a:bodyPr/>
        <a:lstStyle/>
        <a:p>
          <a:endParaRPr lang="en-US"/>
        </a:p>
      </dgm:t>
    </dgm:pt>
    <dgm:pt modelId="{6275D44A-BC19-4A01-A81A-75666E98279A}" type="sibTrans" cxnId="{53FC0035-0C0B-4E9F-A8D0-9224814B86B3}">
      <dgm:prSet/>
      <dgm:spPr/>
      <dgm:t>
        <a:bodyPr/>
        <a:lstStyle/>
        <a:p>
          <a:endParaRPr lang="en-US"/>
        </a:p>
      </dgm:t>
    </dgm:pt>
    <dgm:pt modelId="{11951337-BC15-4B92-8F8E-A6D01DF4C1B5}">
      <dgm:prSet/>
      <dgm:spPr/>
      <dgm:t>
        <a:bodyPr/>
        <a:lstStyle/>
        <a:p>
          <a:pPr rtl="0"/>
          <a:r>
            <a:rPr lang="en-US" dirty="0" smtClean="0"/>
            <a:t>Power Automate is accessible through the web at </a:t>
          </a:r>
          <a:r>
            <a:rPr lang="en-US" b="1" dirty="0" smtClean="0">
              <a:hlinkClick xmlns:r="http://schemas.openxmlformats.org/officeDocument/2006/relationships" r:id="rId1"/>
            </a:rPr>
            <a:t>flow.microsoft.com</a:t>
          </a:r>
          <a:r>
            <a:rPr lang="en-US" dirty="0" smtClean="0"/>
            <a:t>, and it can also be accessed via the Power Automate mobile app.</a:t>
          </a:r>
          <a:endParaRPr lang="en-IN" dirty="0"/>
        </a:p>
      </dgm:t>
    </dgm:pt>
    <dgm:pt modelId="{89D20091-CFA8-44C1-B550-89EDFD68D4F7}" type="parTrans" cxnId="{39714F85-1C10-483F-B3BE-776732975C4B}">
      <dgm:prSet/>
      <dgm:spPr/>
      <dgm:t>
        <a:bodyPr/>
        <a:lstStyle/>
        <a:p>
          <a:endParaRPr lang="en-US"/>
        </a:p>
      </dgm:t>
    </dgm:pt>
    <dgm:pt modelId="{7D2CB71D-DC55-4A53-9838-1FCF0B292630}" type="sibTrans" cxnId="{39714F85-1C10-483F-B3BE-776732975C4B}">
      <dgm:prSet/>
      <dgm:spPr/>
      <dgm:t>
        <a:bodyPr/>
        <a:lstStyle/>
        <a:p>
          <a:endParaRPr lang="en-US"/>
        </a:p>
      </dgm:t>
    </dgm:pt>
    <dgm:pt modelId="{2F19BD17-C14A-4660-9B17-0A20C5E004B0}">
      <dgm:prSet/>
      <dgm:spPr/>
      <dgm:t>
        <a:bodyPr/>
        <a:lstStyle/>
        <a:p>
          <a:pPr rtl="0"/>
          <a:r>
            <a:rPr lang="en-US" b="1" smtClean="0"/>
            <a:t>Explore Templates:</a:t>
          </a:r>
          <a:endParaRPr lang="en-IN"/>
        </a:p>
      </dgm:t>
    </dgm:pt>
    <dgm:pt modelId="{7F5F6FAD-0716-4217-B533-C95A13DAF0B5}" type="parTrans" cxnId="{67099AB3-69EA-470F-9E07-500E603D7C3A}">
      <dgm:prSet/>
      <dgm:spPr/>
      <dgm:t>
        <a:bodyPr/>
        <a:lstStyle/>
        <a:p>
          <a:endParaRPr lang="en-US"/>
        </a:p>
      </dgm:t>
    </dgm:pt>
    <dgm:pt modelId="{11015AB5-E17C-46C2-A87A-132FFE889F37}" type="sibTrans" cxnId="{67099AB3-69EA-470F-9E07-500E603D7C3A}">
      <dgm:prSet/>
      <dgm:spPr/>
      <dgm:t>
        <a:bodyPr/>
        <a:lstStyle/>
        <a:p>
          <a:endParaRPr lang="en-US"/>
        </a:p>
      </dgm:t>
    </dgm:pt>
    <dgm:pt modelId="{A9B07040-A448-4718-B0B4-6EDF38E22045}">
      <dgm:prSet/>
      <dgm:spPr/>
      <dgm:t>
        <a:bodyPr/>
        <a:lstStyle/>
        <a:p>
          <a:pPr rtl="0"/>
          <a:r>
            <a:rPr lang="en-US" dirty="0" smtClean="0"/>
            <a:t>Begin by exploring the pre-built templates to get an idea of what’s possible and to find templates that can be customized for your needs.</a:t>
          </a:r>
          <a:endParaRPr lang="en-IN" dirty="0"/>
        </a:p>
      </dgm:t>
    </dgm:pt>
    <dgm:pt modelId="{6C2695BF-C4DB-4632-8494-AE6F93891576}" type="parTrans" cxnId="{F5E711CC-C17B-4069-A0C4-B769929F52F4}">
      <dgm:prSet/>
      <dgm:spPr/>
      <dgm:t>
        <a:bodyPr/>
        <a:lstStyle/>
        <a:p>
          <a:endParaRPr lang="en-US"/>
        </a:p>
      </dgm:t>
    </dgm:pt>
    <dgm:pt modelId="{325F2E9A-7646-4CD2-8696-DEDDED04BE9B}" type="sibTrans" cxnId="{F5E711CC-C17B-4069-A0C4-B769929F52F4}">
      <dgm:prSet/>
      <dgm:spPr/>
      <dgm:t>
        <a:bodyPr/>
        <a:lstStyle/>
        <a:p>
          <a:endParaRPr lang="en-US"/>
        </a:p>
      </dgm:t>
    </dgm:pt>
    <dgm:pt modelId="{1F167BB5-8DFA-49D6-B82E-B7BA2A4AC3E2}">
      <dgm:prSet/>
      <dgm:spPr/>
      <dgm:t>
        <a:bodyPr/>
        <a:lstStyle/>
        <a:p>
          <a:pPr rtl="0"/>
          <a:r>
            <a:rPr lang="en-US" b="1" smtClean="0"/>
            <a:t>Create a Flow:</a:t>
          </a:r>
          <a:endParaRPr lang="en-IN"/>
        </a:p>
      </dgm:t>
    </dgm:pt>
    <dgm:pt modelId="{A6B38331-9560-4774-83C8-A4A51A2B8977}" type="parTrans" cxnId="{5365B17E-4096-49B0-8C99-678C7D93DDDE}">
      <dgm:prSet/>
      <dgm:spPr/>
      <dgm:t>
        <a:bodyPr/>
        <a:lstStyle/>
        <a:p>
          <a:endParaRPr lang="en-US"/>
        </a:p>
      </dgm:t>
    </dgm:pt>
    <dgm:pt modelId="{AE8A2354-AC4F-4FFA-B245-3471097EFBB9}" type="sibTrans" cxnId="{5365B17E-4096-49B0-8C99-678C7D93DDDE}">
      <dgm:prSet/>
      <dgm:spPr/>
      <dgm:t>
        <a:bodyPr/>
        <a:lstStyle/>
        <a:p>
          <a:endParaRPr lang="en-US"/>
        </a:p>
      </dgm:t>
    </dgm:pt>
    <dgm:pt modelId="{D69D85E3-E063-47E3-9833-6F9D56F49F27}">
      <dgm:prSet/>
      <dgm:spPr/>
      <dgm:t>
        <a:bodyPr/>
        <a:lstStyle/>
        <a:p>
          <a:pPr rtl="0"/>
          <a:r>
            <a:rPr lang="en-US" dirty="0" smtClean="0"/>
            <a:t>Use the drag-and-drop interface to create a new flow by defining triggers and actions. Test and refine the workflow as needed.</a:t>
          </a:r>
          <a:endParaRPr lang="en-IN" dirty="0"/>
        </a:p>
      </dgm:t>
    </dgm:pt>
    <dgm:pt modelId="{5FE39E54-8613-439D-BA81-D9EA599D02B6}" type="parTrans" cxnId="{CB52F271-6158-4693-9F36-A35EBC29A93B}">
      <dgm:prSet/>
      <dgm:spPr/>
      <dgm:t>
        <a:bodyPr/>
        <a:lstStyle/>
        <a:p>
          <a:endParaRPr lang="en-US"/>
        </a:p>
      </dgm:t>
    </dgm:pt>
    <dgm:pt modelId="{18B16F68-0EAC-4883-86E5-D0C7065AA5D0}" type="sibTrans" cxnId="{CB52F271-6158-4693-9F36-A35EBC29A93B}">
      <dgm:prSet/>
      <dgm:spPr/>
      <dgm:t>
        <a:bodyPr/>
        <a:lstStyle/>
        <a:p>
          <a:endParaRPr lang="en-US"/>
        </a:p>
      </dgm:t>
    </dgm:pt>
    <dgm:pt modelId="{8483F234-76C4-4BBB-BB16-EF1BDA9FF8D0}">
      <dgm:prSet/>
      <dgm:spPr/>
      <dgm:t>
        <a:bodyPr/>
        <a:lstStyle/>
        <a:p>
          <a:pPr rtl="0"/>
          <a:r>
            <a:rPr lang="en-US" b="1" smtClean="0"/>
            <a:t>Monitor and Manage:</a:t>
          </a:r>
          <a:endParaRPr lang="en-IN"/>
        </a:p>
      </dgm:t>
    </dgm:pt>
    <dgm:pt modelId="{931F169A-E9CE-43C9-BFBE-45400527E51F}" type="parTrans" cxnId="{52280716-2F03-4BBD-891F-3EB11E47450C}">
      <dgm:prSet/>
      <dgm:spPr/>
      <dgm:t>
        <a:bodyPr/>
        <a:lstStyle/>
        <a:p>
          <a:endParaRPr lang="en-US"/>
        </a:p>
      </dgm:t>
    </dgm:pt>
    <dgm:pt modelId="{11E0AE2B-F2B3-4BBD-82B9-E4539B79252E}" type="sibTrans" cxnId="{52280716-2F03-4BBD-891F-3EB11E47450C}">
      <dgm:prSet/>
      <dgm:spPr/>
      <dgm:t>
        <a:bodyPr/>
        <a:lstStyle/>
        <a:p>
          <a:endParaRPr lang="en-US"/>
        </a:p>
      </dgm:t>
    </dgm:pt>
    <dgm:pt modelId="{6EE546F9-A66D-478A-B919-E94FAC19D7F1}">
      <dgm:prSet/>
      <dgm:spPr/>
      <dgm:t>
        <a:bodyPr/>
        <a:lstStyle/>
        <a:p>
          <a:pPr rtl="0"/>
          <a:r>
            <a:rPr lang="en-US" dirty="0" smtClean="0"/>
            <a:t>Utilize Power </a:t>
          </a:r>
          <a:r>
            <a:rPr lang="en-US" dirty="0" err="1" smtClean="0"/>
            <a:t>Automate’s</a:t>
          </a:r>
          <a:r>
            <a:rPr lang="en-US" dirty="0" smtClean="0"/>
            <a:t> monitoring tools to track the performance of your flows, manage connections, and troubleshoot any issues.</a:t>
          </a:r>
          <a:endParaRPr lang="en-IN" dirty="0"/>
        </a:p>
      </dgm:t>
    </dgm:pt>
    <dgm:pt modelId="{C8809E30-B839-4C35-85C7-0E93D5994646}" type="parTrans" cxnId="{399AF8B5-5862-4C07-9C3C-7102173F74B0}">
      <dgm:prSet/>
      <dgm:spPr/>
      <dgm:t>
        <a:bodyPr/>
        <a:lstStyle/>
        <a:p>
          <a:endParaRPr lang="en-US"/>
        </a:p>
      </dgm:t>
    </dgm:pt>
    <dgm:pt modelId="{06AE41FF-B739-4FB6-B945-676B14CDE1B3}" type="sibTrans" cxnId="{399AF8B5-5862-4C07-9C3C-7102173F74B0}">
      <dgm:prSet/>
      <dgm:spPr/>
      <dgm:t>
        <a:bodyPr/>
        <a:lstStyle/>
        <a:p>
          <a:endParaRPr lang="en-US"/>
        </a:p>
      </dgm:t>
    </dgm:pt>
    <dgm:pt modelId="{4E3B96F0-176F-46E6-8496-8072DC6EC6CE}" type="pres">
      <dgm:prSet presAssocID="{5C7BC903-3718-4260-A8E4-632D61ED3FA7}" presName="diagram" presStyleCnt="0">
        <dgm:presLayoutVars>
          <dgm:chPref val="1"/>
          <dgm:dir/>
          <dgm:animOne val="branch"/>
          <dgm:animLvl val="lvl"/>
          <dgm:resizeHandles/>
        </dgm:presLayoutVars>
      </dgm:prSet>
      <dgm:spPr/>
      <dgm:t>
        <a:bodyPr/>
        <a:lstStyle/>
        <a:p>
          <a:endParaRPr lang="en-US"/>
        </a:p>
      </dgm:t>
    </dgm:pt>
    <dgm:pt modelId="{DFBE4918-3751-480D-8AC1-38CAB7DB54A2}" type="pres">
      <dgm:prSet presAssocID="{5B402590-C64C-4C59-9428-099BB2D2FB88}" presName="root" presStyleCnt="0"/>
      <dgm:spPr/>
    </dgm:pt>
    <dgm:pt modelId="{2E5059A4-171C-4F93-81E8-CF89DC54838A}" type="pres">
      <dgm:prSet presAssocID="{5B402590-C64C-4C59-9428-099BB2D2FB88}" presName="rootComposite" presStyleCnt="0"/>
      <dgm:spPr/>
    </dgm:pt>
    <dgm:pt modelId="{0B272CDC-BFC5-494B-8EC9-EDDFEDE9DF20}" type="pres">
      <dgm:prSet presAssocID="{5B402590-C64C-4C59-9428-099BB2D2FB88}" presName="rootText" presStyleLbl="node1" presStyleIdx="0" presStyleCnt="4"/>
      <dgm:spPr/>
      <dgm:t>
        <a:bodyPr/>
        <a:lstStyle/>
        <a:p>
          <a:endParaRPr lang="en-US"/>
        </a:p>
      </dgm:t>
    </dgm:pt>
    <dgm:pt modelId="{8DFD9473-1B8C-4C61-A3F7-0AF59C3B0C52}" type="pres">
      <dgm:prSet presAssocID="{5B402590-C64C-4C59-9428-099BB2D2FB88}" presName="rootConnector" presStyleLbl="node1" presStyleIdx="0" presStyleCnt="4"/>
      <dgm:spPr/>
      <dgm:t>
        <a:bodyPr/>
        <a:lstStyle/>
        <a:p>
          <a:endParaRPr lang="en-US"/>
        </a:p>
      </dgm:t>
    </dgm:pt>
    <dgm:pt modelId="{A9BCEFC5-1229-4D78-8977-A628D954441D}" type="pres">
      <dgm:prSet presAssocID="{5B402590-C64C-4C59-9428-099BB2D2FB88}" presName="childShape" presStyleCnt="0"/>
      <dgm:spPr/>
    </dgm:pt>
    <dgm:pt modelId="{5E0FEB00-B470-4F26-8C6F-A88F9732652B}" type="pres">
      <dgm:prSet presAssocID="{89D20091-CFA8-44C1-B550-89EDFD68D4F7}" presName="Name13" presStyleLbl="parChTrans1D2" presStyleIdx="0" presStyleCnt="4"/>
      <dgm:spPr/>
      <dgm:t>
        <a:bodyPr/>
        <a:lstStyle/>
        <a:p>
          <a:endParaRPr lang="en-US"/>
        </a:p>
      </dgm:t>
    </dgm:pt>
    <dgm:pt modelId="{E42CBA0F-A908-4D92-865F-40A3CC827185}" type="pres">
      <dgm:prSet presAssocID="{11951337-BC15-4B92-8F8E-A6D01DF4C1B5}" presName="childText" presStyleLbl="bgAcc1" presStyleIdx="0" presStyleCnt="4">
        <dgm:presLayoutVars>
          <dgm:bulletEnabled val="1"/>
        </dgm:presLayoutVars>
      </dgm:prSet>
      <dgm:spPr/>
      <dgm:t>
        <a:bodyPr/>
        <a:lstStyle/>
        <a:p>
          <a:endParaRPr lang="en-US"/>
        </a:p>
      </dgm:t>
    </dgm:pt>
    <dgm:pt modelId="{24961B7A-D0E9-4C6F-9B0F-61EA3A89C6D4}" type="pres">
      <dgm:prSet presAssocID="{2F19BD17-C14A-4660-9B17-0A20C5E004B0}" presName="root" presStyleCnt="0"/>
      <dgm:spPr/>
    </dgm:pt>
    <dgm:pt modelId="{DE01713E-02FF-4279-9490-1CF3400D8717}" type="pres">
      <dgm:prSet presAssocID="{2F19BD17-C14A-4660-9B17-0A20C5E004B0}" presName="rootComposite" presStyleCnt="0"/>
      <dgm:spPr/>
    </dgm:pt>
    <dgm:pt modelId="{1D26692C-BCA0-4DA1-951E-9466BEC4D034}" type="pres">
      <dgm:prSet presAssocID="{2F19BD17-C14A-4660-9B17-0A20C5E004B0}" presName="rootText" presStyleLbl="node1" presStyleIdx="1" presStyleCnt="4"/>
      <dgm:spPr/>
      <dgm:t>
        <a:bodyPr/>
        <a:lstStyle/>
        <a:p>
          <a:endParaRPr lang="en-US"/>
        </a:p>
      </dgm:t>
    </dgm:pt>
    <dgm:pt modelId="{E67B8C0A-DA21-4765-9145-A47AFCDF8123}" type="pres">
      <dgm:prSet presAssocID="{2F19BD17-C14A-4660-9B17-0A20C5E004B0}" presName="rootConnector" presStyleLbl="node1" presStyleIdx="1" presStyleCnt="4"/>
      <dgm:spPr/>
      <dgm:t>
        <a:bodyPr/>
        <a:lstStyle/>
        <a:p>
          <a:endParaRPr lang="en-US"/>
        </a:p>
      </dgm:t>
    </dgm:pt>
    <dgm:pt modelId="{71915F35-54CE-415D-B667-F7EF72C5F3FF}" type="pres">
      <dgm:prSet presAssocID="{2F19BD17-C14A-4660-9B17-0A20C5E004B0}" presName="childShape" presStyleCnt="0"/>
      <dgm:spPr/>
    </dgm:pt>
    <dgm:pt modelId="{802CC260-82A2-4268-8DF8-98EE7130C822}" type="pres">
      <dgm:prSet presAssocID="{6C2695BF-C4DB-4632-8494-AE6F93891576}" presName="Name13" presStyleLbl="parChTrans1D2" presStyleIdx="1" presStyleCnt="4"/>
      <dgm:spPr/>
      <dgm:t>
        <a:bodyPr/>
        <a:lstStyle/>
        <a:p>
          <a:endParaRPr lang="en-US"/>
        </a:p>
      </dgm:t>
    </dgm:pt>
    <dgm:pt modelId="{164876E4-43E7-43DE-9231-3A3452F2A1F3}" type="pres">
      <dgm:prSet presAssocID="{A9B07040-A448-4718-B0B4-6EDF38E22045}" presName="childText" presStyleLbl="bgAcc1" presStyleIdx="1" presStyleCnt="4">
        <dgm:presLayoutVars>
          <dgm:bulletEnabled val="1"/>
        </dgm:presLayoutVars>
      </dgm:prSet>
      <dgm:spPr/>
      <dgm:t>
        <a:bodyPr/>
        <a:lstStyle/>
        <a:p>
          <a:endParaRPr lang="en-US"/>
        </a:p>
      </dgm:t>
    </dgm:pt>
    <dgm:pt modelId="{50AE2DE6-2AA7-4A4C-90CA-2A21AE786FE6}" type="pres">
      <dgm:prSet presAssocID="{1F167BB5-8DFA-49D6-B82E-B7BA2A4AC3E2}" presName="root" presStyleCnt="0"/>
      <dgm:spPr/>
    </dgm:pt>
    <dgm:pt modelId="{E59F3DB7-D5D7-48ED-A6D7-9BA886E11D11}" type="pres">
      <dgm:prSet presAssocID="{1F167BB5-8DFA-49D6-B82E-B7BA2A4AC3E2}" presName="rootComposite" presStyleCnt="0"/>
      <dgm:spPr/>
    </dgm:pt>
    <dgm:pt modelId="{5E7267AC-B573-48BD-9B1E-9FCC45097872}" type="pres">
      <dgm:prSet presAssocID="{1F167BB5-8DFA-49D6-B82E-B7BA2A4AC3E2}" presName="rootText" presStyleLbl="node1" presStyleIdx="2" presStyleCnt="4"/>
      <dgm:spPr/>
      <dgm:t>
        <a:bodyPr/>
        <a:lstStyle/>
        <a:p>
          <a:endParaRPr lang="en-US"/>
        </a:p>
      </dgm:t>
    </dgm:pt>
    <dgm:pt modelId="{610A0F4C-74A1-4AD0-B0C4-D8F8EFF43115}" type="pres">
      <dgm:prSet presAssocID="{1F167BB5-8DFA-49D6-B82E-B7BA2A4AC3E2}" presName="rootConnector" presStyleLbl="node1" presStyleIdx="2" presStyleCnt="4"/>
      <dgm:spPr/>
      <dgm:t>
        <a:bodyPr/>
        <a:lstStyle/>
        <a:p>
          <a:endParaRPr lang="en-US"/>
        </a:p>
      </dgm:t>
    </dgm:pt>
    <dgm:pt modelId="{79F55FEF-2C93-4C12-A865-B696F0029011}" type="pres">
      <dgm:prSet presAssocID="{1F167BB5-8DFA-49D6-B82E-B7BA2A4AC3E2}" presName="childShape" presStyleCnt="0"/>
      <dgm:spPr/>
    </dgm:pt>
    <dgm:pt modelId="{52A6D442-9977-4B62-8731-C6D3B1F9DFF9}" type="pres">
      <dgm:prSet presAssocID="{5FE39E54-8613-439D-BA81-D9EA599D02B6}" presName="Name13" presStyleLbl="parChTrans1D2" presStyleIdx="2" presStyleCnt="4"/>
      <dgm:spPr/>
      <dgm:t>
        <a:bodyPr/>
        <a:lstStyle/>
        <a:p>
          <a:endParaRPr lang="en-US"/>
        </a:p>
      </dgm:t>
    </dgm:pt>
    <dgm:pt modelId="{B75AAAA1-5F24-4D7C-ACEE-C9AA4535C04E}" type="pres">
      <dgm:prSet presAssocID="{D69D85E3-E063-47E3-9833-6F9D56F49F27}" presName="childText" presStyleLbl="bgAcc1" presStyleIdx="2" presStyleCnt="4">
        <dgm:presLayoutVars>
          <dgm:bulletEnabled val="1"/>
        </dgm:presLayoutVars>
      </dgm:prSet>
      <dgm:spPr/>
      <dgm:t>
        <a:bodyPr/>
        <a:lstStyle/>
        <a:p>
          <a:endParaRPr lang="en-US"/>
        </a:p>
      </dgm:t>
    </dgm:pt>
    <dgm:pt modelId="{BD61B774-7B99-4500-B36D-E68BD403E307}" type="pres">
      <dgm:prSet presAssocID="{8483F234-76C4-4BBB-BB16-EF1BDA9FF8D0}" presName="root" presStyleCnt="0"/>
      <dgm:spPr/>
    </dgm:pt>
    <dgm:pt modelId="{4D01D8FE-E780-443B-8C9D-24EE398F85BB}" type="pres">
      <dgm:prSet presAssocID="{8483F234-76C4-4BBB-BB16-EF1BDA9FF8D0}" presName="rootComposite" presStyleCnt="0"/>
      <dgm:spPr/>
    </dgm:pt>
    <dgm:pt modelId="{534D28E7-6F04-47DC-84C7-AD0777DCBA85}" type="pres">
      <dgm:prSet presAssocID="{8483F234-76C4-4BBB-BB16-EF1BDA9FF8D0}" presName="rootText" presStyleLbl="node1" presStyleIdx="3" presStyleCnt="4"/>
      <dgm:spPr/>
      <dgm:t>
        <a:bodyPr/>
        <a:lstStyle/>
        <a:p>
          <a:endParaRPr lang="en-US"/>
        </a:p>
      </dgm:t>
    </dgm:pt>
    <dgm:pt modelId="{DB139F62-2B85-4B23-9B83-4C64C6B85B2B}" type="pres">
      <dgm:prSet presAssocID="{8483F234-76C4-4BBB-BB16-EF1BDA9FF8D0}" presName="rootConnector" presStyleLbl="node1" presStyleIdx="3" presStyleCnt="4"/>
      <dgm:spPr/>
      <dgm:t>
        <a:bodyPr/>
        <a:lstStyle/>
        <a:p>
          <a:endParaRPr lang="en-US"/>
        </a:p>
      </dgm:t>
    </dgm:pt>
    <dgm:pt modelId="{634EA9F2-2E12-4D97-8E8D-E4677AA73F01}" type="pres">
      <dgm:prSet presAssocID="{8483F234-76C4-4BBB-BB16-EF1BDA9FF8D0}" presName="childShape" presStyleCnt="0"/>
      <dgm:spPr/>
    </dgm:pt>
    <dgm:pt modelId="{AFBAA294-4AFE-4D0D-8030-03984953E710}" type="pres">
      <dgm:prSet presAssocID="{C8809E30-B839-4C35-85C7-0E93D5994646}" presName="Name13" presStyleLbl="parChTrans1D2" presStyleIdx="3" presStyleCnt="4"/>
      <dgm:spPr/>
      <dgm:t>
        <a:bodyPr/>
        <a:lstStyle/>
        <a:p>
          <a:endParaRPr lang="en-US"/>
        </a:p>
      </dgm:t>
    </dgm:pt>
    <dgm:pt modelId="{EC892BCD-4AD8-408A-9B23-E7109F9C76CF}" type="pres">
      <dgm:prSet presAssocID="{6EE546F9-A66D-478A-B919-E94FAC19D7F1}" presName="childText" presStyleLbl="bgAcc1" presStyleIdx="3" presStyleCnt="4">
        <dgm:presLayoutVars>
          <dgm:bulletEnabled val="1"/>
        </dgm:presLayoutVars>
      </dgm:prSet>
      <dgm:spPr/>
      <dgm:t>
        <a:bodyPr/>
        <a:lstStyle/>
        <a:p>
          <a:endParaRPr lang="en-US"/>
        </a:p>
      </dgm:t>
    </dgm:pt>
  </dgm:ptLst>
  <dgm:cxnLst>
    <dgm:cxn modelId="{5365B17E-4096-49B0-8C99-678C7D93DDDE}" srcId="{5C7BC903-3718-4260-A8E4-632D61ED3FA7}" destId="{1F167BB5-8DFA-49D6-B82E-B7BA2A4AC3E2}" srcOrd="2" destOrd="0" parTransId="{A6B38331-9560-4774-83C8-A4A51A2B8977}" sibTransId="{AE8A2354-AC4F-4FFA-B245-3471097EFBB9}"/>
    <dgm:cxn modelId="{39714F85-1C10-483F-B3BE-776732975C4B}" srcId="{5B402590-C64C-4C59-9428-099BB2D2FB88}" destId="{11951337-BC15-4B92-8F8E-A6D01DF4C1B5}" srcOrd="0" destOrd="0" parTransId="{89D20091-CFA8-44C1-B550-89EDFD68D4F7}" sibTransId="{7D2CB71D-DC55-4A53-9838-1FCF0B292630}"/>
    <dgm:cxn modelId="{F5E711CC-C17B-4069-A0C4-B769929F52F4}" srcId="{2F19BD17-C14A-4660-9B17-0A20C5E004B0}" destId="{A9B07040-A448-4718-B0B4-6EDF38E22045}" srcOrd="0" destOrd="0" parTransId="{6C2695BF-C4DB-4632-8494-AE6F93891576}" sibTransId="{325F2E9A-7646-4CD2-8696-DEDDED04BE9B}"/>
    <dgm:cxn modelId="{61D9562B-B5D0-4F5C-A3D4-06CD89BDDE16}" type="presOf" srcId="{6C2695BF-C4DB-4632-8494-AE6F93891576}" destId="{802CC260-82A2-4268-8DF8-98EE7130C822}" srcOrd="0" destOrd="0" presId="urn:microsoft.com/office/officeart/2005/8/layout/hierarchy3"/>
    <dgm:cxn modelId="{53FC0035-0C0B-4E9F-A8D0-9224814B86B3}" srcId="{5C7BC903-3718-4260-A8E4-632D61ED3FA7}" destId="{5B402590-C64C-4C59-9428-099BB2D2FB88}" srcOrd="0" destOrd="0" parTransId="{67B44A4F-C94E-4561-8030-45E5546B3FDB}" sibTransId="{6275D44A-BC19-4A01-A81A-75666E98279A}"/>
    <dgm:cxn modelId="{52280716-2F03-4BBD-891F-3EB11E47450C}" srcId="{5C7BC903-3718-4260-A8E4-632D61ED3FA7}" destId="{8483F234-76C4-4BBB-BB16-EF1BDA9FF8D0}" srcOrd="3" destOrd="0" parTransId="{931F169A-E9CE-43C9-BFBE-45400527E51F}" sibTransId="{11E0AE2B-F2B3-4BBD-82B9-E4539B79252E}"/>
    <dgm:cxn modelId="{8CA4058A-B650-4C72-B13C-5497412C9A75}" type="presOf" srcId="{89D20091-CFA8-44C1-B550-89EDFD68D4F7}" destId="{5E0FEB00-B470-4F26-8C6F-A88F9732652B}" srcOrd="0" destOrd="0" presId="urn:microsoft.com/office/officeart/2005/8/layout/hierarchy3"/>
    <dgm:cxn modelId="{EE283B20-3B30-4DB0-9716-2E7BE5EFF515}" type="presOf" srcId="{1F167BB5-8DFA-49D6-B82E-B7BA2A4AC3E2}" destId="{610A0F4C-74A1-4AD0-B0C4-D8F8EFF43115}" srcOrd="1" destOrd="0" presId="urn:microsoft.com/office/officeart/2005/8/layout/hierarchy3"/>
    <dgm:cxn modelId="{67099AB3-69EA-470F-9E07-500E603D7C3A}" srcId="{5C7BC903-3718-4260-A8E4-632D61ED3FA7}" destId="{2F19BD17-C14A-4660-9B17-0A20C5E004B0}" srcOrd="1" destOrd="0" parTransId="{7F5F6FAD-0716-4217-B533-C95A13DAF0B5}" sibTransId="{11015AB5-E17C-46C2-A87A-132FFE889F37}"/>
    <dgm:cxn modelId="{20013BF4-6423-485C-A100-9B05399715E6}" type="presOf" srcId="{2F19BD17-C14A-4660-9B17-0A20C5E004B0}" destId="{1D26692C-BCA0-4DA1-951E-9466BEC4D034}" srcOrd="0" destOrd="0" presId="urn:microsoft.com/office/officeart/2005/8/layout/hierarchy3"/>
    <dgm:cxn modelId="{55AF542E-0DC2-406D-BE14-735CFFA67236}" type="presOf" srcId="{C8809E30-B839-4C35-85C7-0E93D5994646}" destId="{AFBAA294-4AFE-4D0D-8030-03984953E710}" srcOrd="0" destOrd="0" presId="urn:microsoft.com/office/officeart/2005/8/layout/hierarchy3"/>
    <dgm:cxn modelId="{1A390CB0-1FA6-41CE-A9BA-209CD88198C9}" type="presOf" srcId="{5FE39E54-8613-439D-BA81-D9EA599D02B6}" destId="{52A6D442-9977-4B62-8731-C6D3B1F9DFF9}" srcOrd="0" destOrd="0" presId="urn:microsoft.com/office/officeart/2005/8/layout/hierarchy3"/>
    <dgm:cxn modelId="{08A16EAD-F32E-4BFC-875D-DAB98CE145B0}" type="presOf" srcId="{8483F234-76C4-4BBB-BB16-EF1BDA9FF8D0}" destId="{DB139F62-2B85-4B23-9B83-4C64C6B85B2B}" srcOrd="1" destOrd="0" presId="urn:microsoft.com/office/officeart/2005/8/layout/hierarchy3"/>
    <dgm:cxn modelId="{0D355EBB-0B4F-4348-8E32-31180C19EB5D}" type="presOf" srcId="{8483F234-76C4-4BBB-BB16-EF1BDA9FF8D0}" destId="{534D28E7-6F04-47DC-84C7-AD0777DCBA85}" srcOrd="0" destOrd="0" presId="urn:microsoft.com/office/officeart/2005/8/layout/hierarchy3"/>
    <dgm:cxn modelId="{CB52F271-6158-4693-9F36-A35EBC29A93B}" srcId="{1F167BB5-8DFA-49D6-B82E-B7BA2A4AC3E2}" destId="{D69D85E3-E063-47E3-9833-6F9D56F49F27}" srcOrd="0" destOrd="0" parTransId="{5FE39E54-8613-439D-BA81-D9EA599D02B6}" sibTransId="{18B16F68-0EAC-4883-86E5-D0C7065AA5D0}"/>
    <dgm:cxn modelId="{686CD736-AFA4-4870-B895-9018F7783DA4}" type="presOf" srcId="{6EE546F9-A66D-478A-B919-E94FAC19D7F1}" destId="{EC892BCD-4AD8-408A-9B23-E7109F9C76CF}" srcOrd="0" destOrd="0" presId="urn:microsoft.com/office/officeart/2005/8/layout/hierarchy3"/>
    <dgm:cxn modelId="{51405DA4-8D2C-4FDF-9EBE-F86D775AA65F}" type="presOf" srcId="{5B402590-C64C-4C59-9428-099BB2D2FB88}" destId="{0B272CDC-BFC5-494B-8EC9-EDDFEDE9DF20}" srcOrd="0" destOrd="0" presId="urn:microsoft.com/office/officeart/2005/8/layout/hierarchy3"/>
    <dgm:cxn modelId="{2F4017FD-A15C-49A3-94DE-F8A558EF972D}" type="presOf" srcId="{11951337-BC15-4B92-8F8E-A6D01DF4C1B5}" destId="{E42CBA0F-A908-4D92-865F-40A3CC827185}" srcOrd="0" destOrd="0" presId="urn:microsoft.com/office/officeart/2005/8/layout/hierarchy3"/>
    <dgm:cxn modelId="{A597BB0F-2001-4683-AC0D-AD591B3B386D}" type="presOf" srcId="{2F19BD17-C14A-4660-9B17-0A20C5E004B0}" destId="{E67B8C0A-DA21-4765-9145-A47AFCDF8123}" srcOrd="1" destOrd="0" presId="urn:microsoft.com/office/officeart/2005/8/layout/hierarchy3"/>
    <dgm:cxn modelId="{FC2EB8AE-6AA8-4CC1-B12F-562F41AFC8D7}" type="presOf" srcId="{A9B07040-A448-4718-B0B4-6EDF38E22045}" destId="{164876E4-43E7-43DE-9231-3A3452F2A1F3}" srcOrd="0" destOrd="0" presId="urn:microsoft.com/office/officeart/2005/8/layout/hierarchy3"/>
    <dgm:cxn modelId="{8EF93CCB-BCD8-4EC9-B29F-F5698A6346E2}" type="presOf" srcId="{D69D85E3-E063-47E3-9833-6F9D56F49F27}" destId="{B75AAAA1-5F24-4D7C-ACEE-C9AA4535C04E}" srcOrd="0" destOrd="0" presId="urn:microsoft.com/office/officeart/2005/8/layout/hierarchy3"/>
    <dgm:cxn modelId="{E5E8E2D4-9F9B-45DE-8E99-BBA6D8DE0883}" type="presOf" srcId="{5C7BC903-3718-4260-A8E4-632D61ED3FA7}" destId="{4E3B96F0-176F-46E6-8496-8072DC6EC6CE}" srcOrd="0" destOrd="0" presId="urn:microsoft.com/office/officeart/2005/8/layout/hierarchy3"/>
    <dgm:cxn modelId="{399AF8B5-5862-4C07-9C3C-7102173F74B0}" srcId="{8483F234-76C4-4BBB-BB16-EF1BDA9FF8D0}" destId="{6EE546F9-A66D-478A-B919-E94FAC19D7F1}" srcOrd="0" destOrd="0" parTransId="{C8809E30-B839-4C35-85C7-0E93D5994646}" sibTransId="{06AE41FF-B739-4FB6-B945-676B14CDE1B3}"/>
    <dgm:cxn modelId="{F9D8440C-BD26-49C3-BB40-B382F20D46B3}" type="presOf" srcId="{1F167BB5-8DFA-49D6-B82E-B7BA2A4AC3E2}" destId="{5E7267AC-B573-48BD-9B1E-9FCC45097872}" srcOrd="0" destOrd="0" presId="urn:microsoft.com/office/officeart/2005/8/layout/hierarchy3"/>
    <dgm:cxn modelId="{0D0FD33D-A36A-4A09-A1E2-EF9CFE45A3FB}" type="presOf" srcId="{5B402590-C64C-4C59-9428-099BB2D2FB88}" destId="{8DFD9473-1B8C-4C61-A3F7-0AF59C3B0C52}" srcOrd="1" destOrd="0" presId="urn:microsoft.com/office/officeart/2005/8/layout/hierarchy3"/>
    <dgm:cxn modelId="{5380CAE7-F912-426F-998D-4BF841223258}" type="presParOf" srcId="{4E3B96F0-176F-46E6-8496-8072DC6EC6CE}" destId="{DFBE4918-3751-480D-8AC1-38CAB7DB54A2}" srcOrd="0" destOrd="0" presId="urn:microsoft.com/office/officeart/2005/8/layout/hierarchy3"/>
    <dgm:cxn modelId="{BA0094D8-A6D8-4A18-A83C-6F8921FBC28D}" type="presParOf" srcId="{DFBE4918-3751-480D-8AC1-38CAB7DB54A2}" destId="{2E5059A4-171C-4F93-81E8-CF89DC54838A}" srcOrd="0" destOrd="0" presId="urn:microsoft.com/office/officeart/2005/8/layout/hierarchy3"/>
    <dgm:cxn modelId="{FFC674EA-EB1E-426F-AE59-C45C27D9FA1C}" type="presParOf" srcId="{2E5059A4-171C-4F93-81E8-CF89DC54838A}" destId="{0B272CDC-BFC5-494B-8EC9-EDDFEDE9DF20}" srcOrd="0" destOrd="0" presId="urn:microsoft.com/office/officeart/2005/8/layout/hierarchy3"/>
    <dgm:cxn modelId="{4651C1B4-9C0A-446B-9370-01E08C67ADD0}" type="presParOf" srcId="{2E5059A4-171C-4F93-81E8-CF89DC54838A}" destId="{8DFD9473-1B8C-4C61-A3F7-0AF59C3B0C52}" srcOrd="1" destOrd="0" presId="urn:microsoft.com/office/officeart/2005/8/layout/hierarchy3"/>
    <dgm:cxn modelId="{3D80B047-5BED-4D8D-9650-42319B54B903}" type="presParOf" srcId="{DFBE4918-3751-480D-8AC1-38CAB7DB54A2}" destId="{A9BCEFC5-1229-4D78-8977-A628D954441D}" srcOrd="1" destOrd="0" presId="urn:microsoft.com/office/officeart/2005/8/layout/hierarchy3"/>
    <dgm:cxn modelId="{E1352EF0-4464-4B99-800D-0B763992D2CD}" type="presParOf" srcId="{A9BCEFC5-1229-4D78-8977-A628D954441D}" destId="{5E0FEB00-B470-4F26-8C6F-A88F9732652B}" srcOrd="0" destOrd="0" presId="urn:microsoft.com/office/officeart/2005/8/layout/hierarchy3"/>
    <dgm:cxn modelId="{09376FAA-BB4F-4C3D-A4C8-9075754AE43D}" type="presParOf" srcId="{A9BCEFC5-1229-4D78-8977-A628D954441D}" destId="{E42CBA0F-A908-4D92-865F-40A3CC827185}" srcOrd="1" destOrd="0" presId="urn:microsoft.com/office/officeart/2005/8/layout/hierarchy3"/>
    <dgm:cxn modelId="{9305A93C-7C6C-4007-B97A-FAAD6689C3C7}" type="presParOf" srcId="{4E3B96F0-176F-46E6-8496-8072DC6EC6CE}" destId="{24961B7A-D0E9-4C6F-9B0F-61EA3A89C6D4}" srcOrd="1" destOrd="0" presId="urn:microsoft.com/office/officeart/2005/8/layout/hierarchy3"/>
    <dgm:cxn modelId="{FFF728D7-407F-4538-A667-5979166287D8}" type="presParOf" srcId="{24961B7A-D0E9-4C6F-9B0F-61EA3A89C6D4}" destId="{DE01713E-02FF-4279-9490-1CF3400D8717}" srcOrd="0" destOrd="0" presId="urn:microsoft.com/office/officeart/2005/8/layout/hierarchy3"/>
    <dgm:cxn modelId="{53B0F921-A657-4F64-9C64-BE1C22DA489D}" type="presParOf" srcId="{DE01713E-02FF-4279-9490-1CF3400D8717}" destId="{1D26692C-BCA0-4DA1-951E-9466BEC4D034}" srcOrd="0" destOrd="0" presId="urn:microsoft.com/office/officeart/2005/8/layout/hierarchy3"/>
    <dgm:cxn modelId="{1179DAD8-8C02-438E-906C-B89F25E68F99}" type="presParOf" srcId="{DE01713E-02FF-4279-9490-1CF3400D8717}" destId="{E67B8C0A-DA21-4765-9145-A47AFCDF8123}" srcOrd="1" destOrd="0" presId="urn:microsoft.com/office/officeart/2005/8/layout/hierarchy3"/>
    <dgm:cxn modelId="{A677CCAA-AF98-4D75-91D1-6D6C15929AC7}" type="presParOf" srcId="{24961B7A-D0E9-4C6F-9B0F-61EA3A89C6D4}" destId="{71915F35-54CE-415D-B667-F7EF72C5F3FF}" srcOrd="1" destOrd="0" presId="urn:microsoft.com/office/officeart/2005/8/layout/hierarchy3"/>
    <dgm:cxn modelId="{BE609B7A-BF01-40F5-868D-25A8B8E47E62}" type="presParOf" srcId="{71915F35-54CE-415D-B667-F7EF72C5F3FF}" destId="{802CC260-82A2-4268-8DF8-98EE7130C822}" srcOrd="0" destOrd="0" presId="urn:microsoft.com/office/officeart/2005/8/layout/hierarchy3"/>
    <dgm:cxn modelId="{503C7FCC-654A-49BF-A0C2-5F25BD015D6D}" type="presParOf" srcId="{71915F35-54CE-415D-B667-F7EF72C5F3FF}" destId="{164876E4-43E7-43DE-9231-3A3452F2A1F3}" srcOrd="1" destOrd="0" presId="urn:microsoft.com/office/officeart/2005/8/layout/hierarchy3"/>
    <dgm:cxn modelId="{866CB072-6E14-41B8-A3BF-788FB6A03EBE}" type="presParOf" srcId="{4E3B96F0-176F-46E6-8496-8072DC6EC6CE}" destId="{50AE2DE6-2AA7-4A4C-90CA-2A21AE786FE6}" srcOrd="2" destOrd="0" presId="urn:microsoft.com/office/officeart/2005/8/layout/hierarchy3"/>
    <dgm:cxn modelId="{E1A9D76D-6677-40DB-88C6-CEBC5A7D1E30}" type="presParOf" srcId="{50AE2DE6-2AA7-4A4C-90CA-2A21AE786FE6}" destId="{E59F3DB7-D5D7-48ED-A6D7-9BA886E11D11}" srcOrd="0" destOrd="0" presId="urn:microsoft.com/office/officeart/2005/8/layout/hierarchy3"/>
    <dgm:cxn modelId="{EE3BE416-E756-4A36-A26C-B0303A1D34BC}" type="presParOf" srcId="{E59F3DB7-D5D7-48ED-A6D7-9BA886E11D11}" destId="{5E7267AC-B573-48BD-9B1E-9FCC45097872}" srcOrd="0" destOrd="0" presId="urn:microsoft.com/office/officeart/2005/8/layout/hierarchy3"/>
    <dgm:cxn modelId="{8406992C-A56E-44F6-9941-1951AEE7A594}" type="presParOf" srcId="{E59F3DB7-D5D7-48ED-A6D7-9BA886E11D11}" destId="{610A0F4C-74A1-4AD0-B0C4-D8F8EFF43115}" srcOrd="1" destOrd="0" presId="urn:microsoft.com/office/officeart/2005/8/layout/hierarchy3"/>
    <dgm:cxn modelId="{482BAE2C-9545-4F83-AD8B-58B170983E56}" type="presParOf" srcId="{50AE2DE6-2AA7-4A4C-90CA-2A21AE786FE6}" destId="{79F55FEF-2C93-4C12-A865-B696F0029011}" srcOrd="1" destOrd="0" presId="urn:microsoft.com/office/officeart/2005/8/layout/hierarchy3"/>
    <dgm:cxn modelId="{4478B6A2-9018-49BD-AAD3-2669956694B5}" type="presParOf" srcId="{79F55FEF-2C93-4C12-A865-B696F0029011}" destId="{52A6D442-9977-4B62-8731-C6D3B1F9DFF9}" srcOrd="0" destOrd="0" presId="urn:microsoft.com/office/officeart/2005/8/layout/hierarchy3"/>
    <dgm:cxn modelId="{DFD7C25F-FDA6-46B1-860D-2B0A64FE7FC6}" type="presParOf" srcId="{79F55FEF-2C93-4C12-A865-B696F0029011}" destId="{B75AAAA1-5F24-4D7C-ACEE-C9AA4535C04E}" srcOrd="1" destOrd="0" presId="urn:microsoft.com/office/officeart/2005/8/layout/hierarchy3"/>
    <dgm:cxn modelId="{F8FA7517-BDD4-418E-9886-132BDB1F0DEB}" type="presParOf" srcId="{4E3B96F0-176F-46E6-8496-8072DC6EC6CE}" destId="{BD61B774-7B99-4500-B36D-E68BD403E307}" srcOrd="3" destOrd="0" presId="urn:microsoft.com/office/officeart/2005/8/layout/hierarchy3"/>
    <dgm:cxn modelId="{519881DC-D571-4375-97D1-D147C84CC775}" type="presParOf" srcId="{BD61B774-7B99-4500-B36D-E68BD403E307}" destId="{4D01D8FE-E780-443B-8C9D-24EE398F85BB}" srcOrd="0" destOrd="0" presId="urn:microsoft.com/office/officeart/2005/8/layout/hierarchy3"/>
    <dgm:cxn modelId="{D38FC2CC-DE5C-4136-BBFC-7A1EA1E1620D}" type="presParOf" srcId="{4D01D8FE-E780-443B-8C9D-24EE398F85BB}" destId="{534D28E7-6F04-47DC-84C7-AD0777DCBA85}" srcOrd="0" destOrd="0" presId="urn:microsoft.com/office/officeart/2005/8/layout/hierarchy3"/>
    <dgm:cxn modelId="{78C77AAF-990C-4E8E-B8A3-15DF89BE098B}" type="presParOf" srcId="{4D01D8FE-E780-443B-8C9D-24EE398F85BB}" destId="{DB139F62-2B85-4B23-9B83-4C64C6B85B2B}" srcOrd="1" destOrd="0" presId="urn:microsoft.com/office/officeart/2005/8/layout/hierarchy3"/>
    <dgm:cxn modelId="{3256016A-2360-4289-BFE6-D10E93F02FFC}" type="presParOf" srcId="{BD61B774-7B99-4500-B36D-E68BD403E307}" destId="{634EA9F2-2E12-4D97-8E8D-E4677AA73F01}" srcOrd="1" destOrd="0" presId="urn:microsoft.com/office/officeart/2005/8/layout/hierarchy3"/>
    <dgm:cxn modelId="{3F83FECC-5346-4456-945B-0571C5D3F1F8}" type="presParOf" srcId="{634EA9F2-2E12-4D97-8E8D-E4677AA73F01}" destId="{AFBAA294-4AFE-4D0D-8030-03984953E710}" srcOrd="0" destOrd="0" presId="urn:microsoft.com/office/officeart/2005/8/layout/hierarchy3"/>
    <dgm:cxn modelId="{90261D1C-2C9C-4B79-BCDB-53C9EA2818A6}" type="presParOf" srcId="{634EA9F2-2E12-4D97-8E8D-E4677AA73F01}" destId="{EC892BCD-4AD8-408A-9B23-E7109F9C76CF}"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3119A3-C221-4A54-8473-CF26A64422A1}" type="doc">
      <dgm:prSet loTypeId="urn:microsoft.com/office/officeart/2005/8/layout/process5" loCatId="process" qsTypeId="urn:microsoft.com/office/officeart/2005/8/quickstyle/simple1" qsCatId="simple" csTypeId="urn:microsoft.com/office/officeart/2005/8/colors/colorful5" csCatId="colorful"/>
      <dgm:spPr/>
      <dgm:t>
        <a:bodyPr/>
        <a:lstStyle/>
        <a:p>
          <a:endParaRPr lang="en-US"/>
        </a:p>
      </dgm:t>
    </dgm:pt>
    <dgm:pt modelId="{25511604-6908-49B0-80CD-DB590CE243E7}">
      <dgm:prSet custT="1"/>
      <dgm:spPr/>
      <dgm:t>
        <a:bodyPr/>
        <a:lstStyle/>
        <a:p>
          <a:pPr rtl="0"/>
          <a:r>
            <a:rPr lang="en-US" sz="2400" b="1" i="0" baseline="0" dirty="0" smtClean="0"/>
            <a:t>Define the Trigger:</a:t>
          </a:r>
          <a:endParaRPr lang="en-IN" sz="2400" dirty="0"/>
        </a:p>
      </dgm:t>
    </dgm:pt>
    <dgm:pt modelId="{63495121-F478-4F29-995C-59BF5D3F134A}" type="parTrans" cxnId="{8DE37B24-47D4-42D5-AA0D-C2740169F701}">
      <dgm:prSet/>
      <dgm:spPr/>
      <dgm:t>
        <a:bodyPr/>
        <a:lstStyle/>
        <a:p>
          <a:endParaRPr lang="en-US"/>
        </a:p>
      </dgm:t>
    </dgm:pt>
    <dgm:pt modelId="{B413F193-EE25-4AAE-BB24-EF3835DC3302}" type="sibTrans" cxnId="{8DE37B24-47D4-42D5-AA0D-C2740169F701}">
      <dgm:prSet/>
      <dgm:spPr/>
      <dgm:t>
        <a:bodyPr/>
        <a:lstStyle/>
        <a:p>
          <a:endParaRPr lang="en-US"/>
        </a:p>
      </dgm:t>
    </dgm:pt>
    <dgm:pt modelId="{BEE71C3B-CFFF-4138-979A-8ACCE7FC11E5}">
      <dgm:prSet/>
      <dgm:spPr/>
      <dgm:t>
        <a:bodyPr/>
        <a:lstStyle/>
        <a:p>
          <a:pPr rtl="0"/>
          <a:r>
            <a:rPr lang="en-US" b="0" i="0" baseline="0" smtClean="0"/>
            <a:t>Choose the type of trigger that fits your use case. For automatic and scheduled triggers, select the appropriate service and configure the conditions that will start the flow.</a:t>
          </a:r>
          <a:endParaRPr lang="en-IN"/>
        </a:p>
      </dgm:t>
    </dgm:pt>
    <dgm:pt modelId="{0E68FC11-DE38-4BCE-9EE8-97D40BBCD96C}" type="parTrans" cxnId="{610B4E92-B993-4C7C-9C2D-8B93D835FEAF}">
      <dgm:prSet/>
      <dgm:spPr/>
      <dgm:t>
        <a:bodyPr/>
        <a:lstStyle/>
        <a:p>
          <a:endParaRPr lang="en-US"/>
        </a:p>
      </dgm:t>
    </dgm:pt>
    <dgm:pt modelId="{036D0CD3-A9C3-4AE5-835E-13E2DE141B21}" type="sibTrans" cxnId="{610B4E92-B993-4C7C-9C2D-8B93D835FEAF}">
      <dgm:prSet/>
      <dgm:spPr/>
      <dgm:t>
        <a:bodyPr/>
        <a:lstStyle/>
        <a:p>
          <a:endParaRPr lang="en-US"/>
        </a:p>
      </dgm:t>
    </dgm:pt>
    <dgm:pt modelId="{F19E9ABE-5A4A-48DF-BEA2-BB58DC806BAE}">
      <dgm:prSet custT="1"/>
      <dgm:spPr/>
      <dgm:t>
        <a:bodyPr/>
        <a:lstStyle/>
        <a:p>
          <a:pPr rtl="0"/>
          <a:r>
            <a:rPr lang="en-US" sz="2400" b="1" i="0" baseline="0" dirty="0" smtClean="0"/>
            <a:t>Configure Trigger Details:</a:t>
          </a:r>
          <a:endParaRPr lang="en-IN" sz="2400" dirty="0"/>
        </a:p>
      </dgm:t>
    </dgm:pt>
    <dgm:pt modelId="{1E0CCA27-E58F-4CC9-AE31-7CEBB2D0F297}" type="parTrans" cxnId="{AA1B2FC9-EA39-4880-A691-E8FCFCFAB87E}">
      <dgm:prSet/>
      <dgm:spPr/>
      <dgm:t>
        <a:bodyPr/>
        <a:lstStyle/>
        <a:p>
          <a:endParaRPr lang="en-US"/>
        </a:p>
      </dgm:t>
    </dgm:pt>
    <dgm:pt modelId="{23C5F7BC-F9F2-46CD-8B96-F2F512C640D4}" type="sibTrans" cxnId="{AA1B2FC9-EA39-4880-A691-E8FCFCFAB87E}">
      <dgm:prSet/>
      <dgm:spPr/>
      <dgm:t>
        <a:bodyPr/>
        <a:lstStyle/>
        <a:p>
          <a:endParaRPr lang="en-US"/>
        </a:p>
      </dgm:t>
    </dgm:pt>
    <dgm:pt modelId="{E6616CDF-1645-4D25-8B42-76223173E72B}">
      <dgm:prSet/>
      <dgm:spPr/>
      <dgm:t>
        <a:bodyPr/>
        <a:lstStyle/>
        <a:p>
          <a:pPr rtl="0"/>
          <a:r>
            <a:rPr lang="en-US" b="0" i="0" baseline="0" smtClean="0"/>
            <a:t>Set up specific parameters or conditions for the trigger. For example, you might specify which email folder to monitor, which hashtag to look for in tweets, or the exact time and frequency for scheduled triggers.</a:t>
          </a:r>
          <a:endParaRPr lang="en-IN"/>
        </a:p>
      </dgm:t>
    </dgm:pt>
    <dgm:pt modelId="{2B4D0812-9C41-4BFC-AE1F-940D24102305}" type="parTrans" cxnId="{6433155D-374F-43FE-A4C1-7C7AA6C6FEE6}">
      <dgm:prSet/>
      <dgm:spPr/>
      <dgm:t>
        <a:bodyPr/>
        <a:lstStyle/>
        <a:p>
          <a:endParaRPr lang="en-US"/>
        </a:p>
      </dgm:t>
    </dgm:pt>
    <dgm:pt modelId="{53ACAC20-6D5A-4A39-87EE-8DC948485CA5}" type="sibTrans" cxnId="{6433155D-374F-43FE-A4C1-7C7AA6C6FEE6}">
      <dgm:prSet/>
      <dgm:spPr/>
      <dgm:t>
        <a:bodyPr/>
        <a:lstStyle/>
        <a:p>
          <a:endParaRPr lang="en-US"/>
        </a:p>
      </dgm:t>
    </dgm:pt>
    <dgm:pt modelId="{4C181C58-A55C-4551-A208-DC90F16E09D0}">
      <dgm:prSet custT="1"/>
      <dgm:spPr/>
      <dgm:t>
        <a:bodyPr/>
        <a:lstStyle/>
        <a:p>
          <a:pPr rtl="0"/>
          <a:r>
            <a:rPr lang="en-US" sz="2400" b="1" i="0" baseline="0" dirty="0" smtClean="0"/>
            <a:t>Trigger Execution:</a:t>
          </a:r>
          <a:endParaRPr lang="en-IN" sz="2400" dirty="0"/>
        </a:p>
      </dgm:t>
    </dgm:pt>
    <dgm:pt modelId="{F9DB062D-1EDF-4C84-BC10-5CA86853AC8A}" type="parTrans" cxnId="{067DEA80-20EE-4B49-87DD-1A36A9CB19A3}">
      <dgm:prSet/>
      <dgm:spPr/>
      <dgm:t>
        <a:bodyPr/>
        <a:lstStyle/>
        <a:p>
          <a:endParaRPr lang="en-US"/>
        </a:p>
      </dgm:t>
    </dgm:pt>
    <dgm:pt modelId="{984401B6-5C30-4CE3-97DE-94089E7D860F}" type="sibTrans" cxnId="{067DEA80-20EE-4B49-87DD-1A36A9CB19A3}">
      <dgm:prSet/>
      <dgm:spPr/>
      <dgm:t>
        <a:bodyPr/>
        <a:lstStyle/>
        <a:p>
          <a:endParaRPr lang="en-US"/>
        </a:p>
      </dgm:t>
    </dgm:pt>
    <dgm:pt modelId="{AF516206-69E0-4C84-AA70-501CCB59CF6C}">
      <dgm:prSet/>
      <dgm:spPr/>
      <dgm:t>
        <a:bodyPr/>
        <a:lstStyle/>
        <a:p>
          <a:pPr rtl="0"/>
          <a:r>
            <a:rPr lang="en-US" b="0" i="0" baseline="0" smtClean="0"/>
            <a:t>Once the specified conditions are met, the trigger activates and starts the flow. The flow then executes the defined actions based on the trigger's parameters.</a:t>
          </a:r>
          <a:endParaRPr lang="en-IN"/>
        </a:p>
      </dgm:t>
    </dgm:pt>
    <dgm:pt modelId="{3263F926-130B-49F3-A2EC-A4C450612F8F}" type="parTrans" cxnId="{42560D3C-2766-4280-BB65-07659653B1F3}">
      <dgm:prSet/>
      <dgm:spPr/>
      <dgm:t>
        <a:bodyPr/>
        <a:lstStyle/>
        <a:p>
          <a:endParaRPr lang="en-US"/>
        </a:p>
      </dgm:t>
    </dgm:pt>
    <dgm:pt modelId="{CA31A6E1-189F-47C5-9664-640600A12D1D}" type="sibTrans" cxnId="{42560D3C-2766-4280-BB65-07659653B1F3}">
      <dgm:prSet/>
      <dgm:spPr/>
      <dgm:t>
        <a:bodyPr/>
        <a:lstStyle/>
        <a:p>
          <a:endParaRPr lang="en-US"/>
        </a:p>
      </dgm:t>
    </dgm:pt>
    <dgm:pt modelId="{7FE6EFFE-2105-430A-BE9B-145D543B3B38}">
      <dgm:prSet custT="1"/>
      <dgm:spPr/>
      <dgm:t>
        <a:bodyPr/>
        <a:lstStyle/>
        <a:p>
          <a:pPr rtl="0"/>
          <a:r>
            <a:rPr lang="en-US" sz="2400" b="1" i="0" baseline="0" dirty="0" smtClean="0"/>
            <a:t>Monitor and Manage:</a:t>
          </a:r>
          <a:endParaRPr lang="en-IN" sz="2400" dirty="0"/>
        </a:p>
      </dgm:t>
    </dgm:pt>
    <dgm:pt modelId="{68852009-3E6A-4210-8196-C0F4099E4E31}" type="parTrans" cxnId="{F28CC1DE-2998-4ACB-82A5-AB5E016A49D4}">
      <dgm:prSet/>
      <dgm:spPr/>
      <dgm:t>
        <a:bodyPr/>
        <a:lstStyle/>
        <a:p>
          <a:endParaRPr lang="en-US"/>
        </a:p>
      </dgm:t>
    </dgm:pt>
    <dgm:pt modelId="{9C79DB8D-B658-4E9C-9F5E-4BD8E6FBF28D}" type="sibTrans" cxnId="{F28CC1DE-2998-4ACB-82A5-AB5E016A49D4}">
      <dgm:prSet/>
      <dgm:spPr/>
      <dgm:t>
        <a:bodyPr/>
        <a:lstStyle/>
        <a:p>
          <a:endParaRPr lang="en-US"/>
        </a:p>
      </dgm:t>
    </dgm:pt>
    <dgm:pt modelId="{4200A923-1E85-4E24-A138-A17FFFBF897A}">
      <dgm:prSet/>
      <dgm:spPr/>
      <dgm:t>
        <a:bodyPr/>
        <a:lstStyle/>
        <a:p>
          <a:pPr rtl="0"/>
          <a:r>
            <a:rPr lang="en-US" b="0" i="0" baseline="0" smtClean="0"/>
            <a:t>Use Power Automate’s monitoring tools to track when triggers fire and how flows perform. Review run history and logs to ensure that triggers and flows are working as expected.</a:t>
          </a:r>
          <a:endParaRPr lang="en-IN"/>
        </a:p>
      </dgm:t>
    </dgm:pt>
    <dgm:pt modelId="{3E334224-B79A-44E0-A4AD-C982CDFF3F47}" type="parTrans" cxnId="{863499DF-7A89-4137-BF00-ED7E15D2187C}">
      <dgm:prSet/>
      <dgm:spPr/>
      <dgm:t>
        <a:bodyPr/>
        <a:lstStyle/>
        <a:p>
          <a:endParaRPr lang="en-US"/>
        </a:p>
      </dgm:t>
    </dgm:pt>
    <dgm:pt modelId="{4CF3D1AE-47B5-4D78-A852-CC7E1CDEC275}" type="sibTrans" cxnId="{863499DF-7A89-4137-BF00-ED7E15D2187C}">
      <dgm:prSet/>
      <dgm:spPr/>
      <dgm:t>
        <a:bodyPr/>
        <a:lstStyle/>
        <a:p>
          <a:endParaRPr lang="en-US"/>
        </a:p>
      </dgm:t>
    </dgm:pt>
    <dgm:pt modelId="{A9822A13-CAD8-4A8F-B8B3-3927432F15E2}" type="pres">
      <dgm:prSet presAssocID="{CD3119A3-C221-4A54-8473-CF26A64422A1}" presName="diagram" presStyleCnt="0">
        <dgm:presLayoutVars>
          <dgm:dir/>
          <dgm:resizeHandles val="exact"/>
        </dgm:presLayoutVars>
      </dgm:prSet>
      <dgm:spPr/>
      <dgm:t>
        <a:bodyPr/>
        <a:lstStyle/>
        <a:p>
          <a:endParaRPr lang="en-US"/>
        </a:p>
      </dgm:t>
    </dgm:pt>
    <dgm:pt modelId="{C6455146-C2AA-4DE5-A3E5-CEC3396ACAF4}" type="pres">
      <dgm:prSet presAssocID="{25511604-6908-49B0-80CD-DB590CE243E7}" presName="node" presStyleLbl="node1" presStyleIdx="0" presStyleCnt="8">
        <dgm:presLayoutVars>
          <dgm:bulletEnabled val="1"/>
        </dgm:presLayoutVars>
      </dgm:prSet>
      <dgm:spPr/>
      <dgm:t>
        <a:bodyPr/>
        <a:lstStyle/>
        <a:p>
          <a:endParaRPr lang="en-US"/>
        </a:p>
      </dgm:t>
    </dgm:pt>
    <dgm:pt modelId="{A8A8A503-8480-479A-991A-15A9E1DE6E61}" type="pres">
      <dgm:prSet presAssocID="{B413F193-EE25-4AAE-BB24-EF3835DC3302}" presName="sibTrans" presStyleLbl="sibTrans2D1" presStyleIdx="0" presStyleCnt="7"/>
      <dgm:spPr/>
      <dgm:t>
        <a:bodyPr/>
        <a:lstStyle/>
        <a:p>
          <a:endParaRPr lang="en-US"/>
        </a:p>
      </dgm:t>
    </dgm:pt>
    <dgm:pt modelId="{B0E128DB-303D-4DC8-B73E-7B1A3691D13F}" type="pres">
      <dgm:prSet presAssocID="{B413F193-EE25-4AAE-BB24-EF3835DC3302}" presName="connectorText" presStyleLbl="sibTrans2D1" presStyleIdx="0" presStyleCnt="7"/>
      <dgm:spPr/>
      <dgm:t>
        <a:bodyPr/>
        <a:lstStyle/>
        <a:p>
          <a:endParaRPr lang="en-US"/>
        </a:p>
      </dgm:t>
    </dgm:pt>
    <dgm:pt modelId="{8F57F8EA-1CEE-4001-9FA7-8A0BDE7E4E07}" type="pres">
      <dgm:prSet presAssocID="{BEE71C3B-CFFF-4138-979A-8ACCE7FC11E5}" presName="node" presStyleLbl="node1" presStyleIdx="1" presStyleCnt="8">
        <dgm:presLayoutVars>
          <dgm:bulletEnabled val="1"/>
        </dgm:presLayoutVars>
      </dgm:prSet>
      <dgm:spPr/>
      <dgm:t>
        <a:bodyPr/>
        <a:lstStyle/>
        <a:p>
          <a:endParaRPr lang="en-US"/>
        </a:p>
      </dgm:t>
    </dgm:pt>
    <dgm:pt modelId="{B9ED1122-62A3-4716-B049-7CF78A8A7FC8}" type="pres">
      <dgm:prSet presAssocID="{036D0CD3-A9C3-4AE5-835E-13E2DE141B21}" presName="sibTrans" presStyleLbl="sibTrans2D1" presStyleIdx="1" presStyleCnt="7"/>
      <dgm:spPr/>
      <dgm:t>
        <a:bodyPr/>
        <a:lstStyle/>
        <a:p>
          <a:endParaRPr lang="en-US"/>
        </a:p>
      </dgm:t>
    </dgm:pt>
    <dgm:pt modelId="{10B2E552-0BE1-448A-B88F-6DE62523EE00}" type="pres">
      <dgm:prSet presAssocID="{036D0CD3-A9C3-4AE5-835E-13E2DE141B21}" presName="connectorText" presStyleLbl="sibTrans2D1" presStyleIdx="1" presStyleCnt="7"/>
      <dgm:spPr/>
      <dgm:t>
        <a:bodyPr/>
        <a:lstStyle/>
        <a:p>
          <a:endParaRPr lang="en-US"/>
        </a:p>
      </dgm:t>
    </dgm:pt>
    <dgm:pt modelId="{99EB3E7C-26F2-4C99-A45F-DF9FD4BAD108}" type="pres">
      <dgm:prSet presAssocID="{F19E9ABE-5A4A-48DF-BEA2-BB58DC806BAE}" presName="node" presStyleLbl="node1" presStyleIdx="2" presStyleCnt="8">
        <dgm:presLayoutVars>
          <dgm:bulletEnabled val="1"/>
        </dgm:presLayoutVars>
      </dgm:prSet>
      <dgm:spPr/>
      <dgm:t>
        <a:bodyPr/>
        <a:lstStyle/>
        <a:p>
          <a:endParaRPr lang="en-US"/>
        </a:p>
      </dgm:t>
    </dgm:pt>
    <dgm:pt modelId="{8B590165-7E73-4032-AAA6-1B08B6DD4909}" type="pres">
      <dgm:prSet presAssocID="{23C5F7BC-F9F2-46CD-8B96-F2F512C640D4}" presName="sibTrans" presStyleLbl="sibTrans2D1" presStyleIdx="2" presStyleCnt="7"/>
      <dgm:spPr/>
      <dgm:t>
        <a:bodyPr/>
        <a:lstStyle/>
        <a:p>
          <a:endParaRPr lang="en-US"/>
        </a:p>
      </dgm:t>
    </dgm:pt>
    <dgm:pt modelId="{CDB177E7-CAFE-4F5B-8C68-5882603C9BF4}" type="pres">
      <dgm:prSet presAssocID="{23C5F7BC-F9F2-46CD-8B96-F2F512C640D4}" presName="connectorText" presStyleLbl="sibTrans2D1" presStyleIdx="2" presStyleCnt="7"/>
      <dgm:spPr/>
      <dgm:t>
        <a:bodyPr/>
        <a:lstStyle/>
        <a:p>
          <a:endParaRPr lang="en-US"/>
        </a:p>
      </dgm:t>
    </dgm:pt>
    <dgm:pt modelId="{70BD94E6-7C7F-4D92-8E08-A0DFBC500B74}" type="pres">
      <dgm:prSet presAssocID="{E6616CDF-1645-4D25-8B42-76223173E72B}" presName="node" presStyleLbl="node1" presStyleIdx="3" presStyleCnt="8">
        <dgm:presLayoutVars>
          <dgm:bulletEnabled val="1"/>
        </dgm:presLayoutVars>
      </dgm:prSet>
      <dgm:spPr/>
      <dgm:t>
        <a:bodyPr/>
        <a:lstStyle/>
        <a:p>
          <a:endParaRPr lang="en-US"/>
        </a:p>
      </dgm:t>
    </dgm:pt>
    <dgm:pt modelId="{02F49DF2-2C62-4AB7-B06E-70CE182F67F0}" type="pres">
      <dgm:prSet presAssocID="{53ACAC20-6D5A-4A39-87EE-8DC948485CA5}" presName="sibTrans" presStyleLbl="sibTrans2D1" presStyleIdx="3" presStyleCnt="7"/>
      <dgm:spPr/>
      <dgm:t>
        <a:bodyPr/>
        <a:lstStyle/>
        <a:p>
          <a:endParaRPr lang="en-US"/>
        </a:p>
      </dgm:t>
    </dgm:pt>
    <dgm:pt modelId="{D3EAE02F-A822-48E2-9487-4E9F8061D81E}" type="pres">
      <dgm:prSet presAssocID="{53ACAC20-6D5A-4A39-87EE-8DC948485CA5}" presName="connectorText" presStyleLbl="sibTrans2D1" presStyleIdx="3" presStyleCnt="7"/>
      <dgm:spPr/>
      <dgm:t>
        <a:bodyPr/>
        <a:lstStyle/>
        <a:p>
          <a:endParaRPr lang="en-US"/>
        </a:p>
      </dgm:t>
    </dgm:pt>
    <dgm:pt modelId="{343286BB-6B38-4420-9AB3-E76C5546692B}" type="pres">
      <dgm:prSet presAssocID="{4C181C58-A55C-4551-A208-DC90F16E09D0}" presName="node" presStyleLbl="node1" presStyleIdx="4" presStyleCnt="8">
        <dgm:presLayoutVars>
          <dgm:bulletEnabled val="1"/>
        </dgm:presLayoutVars>
      </dgm:prSet>
      <dgm:spPr/>
      <dgm:t>
        <a:bodyPr/>
        <a:lstStyle/>
        <a:p>
          <a:endParaRPr lang="en-US"/>
        </a:p>
      </dgm:t>
    </dgm:pt>
    <dgm:pt modelId="{F0B49A93-4833-43EA-AEEC-7DA6329B42E2}" type="pres">
      <dgm:prSet presAssocID="{984401B6-5C30-4CE3-97DE-94089E7D860F}" presName="sibTrans" presStyleLbl="sibTrans2D1" presStyleIdx="4" presStyleCnt="7"/>
      <dgm:spPr/>
      <dgm:t>
        <a:bodyPr/>
        <a:lstStyle/>
        <a:p>
          <a:endParaRPr lang="en-US"/>
        </a:p>
      </dgm:t>
    </dgm:pt>
    <dgm:pt modelId="{9ABE93F3-5EF8-4C8B-9CC8-44E0716CBCE9}" type="pres">
      <dgm:prSet presAssocID="{984401B6-5C30-4CE3-97DE-94089E7D860F}" presName="connectorText" presStyleLbl="sibTrans2D1" presStyleIdx="4" presStyleCnt="7"/>
      <dgm:spPr/>
      <dgm:t>
        <a:bodyPr/>
        <a:lstStyle/>
        <a:p>
          <a:endParaRPr lang="en-US"/>
        </a:p>
      </dgm:t>
    </dgm:pt>
    <dgm:pt modelId="{64FA877D-F8DD-4EE0-82B7-C10D94440999}" type="pres">
      <dgm:prSet presAssocID="{AF516206-69E0-4C84-AA70-501CCB59CF6C}" presName="node" presStyleLbl="node1" presStyleIdx="5" presStyleCnt="8">
        <dgm:presLayoutVars>
          <dgm:bulletEnabled val="1"/>
        </dgm:presLayoutVars>
      </dgm:prSet>
      <dgm:spPr/>
      <dgm:t>
        <a:bodyPr/>
        <a:lstStyle/>
        <a:p>
          <a:endParaRPr lang="en-US"/>
        </a:p>
      </dgm:t>
    </dgm:pt>
    <dgm:pt modelId="{A6EFEBF8-F571-477E-8081-C376DD30E34B}" type="pres">
      <dgm:prSet presAssocID="{CA31A6E1-189F-47C5-9664-640600A12D1D}" presName="sibTrans" presStyleLbl="sibTrans2D1" presStyleIdx="5" presStyleCnt="7"/>
      <dgm:spPr/>
      <dgm:t>
        <a:bodyPr/>
        <a:lstStyle/>
        <a:p>
          <a:endParaRPr lang="en-US"/>
        </a:p>
      </dgm:t>
    </dgm:pt>
    <dgm:pt modelId="{802AD13A-958C-416A-84E4-9A1FB8B544DA}" type="pres">
      <dgm:prSet presAssocID="{CA31A6E1-189F-47C5-9664-640600A12D1D}" presName="connectorText" presStyleLbl="sibTrans2D1" presStyleIdx="5" presStyleCnt="7"/>
      <dgm:spPr/>
      <dgm:t>
        <a:bodyPr/>
        <a:lstStyle/>
        <a:p>
          <a:endParaRPr lang="en-US"/>
        </a:p>
      </dgm:t>
    </dgm:pt>
    <dgm:pt modelId="{B792F20B-CC80-4FAA-864B-20F46755378C}" type="pres">
      <dgm:prSet presAssocID="{7FE6EFFE-2105-430A-BE9B-145D543B3B38}" presName="node" presStyleLbl="node1" presStyleIdx="6" presStyleCnt="8">
        <dgm:presLayoutVars>
          <dgm:bulletEnabled val="1"/>
        </dgm:presLayoutVars>
      </dgm:prSet>
      <dgm:spPr/>
      <dgm:t>
        <a:bodyPr/>
        <a:lstStyle/>
        <a:p>
          <a:endParaRPr lang="en-US"/>
        </a:p>
      </dgm:t>
    </dgm:pt>
    <dgm:pt modelId="{F34A2424-9703-4E3D-B2FF-1894184BE04D}" type="pres">
      <dgm:prSet presAssocID="{9C79DB8D-B658-4E9C-9F5E-4BD8E6FBF28D}" presName="sibTrans" presStyleLbl="sibTrans2D1" presStyleIdx="6" presStyleCnt="7"/>
      <dgm:spPr/>
      <dgm:t>
        <a:bodyPr/>
        <a:lstStyle/>
        <a:p>
          <a:endParaRPr lang="en-US"/>
        </a:p>
      </dgm:t>
    </dgm:pt>
    <dgm:pt modelId="{02B4E8D1-9ABA-4394-9617-4D72076A33B7}" type="pres">
      <dgm:prSet presAssocID="{9C79DB8D-B658-4E9C-9F5E-4BD8E6FBF28D}" presName="connectorText" presStyleLbl="sibTrans2D1" presStyleIdx="6" presStyleCnt="7"/>
      <dgm:spPr/>
      <dgm:t>
        <a:bodyPr/>
        <a:lstStyle/>
        <a:p>
          <a:endParaRPr lang="en-US"/>
        </a:p>
      </dgm:t>
    </dgm:pt>
    <dgm:pt modelId="{94F64E63-3A44-48D2-B157-72B6F37CF14F}" type="pres">
      <dgm:prSet presAssocID="{4200A923-1E85-4E24-A138-A17FFFBF897A}" presName="node" presStyleLbl="node1" presStyleIdx="7" presStyleCnt="8">
        <dgm:presLayoutVars>
          <dgm:bulletEnabled val="1"/>
        </dgm:presLayoutVars>
      </dgm:prSet>
      <dgm:spPr/>
      <dgm:t>
        <a:bodyPr/>
        <a:lstStyle/>
        <a:p>
          <a:endParaRPr lang="en-US"/>
        </a:p>
      </dgm:t>
    </dgm:pt>
  </dgm:ptLst>
  <dgm:cxnLst>
    <dgm:cxn modelId="{610B4E92-B993-4C7C-9C2D-8B93D835FEAF}" srcId="{CD3119A3-C221-4A54-8473-CF26A64422A1}" destId="{BEE71C3B-CFFF-4138-979A-8ACCE7FC11E5}" srcOrd="1" destOrd="0" parTransId="{0E68FC11-DE38-4BCE-9EE8-97D40BBCD96C}" sibTransId="{036D0CD3-A9C3-4AE5-835E-13E2DE141B21}"/>
    <dgm:cxn modelId="{3FC531FD-6BC8-4C68-9415-C29D683FF95E}" type="presOf" srcId="{CA31A6E1-189F-47C5-9664-640600A12D1D}" destId="{802AD13A-958C-416A-84E4-9A1FB8B544DA}" srcOrd="1" destOrd="0" presId="urn:microsoft.com/office/officeart/2005/8/layout/process5"/>
    <dgm:cxn modelId="{37320735-A0E2-464D-A1FD-68125322BCDF}" type="presOf" srcId="{4C181C58-A55C-4551-A208-DC90F16E09D0}" destId="{343286BB-6B38-4420-9AB3-E76C5546692B}" srcOrd="0" destOrd="0" presId="urn:microsoft.com/office/officeart/2005/8/layout/process5"/>
    <dgm:cxn modelId="{8AE2026E-6A46-4075-BD1C-3C384F04BE18}" type="presOf" srcId="{036D0CD3-A9C3-4AE5-835E-13E2DE141B21}" destId="{B9ED1122-62A3-4716-B049-7CF78A8A7FC8}" srcOrd="0" destOrd="0" presId="urn:microsoft.com/office/officeart/2005/8/layout/process5"/>
    <dgm:cxn modelId="{467C7F34-9765-4D5D-BAB3-209E3E1B8954}" type="presOf" srcId="{4200A923-1E85-4E24-A138-A17FFFBF897A}" destId="{94F64E63-3A44-48D2-B157-72B6F37CF14F}" srcOrd="0" destOrd="0" presId="urn:microsoft.com/office/officeart/2005/8/layout/process5"/>
    <dgm:cxn modelId="{28AD4D68-F648-48F5-AFDE-446F18239853}" type="presOf" srcId="{B413F193-EE25-4AAE-BB24-EF3835DC3302}" destId="{A8A8A503-8480-479A-991A-15A9E1DE6E61}" srcOrd="0" destOrd="0" presId="urn:microsoft.com/office/officeart/2005/8/layout/process5"/>
    <dgm:cxn modelId="{6BEF7C25-9FA9-4752-B0BC-9CD04C8B45AF}" type="presOf" srcId="{23C5F7BC-F9F2-46CD-8B96-F2F512C640D4}" destId="{8B590165-7E73-4032-AAA6-1B08B6DD4909}" srcOrd="0" destOrd="0" presId="urn:microsoft.com/office/officeart/2005/8/layout/process5"/>
    <dgm:cxn modelId="{D4D87FCF-D7C5-4B34-AE90-4E6EBCB45AAB}" type="presOf" srcId="{9C79DB8D-B658-4E9C-9F5E-4BD8E6FBF28D}" destId="{02B4E8D1-9ABA-4394-9617-4D72076A33B7}" srcOrd="1" destOrd="0" presId="urn:microsoft.com/office/officeart/2005/8/layout/process5"/>
    <dgm:cxn modelId="{BD8F2A60-CC77-4EDF-8A4B-F88C865F7CEA}" type="presOf" srcId="{036D0CD3-A9C3-4AE5-835E-13E2DE141B21}" destId="{10B2E552-0BE1-448A-B88F-6DE62523EE00}" srcOrd="1" destOrd="0" presId="urn:microsoft.com/office/officeart/2005/8/layout/process5"/>
    <dgm:cxn modelId="{F3BE9568-03B8-4708-82DC-7A59A72A43B2}" type="presOf" srcId="{23C5F7BC-F9F2-46CD-8B96-F2F512C640D4}" destId="{CDB177E7-CAFE-4F5B-8C68-5882603C9BF4}" srcOrd="1" destOrd="0" presId="urn:microsoft.com/office/officeart/2005/8/layout/process5"/>
    <dgm:cxn modelId="{2DE325B1-6DCC-47F8-860A-3E00F5ACC674}" type="presOf" srcId="{25511604-6908-49B0-80CD-DB590CE243E7}" destId="{C6455146-C2AA-4DE5-A3E5-CEC3396ACAF4}" srcOrd="0" destOrd="0" presId="urn:microsoft.com/office/officeart/2005/8/layout/process5"/>
    <dgm:cxn modelId="{6454346D-7348-4362-92C8-309B747DC051}" type="presOf" srcId="{CD3119A3-C221-4A54-8473-CF26A64422A1}" destId="{A9822A13-CAD8-4A8F-B8B3-3927432F15E2}" srcOrd="0" destOrd="0" presId="urn:microsoft.com/office/officeart/2005/8/layout/process5"/>
    <dgm:cxn modelId="{42560D3C-2766-4280-BB65-07659653B1F3}" srcId="{CD3119A3-C221-4A54-8473-CF26A64422A1}" destId="{AF516206-69E0-4C84-AA70-501CCB59CF6C}" srcOrd="5" destOrd="0" parTransId="{3263F926-130B-49F3-A2EC-A4C450612F8F}" sibTransId="{CA31A6E1-189F-47C5-9664-640600A12D1D}"/>
    <dgm:cxn modelId="{F715D880-64F1-4EF2-8048-C178FB5EC837}" type="presOf" srcId="{E6616CDF-1645-4D25-8B42-76223173E72B}" destId="{70BD94E6-7C7F-4D92-8E08-A0DFBC500B74}" srcOrd="0" destOrd="0" presId="urn:microsoft.com/office/officeart/2005/8/layout/process5"/>
    <dgm:cxn modelId="{AA1B2FC9-EA39-4880-A691-E8FCFCFAB87E}" srcId="{CD3119A3-C221-4A54-8473-CF26A64422A1}" destId="{F19E9ABE-5A4A-48DF-BEA2-BB58DC806BAE}" srcOrd="2" destOrd="0" parTransId="{1E0CCA27-E58F-4CC9-AE31-7CEBB2D0F297}" sibTransId="{23C5F7BC-F9F2-46CD-8B96-F2F512C640D4}"/>
    <dgm:cxn modelId="{09B351F4-1F44-4331-A884-54E2A7997379}" type="presOf" srcId="{984401B6-5C30-4CE3-97DE-94089E7D860F}" destId="{F0B49A93-4833-43EA-AEEC-7DA6329B42E2}" srcOrd="0" destOrd="0" presId="urn:microsoft.com/office/officeart/2005/8/layout/process5"/>
    <dgm:cxn modelId="{C72B03E5-54D1-4554-BDB9-8B1864D21037}" type="presOf" srcId="{984401B6-5C30-4CE3-97DE-94089E7D860F}" destId="{9ABE93F3-5EF8-4C8B-9CC8-44E0716CBCE9}" srcOrd="1" destOrd="0" presId="urn:microsoft.com/office/officeart/2005/8/layout/process5"/>
    <dgm:cxn modelId="{863499DF-7A89-4137-BF00-ED7E15D2187C}" srcId="{CD3119A3-C221-4A54-8473-CF26A64422A1}" destId="{4200A923-1E85-4E24-A138-A17FFFBF897A}" srcOrd="7" destOrd="0" parTransId="{3E334224-B79A-44E0-A4AD-C982CDFF3F47}" sibTransId="{4CF3D1AE-47B5-4D78-A852-CC7E1CDEC275}"/>
    <dgm:cxn modelId="{3D7743D9-803D-4E4B-82AB-7ACE9BFC17CA}" type="presOf" srcId="{53ACAC20-6D5A-4A39-87EE-8DC948485CA5}" destId="{D3EAE02F-A822-48E2-9487-4E9F8061D81E}" srcOrd="1" destOrd="0" presId="urn:microsoft.com/office/officeart/2005/8/layout/process5"/>
    <dgm:cxn modelId="{EF8B4DC4-C517-41CE-8AF7-CAFA9AB2688F}" type="presOf" srcId="{7FE6EFFE-2105-430A-BE9B-145D543B3B38}" destId="{B792F20B-CC80-4FAA-864B-20F46755378C}" srcOrd="0" destOrd="0" presId="urn:microsoft.com/office/officeart/2005/8/layout/process5"/>
    <dgm:cxn modelId="{E64C8586-FEA0-44FC-902C-3F9F6BA30EFC}" type="presOf" srcId="{CA31A6E1-189F-47C5-9664-640600A12D1D}" destId="{A6EFEBF8-F571-477E-8081-C376DD30E34B}" srcOrd="0" destOrd="0" presId="urn:microsoft.com/office/officeart/2005/8/layout/process5"/>
    <dgm:cxn modelId="{AE3569FD-B8DA-4F3A-934B-02218CE8F598}" type="presOf" srcId="{53ACAC20-6D5A-4A39-87EE-8DC948485CA5}" destId="{02F49DF2-2C62-4AB7-B06E-70CE182F67F0}" srcOrd="0" destOrd="0" presId="urn:microsoft.com/office/officeart/2005/8/layout/process5"/>
    <dgm:cxn modelId="{79925B1D-AF4B-489E-89E8-D1332B7B6385}" type="presOf" srcId="{B413F193-EE25-4AAE-BB24-EF3835DC3302}" destId="{B0E128DB-303D-4DC8-B73E-7B1A3691D13F}" srcOrd="1" destOrd="0" presId="urn:microsoft.com/office/officeart/2005/8/layout/process5"/>
    <dgm:cxn modelId="{71DA6D4A-A751-47A0-816C-B31B70CC7CD7}" type="presOf" srcId="{F19E9ABE-5A4A-48DF-BEA2-BB58DC806BAE}" destId="{99EB3E7C-26F2-4C99-A45F-DF9FD4BAD108}" srcOrd="0" destOrd="0" presId="urn:microsoft.com/office/officeart/2005/8/layout/process5"/>
    <dgm:cxn modelId="{F28CC1DE-2998-4ACB-82A5-AB5E016A49D4}" srcId="{CD3119A3-C221-4A54-8473-CF26A64422A1}" destId="{7FE6EFFE-2105-430A-BE9B-145D543B3B38}" srcOrd="6" destOrd="0" parTransId="{68852009-3E6A-4210-8196-C0F4099E4E31}" sibTransId="{9C79DB8D-B658-4E9C-9F5E-4BD8E6FBF28D}"/>
    <dgm:cxn modelId="{EBEA6DC6-0D48-4327-B8F3-84D7997284DE}" type="presOf" srcId="{AF516206-69E0-4C84-AA70-501CCB59CF6C}" destId="{64FA877D-F8DD-4EE0-82B7-C10D94440999}" srcOrd="0" destOrd="0" presId="urn:microsoft.com/office/officeart/2005/8/layout/process5"/>
    <dgm:cxn modelId="{4FFDCE32-D2E7-41AE-A82C-49501AD82318}" type="presOf" srcId="{BEE71C3B-CFFF-4138-979A-8ACCE7FC11E5}" destId="{8F57F8EA-1CEE-4001-9FA7-8A0BDE7E4E07}" srcOrd="0" destOrd="0" presId="urn:microsoft.com/office/officeart/2005/8/layout/process5"/>
    <dgm:cxn modelId="{067DEA80-20EE-4B49-87DD-1A36A9CB19A3}" srcId="{CD3119A3-C221-4A54-8473-CF26A64422A1}" destId="{4C181C58-A55C-4551-A208-DC90F16E09D0}" srcOrd="4" destOrd="0" parTransId="{F9DB062D-1EDF-4C84-BC10-5CA86853AC8A}" sibTransId="{984401B6-5C30-4CE3-97DE-94089E7D860F}"/>
    <dgm:cxn modelId="{8DE37B24-47D4-42D5-AA0D-C2740169F701}" srcId="{CD3119A3-C221-4A54-8473-CF26A64422A1}" destId="{25511604-6908-49B0-80CD-DB590CE243E7}" srcOrd="0" destOrd="0" parTransId="{63495121-F478-4F29-995C-59BF5D3F134A}" sibTransId="{B413F193-EE25-4AAE-BB24-EF3835DC3302}"/>
    <dgm:cxn modelId="{6433155D-374F-43FE-A4C1-7C7AA6C6FEE6}" srcId="{CD3119A3-C221-4A54-8473-CF26A64422A1}" destId="{E6616CDF-1645-4D25-8B42-76223173E72B}" srcOrd="3" destOrd="0" parTransId="{2B4D0812-9C41-4BFC-AE1F-940D24102305}" sibTransId="{53ACAC20-6D5A-4A39-87EE-8DC948485CA5}"/>
    <dgm:cxn modelId="{08746DB3-4BBA-46C9-B2E1-C621D4BC59B6}" type="presOf" srcId="{9C79DB8D-B658-4E9C-9F5E-4BD8E6FBF28D}" destId="{F34A2424-9703-4E3D-B2FF-1894184BE04D}" srcOrd="0" destOrd="0" presId="urn:microsoft.com/office/officeart/2005/8/layout/process5"/>
    <dgm:cxn modelId="{715671B7-9491-433A-B39C-A3A8C215A0E2}" type="presParOf" srcId="{A9822A13-CAD8-4A8F-B8B3-3927432F15E2}" destId="{C6455146-C2AA-4DE5-A3E5-CEC3396ACAF4}" srcOrd="0" destOrd="0" presId="urn:microsoft.com/office/officeart/2005/8/layout/process5"/>
    <dgm:cxn modelId="{0CE41007-0CA4-49EA-B499-028359A1CD90}" type="presParOf" srcId="{A9822A13-CAD8-4A8F-B8B3-3927432F15E2}" destId="{A8A8A503-8480-479A-991A-15A9E1DE6E61}" srcOrd="1" destOrd="0" presId="urn:microsoft.com/office/officeart/2005/8/layout/process5"/>
    <dgm:cxn modelId="{62F6018D-6791-4985-9A51-1B54B4E6AB71}" type="presParOf" srcId="{A8A8A503-8480-479A-991A-15A9E1DE6E61}" destId="{B0E128DB-303D-4DC8-B73E-7B1A3691D13F}" srcOrd="0" destOrd="0" presId="urn:microsoft.com/office/officeart/2005/8/layout/process5"/>
    <dgm:cxn modelId="{49E6BA09-0621-4348-BA5A-FBE0BDF2B235}" type="presParOf" srcId="{A9822A13-CAD8-4A8F-B8B3-3927432F15E2}" destId="{8F57F8EA-1CEE-4001-9FA7-8A0BDE7E4E07}" srcOrd="2" destOrd="0" presId="urn:microsoft.com/office/officeart/2005/8/layout/process5"/>
    <dgm:cxn modelId="{4A919A9E-A85B-47CD-8C7C-CB1FD2880436}" type="presParOf" srcId="{A9822A13-CAD8-4A8F-B8B3-3927432F15E2}" destId="{B9ED1122-62A3-4716-B049-7CF78A8A7FC8}" srcOrd="3" destOrd="0" presId="urn:microsoft.com/office/officeart/2005/8/layout/process5"/>
    <dgm:cxn modelId="{30BCC2C1-3CDF-49BA-88DB-75555A889371}" type="presParOf" srcId="{B9ED1122-62A3-4716-B049-7CF78A8A7FC8}" destId="{10B2E552-0BE1-448A-B88F-6DE62523EE00}" srcOrd="0" destOrd="0" presId="urn:microsoft.com/office/officeart/2005/8/layout/process5"/>
    <dgm:cxn modelId="{56B49E66-3F5E-4C23-84CE-2CF6B4F16DC9}" type="presParOf" srcId="{A9822A13-CAD8-4A8F-B8B3-3927432F15E2}" destId="{99EB3E7C-26F2-4C99-A45F-DF9FD4BAD108}" srcOrd="4" destOrd="0" presId="urn:microsoft.com/office/officeart/2005/8/layout/process5"/>
    <dgm:cxn modelId="{4ACFF257-E5DA-432D-A719-D333AD8722C5}" type="presParOf" srcId="{A9822A13-CAD8-4A8F-B8B3-3927432F15E2}" destId="{8B590165-7E73-4032-AAA6-1B08B6DD4909}" srcOrd="5" destOrd="0" presId="urn:microsoft.com/office/officeart/2005/8/layout/process5"/>
    <dgm:cxn modelId="{FF6BEA79-BF8F-4735-99AA-80F8DAAAC985}" type="presParOf" srcId="{8B590165-7E73-4032-AAA6-1B08B6DD4909}" destId="{CDB177E7-CAFE-4F5B-8C68-5882603C9BF4}" srcOrd="0" destOrd="0" presId="urn:microsoft.com/office/officeart/2005/8/layout/process5"/>
    <dgm:cxn modelId="{B6A8F7BA-C717-4FB0-BC84-9275C0AB688D}" type="presParOf" srcId="{A9822A13-CAD8-4A8F-B8B3-3927432F15E2}" destId="{70BD94E6-7C7F-4D92-8E08-A0DFBC500B74}" srcOrd="6" destOrd="0" presId="urn:microsoft.com/office/officeart/2005/8/layout/process5"/>
    <dgm:cxn modelId="{CBA8DF66-0DFE-49A2-AA61-BF66A39B6E49}" type="presParOf" srcId="{A9822A13-CAD8-4A8F-B8B3-3927432F15E2}" destId="{02F49DF2-2C62-4AB7-B06E-70CE182F67F0}" srcOrd="7" destOrd="0" presId="urn:microsoft.com/office/officeart/2005/8/layout/process5"/>
    <dgm:cxn modelId="{BC057779-19EE-4604-9656-0134BE3E2E42}" type="presParOf" srcId="{02F49DF2-2C62-4AB7-B06E-70CE182F67F0}" destId="{D3EAE02F-A822-48E2-9487-4E9F8061D81E}" srcOrd="0" destOrd="0" presId="urn:microsoft.com/office/officeart/2005/8/layout/process5"/>
    <dgm:cxn modelId="{5F800B2A-AE20-44ED-8334-807FB05E6C5C}" type="presParOf" srcId="{A9822A13-CAD8-4A8F-B8B3-3927432F15E2}" destId="{343286BB-6B38-4420-9AB3-E76C5546692B}" srcOrd="8" destOrd="0" presId="urn:microsoft.com/office/officeart/2005/8/layout/process5"/>
    <dgm:cxn modelId="{51384FE2-E5E6-4617-A518-2608477C5A1C}" type="presParOf" srcId="{A9822A13-CAD8-4A8F-B8B3-3927432F15E2}" destId="{F0B49A93-4833-43EA-AEEC-7DA6329B42E2}" srcOrd="9" destOrd="0" presId="urn:microsoft.com/office/officeart/2005/8/layout/process5"/>
    <dgm:cxn modelId="{5BC2551E-0A86-4294-94DD-010564D02FDC}" type="presParOf" srcId="{F0B49A93-4833-43EA-AEEC-7DA6329B42E2}" destId="{9ABE93F3-5EF8-4C8B-9CC8-44E0716CBCE9}" srcOrd="0" destOrd="0" presId="urn:microsoft.com/office/officeart/2005/8/layout/process5"/>
    <dgm:cxn modelId="{C1C58BB4-26DF-4EE9-B897-61CE97EB8504}" type="presParOf" srcId="{A9822A13-CAD8-4A8F-B8B3-3927432F15E2}" destId="{64FA877D-F8DD-4EE0-82B7-C10D94440999}" srcOrd="10" destOrd="0" presId="urn:microsoft.com/office/officeart/2005/8/layout/process5"/>
    <dgm:cxn modelId="{5105683E-994B-41C3-8953-E152AC73287C}" type="presParOf" srcId="{A9822A13-CAD8-4A8F-B8B3-3927432F15E2}" destId="{A6EFEBF8-F571-477E-8081-C376DD30E34B}" srcOrd="11" destOrd="0" presId="urn:microsoft.com/office/officeart/2005/8/layout/process5"/>
    <dgm:cxn modelId="{01B8FACF-5E6D-4D3A-8E2E-91262844E616}" type="presParOf" srcId="{A6EFEBF8-F571-477E-8081-C376DD30E34B}" destId="{802AD13A-958C-416A-84E4-9A1FB8B544DA}" srcOrd="0" destOrd="0" presId="urn:microsoft.com/office/officeart/2005/8/layout/process5"/>
    <dgm:cxn modelId="{1AC4687F-3B60-4049-9A7A-D98C4716F358}" type="presParOf" srcId="{A9822A13-CAD8-4A8F-B8B3-3927432F15E2}" destId="{B792F20B-CC80-4FAA-864B-20F46755378C}" srcOrd="12" destOrd="0" presId="urn:microsoft.com/office/officeart/2005/8/layout/process5"/>
    <dgm:cxn modelId="{AA4E953F-8C55-4038-99FA-33B378BCF02A}" type="presParOf" srcId="{A9822A13-CAD8-4A8F-B8B3-3927432F15E2}" destId="{F34A2424-9703-4E3D-B2FF-1894184BE04D}" srcOrd="13" destOrd="0" presId="urn:microsoft.com/office/officeart/2005/8/layout/process5"/>
    <dgm:cxn modelId="{817E9C68-38BE-4FA8-951B-448025D27814}" type="presParOf" srcId="{F34A2424-9703-4E3D-B2FF-1894184BE04D}" destId="{02B4E8D1-9ABA-4394-9617-4D72076A33B7}" srcOrd="0" destOrd="0" presId="urn:microsoft.com/office/officeart/2005/8/layout/process5"/>
    <dgm:cxn modelId="{5A085883-7B56-4720-AE9D-59447C172896}" type="presParOf" srcId="{A9822A13-CAD8-4A8F-B8B3-3927432F15E2}" destId="{94F64E63-3A44-48D2-B157-72B6F37CF14F}" srcOrd="1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607E6D-882C-4585-8A69-902FA7E18A97}" type="doc">
      <dgm:prSet loTypeId="urn:microsoft.com/office/officeart/2005/8/layout/process5" loCatId="process" qsTypeId="urn:microsoft.com/office/officeart/2005/8/quickstyle/simple1" qsCatId="simple" csTypeId="urn:microsoft.com/office/officeart/2005/8/colors/accent6_2" csCatId="accent6"/>
      <dgm:spPr/>
      <dgm:t>
        <a:bodyPr/>
        <a:lstStyle/>
        <a:p>
          <a:endParaRPr lang="en-US"/>
        </a:p>
      </dgm:t>
    </dgm:pt>
    <dgm:pt modelId="{EE3205B7-6325-4339-91F7-18FF466FD2D9}">
      <dgm:prSet custT="1"/>
      <dgm:spPr/>
      <dgm:t>
        <a:bodyPr/>
        <a:lstStyle/>
        <a:p>
          <a:pPr rtl="0"/>
          <a:r>
            <a:rPr lang="en-US" sz="2400" b="1" i="0" baseline="0" dirty="0" smtClean="0">
              <a:solidFill>
                <a:schemeClr val="accent6">
                  <a:lumMod val="20000"/>
                  <a:lumOff val="80000"/>
                </a:schemeClr>
              </a:solidFill>
            </a:rPr>
            <a:t>Install Power Automate Desktop:</a:t>
          </a:r>
          <a:endParaRPr lang="en-IN" sz="2400" dirty="0">
            <a:solidFill>
              <a:schemeClr val="accent6">
                <a:lumMod val="20000"/>
                <a:lumOff val="80000"/>
              </a:schemeClr>
            </a:solidFill>
          </a:endParaRPr>
        </a:p>
      </dgm:t>
    </dgm:pt>
    <dgm:pt modelId="{2F3261E4-0AE6-4AFD-A7D5-97EC2B361F14}" type="parTrans" cxnId="{EFF4D431-7FD8-4E9A-B0AD-56989174CFDD}">
      <dgm:prSet/>
      <dgm:spPr/>
      <dgm:t>
        <a:bodyPr/>
        <a:lstStyle/>
        <a:p>
          <a:endParaRPr lang="en-US"/>
        </a:p>
      </dgm:t>
    </dgm:pt>
    <dgm:pt modelId="{BB3CB2B5-26EB-4864-AA1B-DD9309FBE3B3}" type="sibTrans" cxnId="{EFF4D431-7FD8-4E9A-B0AD-56989174CFDD}">
      <dgm:prSet/>
      <dgm:spPr/>
      <dgm:t>
        <a:bodyPr/>
        <a:lstStyle/>
        <a:p>
          <a:endParaRPr lang="en-US"/>
        </a:p>
      </dgm:t>
    </dgm:pt>
    <dgm:pt modelId="{0970CBE5-E295-487E-BBEF-42C3760FD94A}">
      <dgm:prSet custT="1"/>
      <dgm:spPr/>
      <dgm:t>
        <a:bodyPr/>
        <a:lstStyle/>
        <a:p>
          <a:pPr rtl="0"/>
          <a:r>
            <a:rPr lang="en-US" sz="1200" b="0" i="0" baseline="0" dirty="0" smtClean="0"/>
            <a:t>Download and install the Power Automate Desktop application from the Microsoft website.</a:t>
          </a:r>
          <a:endParaRPr lang="en-IN" sz="1200" dirty="0"/>
        </a:p>
      </dgm:t>
    </dgm:pt>
    <dgm:pt modelId="{90DF107F-40B5-45DC-A69A-5FE02FF17354}" type="parTrans" cxnId="{815D2D75-7895-45EA-86EA-F66633635E3C}">
      <dgm:prSet/>
      <dgm:spPr/>
      <dgm:t>
        <a:bodyPr/>
        <a:lstStyle/>
        <a:p>
          <a:endParaRPr lang="en-US"/>
        </a:p>
      </dgm:t>
    </dgm:pt>
    <dgm:pt modelId="{95CA2716-DD24-4D6A-AEB3-494B14AF2504}" type="sibTrans" cxnId="{815D2D75-7895-45EA-86EA-F66633635E3C}">
      <dgm:prSet/>
      <dgm:spPr/>
      <dgm:t>
        <a:bodyPr/>
        <a:lstStyle/>
        <a:p>
          <a:endParaRPr lang="en-US"/>
        </a:p>
      </dgm:t>
    </dgm:pt>
    <dgm:pt modelId="{29954985-CDCC-4338-8F6D-F7E85FA65F5F}">
      <dgm:prSet custT="1"/>
      <dgm:spPr/>
      <dgm:t>
        <a:bodyPr/>
        <a:lstStyle/>
        <a:p>
          <a:pPr rtl="0"/>
          <a:r>
            <a:rPr lang="en-US" sz="2400" b="1" i="0" baseline="0" dirty="0" smtClean="0">
              <a:solidFill>
                <a:schemeClr val="accent6">
                  <a:lumMod val="20000"/>
                  <a:lumOff val="80000"/>
                </a:schemeClr>
              </a:solidFill>
            </a:rPr>
            <a:t>Create a Desktop Flow:</a:t>
          </a:r>
          <a:endParaRPr lang="en-IN" sz="2400" dirty="0">
            <a:solidFill>
              <a:schemeClr val="accent6">
                <a:lumMod val="20000"/>
                <a:lumOff val="80000"/>
              </a:schemeClr>
            </a:solidFill>
          </a:endParaRPr>
        </a:p>
      </dgm:t>
    </dgm:pt>
    <dgm:pt modelId="{6C0AF2D3-A0E5-4984-867D-FFF5E79B6FF1}" type="parTrans" cxnId="{27BFEC85-61D8-411B-8888-9C8FF9091BA0}">
      <dgm:prSet/>
      <dgm:spPr/>
      <dgm:t>
        <a:bodyPr/>
        <a:lstStyle/>
        <a:p>
          <a:endParaRPr lang="en-US"/>
        </a:p>
      </dgm:t>
    </dgm:pt>
    <dgm:pt modelId="{4F95913B-D240-4931-82E7-451811958D83}" type="sibTrans" cxnId="{27BFEC85-61D8-411B-8888-9C8FF9091BA0}">
      <dgm:prSet/>
      <dgm:spPr/>
      <dgm:t>
        <a:bodyPr/>
        <a:lstStyle/>
        <a:p>
          <a:endParaRPr lang="en-US"/>
        </a:p>
      </dgm:t>
    </dgm:pt>
    <dgm:pt modelId="{81E4D31B-60CD-4904-BC1E-934F5CC821DF}">
      <dgm:prSet custT="1"/>
      <dgm:spPr/>
      <dgm:t>
        <a:bodyPr/>
        <a:lstStyle/>
        <a:p>
          <a:pPr rtl="0"/>
          <a:r>
            <a:rPr lang="en-US" sz="1200" b="0" i="0" baseline="0" dirty="0" smtClean="0"/>
            <a:t>Open the Power Automate Desktop app and use the visual designer to create a new desktop flow. Add actions to interact with your desktop applications and files.</a:t>
          </a:r>
          <a:endParaRPr lang="en-IN" sz="1200" dirty="0"/>
        </a:p>
      </dgm:t>
    </dgm:pt>
    <dgm:pt modelId="{A81AAA98-F409-4027-AB9F-F4F876907C00}" type="parTrans" cxnId="{14A44E4F-292E-4AE3-B334-0A9DF875697E}">
      <dgm:prSet/>
      <dgm:spPr/>
      <dgm:t>
        <a:bodyPr/>
        <a:lstStyle/>
        <a:p>
          <a:endParaRPr lang="en-US"/>
        </a:p>
      </dgm:t>
    </dgm:pt>
    <dgm:pt modelId="{268EBA88-390F-422E-AC0C-A48AC6B58165}" type="sibTrans" cxnId="{14A44E4F-292E-4AE3-B334-0A9DF875697E}">
      <dgm:prSet/>
      <dgm:spPr/>
      <dgm:t>
        <a:bodyPr/>
        <a:lstStyle/>
        <a:p>
          <a:endParaRPr lang="en-US"/>
        </a:p>
      </dgm:t>
    </dgm:pt>
    <dgm:pt modelId="{03DC7582-5DD5-4516-A199-C1D9246C9BB2}">
      <dgm:prSet custT="1"/>
      <dgm:spPr/>
      <dgm:t>
        <a:bodyPr/>
        <a:lstStyle/>
        <a:p>
          <a:pPr rtl="0"/>
          <a:r>
            <a:rPr lang="en-US" sz="2400" b="1" i="0" baseline="0" dirty="0" smtClean="0">
              <a:solidFill>
                <a:schemeClr val="accent6">
                  <a:lumMod val="20000"/>
                  <a:lumOff val="80000"/>
                </a:schemeClr>
              </a:solidFill>
            </a:rPr>
            <a:t>Test and Debug:</a:t>
          </a:r>
          <a:endParaRPr lang="en-IN" sz="2400" dirty="0">
            <a:solidFill>
              <a:schemeClr val="accent6">
                <a:lumMod val="20000"/>
                <a:lumOff val="80000"/>
              </a:schemeClr>
            </a:solidFill>
          </a:endParaRPr>
        </a:p>
      </dgm:t>
    </dgm:pt>
    <dgm:pt modelId="{3B535178-14A2-4BDD-8E8E-5C5A85288AD1}" type="parTrans" cxnId="{2D9080CF-820D-4532-AEF9-56A0F0226E0B}">
      <dgm:prSet/>
      <dgm:spPr/>
      <dgm:t>
        <a:bodyPr/>
        <a:lstStyle/>
        <a:p>
          <a:endParaRPr lang="en-US"/>
        </a:p>
      </dgm:t>
    </dgm:pt>
    <dgm:pt modelId="{AEC6800F-C289-4314-9C39-AB9B184C80F6}" type="sibTrans" cxnId="{2D9080CF-820D-4532-AEF9-56A0F0226E0B}">
      <dgm:prSet/>
      <dgm:spPr/>
      <dgm:t>
        <a:bodyPr/>
        <a:lstStyle/>
        <a:p>
          <a:endParaRPr lang="en-US"/>
        </a:p>
      </dgm:t>
    </dgm:pt>
    <dgm:pt modelId="{C58BE4B4-5FA5-4AFF-8A09-F4A7C9DC4186}">
      <dgm:prSet custT="1"/>
      <dgm:spPr/>
      <dgm:t>
        <a:bodyPr/>
        <a:lstStyle/>
        <a:p>
          <a:pPr rtl="0"/>
          <a:r>
            <a:rPr lang="en-US" sz="1200" b="0" i="0" baseline="0" dirty="0" smtClean="0"/>
            <a:t>Test your desktop flow to ensure it works as expected. Use debugging tools to troubleshoot any issues.</a:t>
          </a:r>
          <a:endParaRPr lang="en-IN" sz="1200" dirty="0"/>
        </a:p>
      </dgm:t>
    </dgm:pt>
    <dgm:pt modelId="{1260A403-3E48-4565-9DB4-1193F4202710}" type="parTrans" cxnId="{860091ED-4F3A-480A-9CAA-DD69AD067B02}">
      <dgm:prSet/>
      <dgm:spPr/>
      <dgm:t>
        <a:bodyPr/>
        <a:lstStyle/>
        <a:p>
          <a:endParaRPr lang="en-US"/>
        </a:p>
      </dgm:t>
    </dgm:pt>
    <dgm:pt modelId="{115101E1-36BE-458D-9D53-27E03DCF6A84}" type="sibTrans" cxnId="{860091ED-4F3A-480A-9CAA-DD69AD067B02}">
      <dgm:prSet/>
      <dgm:spPr/>
      <dgm:t>
        <a:bodyPr/>
        <a:lstStyle/>
        <a:p>
          <a:endParaRPr lang="en-US"/>
        </a:p>
      </dgm:t>
    </dgm:pt>
    <dgm:pt modelId="{E4605DDF-0C39-4B8C-ADD9-3C780746D988}">
      <dgm:prSet custT="1"/>
      <dgm:spPr/>
      <dgm:t>
        <a:bodyPr/>
        <a:lstStyle/>
        <a:p>
          <a:pPr rtl="0"/>
          <a:r>
            <a:rPr lang="en-US" sz="2400" b="1" i="0" baseline="0" dirty="0" smtClean="0">
              <a:solidFill>
                <a:schemeClr val="accent6">
                  <a:lumMod val="20000"/>
                  <a:lumOff val="80000"/>
                </a:schemeClr>
              </a:solidFill>
            </a:rPr>
            <a:t>Schedule and Monitor:</a:t>
          </a:r>
          <a:endParaRPr lang="en-IN" sz="2400" dirty="0">
            <a:solidFill>
              <a:schemeClr val="accent6">
                <a:lumMod val="20000"/>
                <a:lumOff val="80000"/>
              </a:schemeClr>
            </a:solidFill>
          </a:endParaRPr>
        </a:p>
      </dgm:t>
    </dgm:pt>
    <dgm:pt modelId="{B9B483A1-6C46-43BF-ADD5-4A3913F58F64}" type="parTrans" cxnId="{16A63630-1B5D-4185-B0DE-ADE08B1FA764}">
      <dgm:prSet/>
      <dgm:spPr/>
      <dgm:t>
        <a:bodyPr/>
        <a:lstStyle/>
        <a:p>
          <a:endParaRPr lang="en-US"/>
        </a:p>
      </dgm:t>
    </dgm:pt>
    <dgm:pt modelId="{BF4F59FD-4367-4C03-8E7B-61E0968293DE}" type="sibTrans" cxnId="{16A63630-1B5D-4185-B0DE-ADE08B1FA764}">
      <dgm:prSet/>
      <dgm:spPr/>
      <dgm:t>
        <a:bodyPr/>
        <a:lstStyle/>
        <a:p>
          <a:endParaRPr lang="en-US"/>
        </a:p>
      </dgm:t>
    </dgm:pt>
    <dgm:pt modelId="{02845A15-0FA6-461C-9200-887A30A6CACE}">
      <dgm:prSet custT="1"/>
      <dgm:spPr/>
      <dgm:t>
        <a:bodyPr/>
        <a:lstStyle/>
        <a:p>
          <a:pPr rtl="0"/>
          <a:r>
            <a:rPr lang="en-US" sz="1200" b="0" i="0" baseline="0" dirty="0" smtClean="0"/>
            <a:t>Schedule your desktop flows to run automatically or trigger them manually as needed. Monitor their execution and review logs to ensure they are performing correctly.</a:t>
          </a:r>
          <a:endParaRPr lang="en-IN" sz="1200" dirty="0"/>
        </a:p>
      </dgm:t>
    </dgm:pt>
    <dgm:pt modelId="{1960A69F-B5B7-4D44-B5A3-A62F12F476E1}" type="parTrans" cxnId="{4ABB1EC2-589A-4C4D-A919-CF39F7FD9259}">
      <dgm:prSet/>
      <dgm:spPr/>
      <dgm:t>
        <a:bodyPr/>
        <a:lstStyle/>
        <a:p>
          <a:endParaRPr lang="en-US"/>
        </a:p>
      </dgm:t>
    </dgm:pt>
    <dgm:pt modelId="{50FD96E0-22B5-428F-BD07-C0704536B5F7}" type="sibTrans" cxnId="{4ABB1EC2-589A-4C4D-A919-CF39F7FD9259}">
      <dgm:prSet/>
      <dgm:spPr/>
      <dgm:t>
        <a:bodyPr/>
        <a:lstStyle/>
        <a:p>
          <a:endParaRPr lang="en-US"/>
        </a:p>
      </dgm:t>
    </dgm:pt>
    <dgm:pt modelId="{AD96C175-4E25-415C-894F-B5B68B3EC44E}">
      <dgm:prSet custT="1"/>
      <dgm:spPr/>
      <dgm:t>
        <a:bodyPr/>
        <a:lstStyle/>
        <a:p>
          <a:pPr rtl="0"/>
          <a:r>
            <a:rPr lang="en-US" sz="2400" b="1" i="0" baseline="0" dirty="0" smtClean="0">
              <a:solidFill>
                <a:schemeClr val="accent6">
                  <a:lumMod val="20000"/>
                  <a:lumOff val="80000"/>
                </a:schemeClr>
              </a:solidFill>
            </a:rPr>
            <a:t>Integrate with Cloud Flows:</a:t>
          </a:r>
          <a:endParaRPr lang="en-IN" sz="2400" dirty="0">
            <a:solidFill>
              <a:schemeClr val="accent6">
                <a:lumMod val="20000"/>
                <a:lumOff val="80000"/>
              </a:schemeClr>
            </a:solidFill>
          </a:endParaRPr>
        </a:p>
      </dgm:t>
    </dgm:pt>
    <dgm:pt modelId="{F291DA53-76F3-4C58-BB46-F9F377B27D6C}" type="parTrans" cxnId="{52930831-DD36-477A-B684-89480A4D7294}">
      <dgm:prSet/>
      <dgm:spPr/>
      <dgm:t>
        <a:bodyPr/>
        <a:lstStyle/>
        <a:p>
          <a:endParaRPr lang="en-US"/>
        </a:p>
      </dgm:t>
    </dgm:pt>
    <dgm:pt modelId="{68CE86CE-8952-487F-90AF-C3E92F64F7D9}" type="sibTrans" cxnId="{52930831-DD36-477A-B684-89480A4D7294}">
      <dgm:prSet/>
      <dgm:spPr/>
      <dgm:t>
        <a:bodyPr/>
        <a:lstStyle/>
        <a:p>
          <a:endParaRPr lang="en-US"/>
        </a:p>
      </dgm:t>
    </dgm:pt>
    <dgm:pt modelId="{1E236310-C90A-466F-941A-FD2AD33B331A}">
      <dgm:prSet custT="1"/>
      <dgm:spPr/>
      <dgm:t>
        <a:bodyPr/>
        <a:lstStyle/>
        <a:p>
          <a:pPr rtl="0"/>
          <a:r>
            <a:rPr lang="en-US" sz="1200" b="0" i="0" baseline="0" dirty="0" smtClean="0"/>
            <a:t>Connect your desktop flows with cloud flows to create end-to-end automation solutions that span both local and cloud environments.</a:t>
          </a:r>
          <a:endParaRPr lang="en-IN" sz="1200" dirty="0"/>
        </a:p>
      </dgm:t>
    </dgm:pt>
    <dgm:pt modelId="{283C9223-BB0D-45FA-86C3-26CAA7B57796}" type="parTrans" cxnId="{85DE2713-AC74-4117-ABEF-32E9EFFB9F07}">
      <dgm:prSet/>
      <dgm:spPr/>
      <dgm:t>
        <a:bodyPr/>
        <a:lstStyle/>
        <a:p>
          <a:endParaRPr lang="en-US"/>
        </a:p>
      </dgm:t>
    </dgm:pt>
    <dgm:pt modelId="{FE8914E0-779E-48DF-8EE2-FBFAD274FC61}" type="sibTrans" cxnId="{85DE2713-AC74-4117-ABEF-32E9EFFB9F07}">
      <dgm:prSet/>
      <dgm:spPr/>
      <dgm:t>
        <a:bodyPr/>
        <a:lstStyle/>
        <a:p>
          <a:endParaRPr lang="en-US"/>
        </a:p>
      </dgm:t>
    </dgm:pt>
    <dgm:pt modelId="{C40FA931-EB53-4368-AAED-3ED2ECF17564}" type="pres">
      <dgm:prSet presAssocID="{89607E6D-882C-4585-8A69-902FA7E18A97}" presName="diagram" presStyleCnt="0">
        <dgm:presLayoutVars>
          <dgm:dir/>
          <dgm:resizeHandles val="exact"/>
        </dgm:presLayoutVars>
      </dgm:prSet>
      <dgm:spPr/>
      <dgm:t>
        <a:bodyPr/>
        <a:lstStyle/>
        <a:p>
          <a:endParaRPr lang="en-US"/>
        </a:p>
      </dgm:t>
    </dgm:pt>
    <dgm:pt modelId="{7AEA1573-57A2-48F0-8631-05FD2203C951}" type="pres">
      <dgm:prSet presAssocID="{EE3205B7-6325-4339-91F7-18FF466FD2D9}" presName="node" presStyleLbl="node1" presStyleIdx="0" presStyleCnt="10">
        <dgm:presLayoutVars>
          <dgm:bulletEnabled val="1"/>
        </dgm:presLayoutVars>
      </dgm:prSet>
      <dgm:spPr/>
      <dgm:t>
        <a:bodyPr/>
        <a:lstStyle/>
        <a:p>
          <a:endParaRPr lang="en-US"/>
        </a:p>
      </dgm:t>
    </dgm:pt>
    <dgm:pt modelId="{4DA8A3E2-F2B9-4B1E-9036-2F5ABDF7BA44}" type="pres">
      <dgm:prSet presAssocID="{BB3CB2B5-26EB-4864-AA1B-DD9309FBE3B3}" presName="sibTrans" presStyleLbl="sibTrans2D1" presStyleIdx="0" presStyleCnt="9"/>
      <dgm:spPr/>
      <dgm:t>
        <a:bodyPr/>
        <a:lstStyle/>
        <a:p>
          <a:endParaRPr lang="en-US"/>
        </a:p>
      </dgm:t>
    </dgm:pt>
    <dgm:pt modelId="{6C13FC07-CD99-4964-AD34-85672570FFEC}" type="pres">
      <dgm:prSet presAssocID="{BB3CB2B5-26EB-4864-AA1B-DD9309FBE3B3}" presName="connectorText" presStyleLbl="sibTrans2D1" presStyleIdx="0" presStyleCnt="9"/>
      <dgm:spPr/>
      <dgm:t>
        <a:bodyPr/>
        <a:lstStyle/>
        <a:p>
          <a:endParaRPr lang="en-US"/>
        </a:p>
      </dgm:t>
    </dgm:pt>
    <dgm:pt modelId="{5B1595A7-28FA-440D-9A38-F6E7BCB431B9}" type="pres">
      <dgm:prSet presAssocID="{0970CBE5-E295-487E-BBEF-42C3760FD94A}" presName="node" presStyleLbl="node1" presStyleIdx="1" presStyleCnt="10">
        <dgm:presLayoutVars>
          <dgm:bulletEnabled val="1"/>
        </dgm:presLayoutVars>
      </dgm:prSet>
      <dgm:spPr/>
      <dgm:t>
        <a:bodyPr/>
        <a:lstStyle/>
        <a:p>
          <a:endParaRPr lang="en-US"/>
        </a:p>
      </dgm:t>
    </dgm:pt>
    <dgm:pt modelId="{E0011624-1E50-4A64-9072-0B648208FC58}" type="pres">
      <dgm:prSet presAssocID="{95CA2716-DD24-4D6A-AEB3-494B14AF2504}" presName="sibTrans" presStyleLbl="sibTrans2D1" presStyleIdx="1" presStyleCnt="9"/>
      <dgm:spPr/>
      <dgm:t>
        <a:bodyPr/>
        <a:lstStyle/>
        <a:p>
          <a:endParaRPr lang="en-US"/>
        </a:p>
      </dgm:t>
    </dgm:pt>
    <dgm:pt modelId="{2A74E316-B3FB-47D4-86AC-3C59B031F226}" type="pres">
      <dgm:prSet presAssocID="{95CA2716-DD24-4D6A-AEB3-494B14AF2504}" presName="connectorText" presStyleLbl="sibTrans2D1" presStyleIdx="1" presStyleCnt="9"/>
      <dgm:spPr/>
      <dgm:t>
        <a:bodyPr/>
        <a:lstStyle/>
        <a:p>
          <a:endParaRPr lang="en-US"/>
        </a:p>
      </dgm:t>
    </dgm:pt>
    <dgm:pt modelId="{E012B13C-A63D-4526-8E01-45B408DD10FF}" type="pres">
      <dgm:prSet presAssocID="{29954985-CDCC-4338-8F6D-F7E85FA65F5F}" presName="node" presStyleLbl="node1" presStyleIdx="2" presStyleCnt="10">
        <dgm:presLayoutVars>
          <dgm:bulletEnabled val="1"/>
        </dgm:presLayoutVars>
      </dgm:prSet>
      <dgm:spPr/>
      <dgm:t>
        <a:bodyPr/>
        <a:lstStyle/>
        <a:p>
          <a:endParaRPr lang="en-US"/>
        </a:p>
      </dgm:t>
    </dgm:pt>
    <dgm:pt modelId="{DB36E99A-CEF8-4522-A142-EBA3405C78C6}" type="pres">
      <dgm:prSet presAssocID="{4F95913B-D240-4931-82E7-451811958D83}" presName="sibTrans" presStyleLbl="sibTrans2D1" presStyleIdx="2" presStyleCnt="9"/>
      <dgm:spPr/>
      <dgm:t>
        <a:bodyPr/>
        <a:lstStyle/>
        <a:p>
          <a:endParaRPr lang="en-US"/>
        </a:p>
      </dgm:t>
    </dgm:pt>
    <dgm:pt modelId="{DE2A3806-D57C-4F95-8978-1BAEB295D2EE}" type="pres">
      <dgm:prSet presAssocID="{4F95913B-D240-4931-82E7-451811958D83}" presName="connectorText" presStyleLbl="sibTrans2D1" presStyleIdx="2" presStyleCnt="9"/>
      <dgm:spPr/>
      <dgm:t>
        <a:bodyPr/>
        <a:lstStyle/>
        <a:p>
          <a:endParaRPr lang="en-US"/>
        </a:p>
      </dgm:t>
    </dgm:pt>
    <dgm:pt modelId="{2FAF4459-22A0-4628-8B01-59C08D6A7148}" type="pres">
      <dgm:prSet presAssocID="{81E4D31B-60CD-4904-BC1E-934F5CC821DF}" presName="node" presStyleLbl="node1" presStyleIdx="3" presStyleCnt="10">
        <dgm:presLayoutVars>
          <dgm:bulletEnabled val="1"/>
        </dgm:presLayoutVars>
      </dgm:prSet>
      <dgm:spPr/>
      <dgm:t>
        <a:bodyPr/>
        <a:lstStyle/>
        <a:p>
          <a:endParaRPr lang="en-US"/>
        </a:p>
      </dgm:t>
    </dgm:pt>
    <dgm:pt modelId="{A9F03E0C-A960-4418-A6EB-E7E16A93E41D}" type="pres">
      <dgm:prSet presAssocID="{268EBA88-390F-422E-AC0C-A48AC6B58165}" presName="sibTrans" presStyleLbl="sibTrans2D1" presStyleIdx="3" presStyleCnt="9"/>
      <dgm:spPr/>
      <dgm:t>
        <a:bodyPr/>
        <a:lstStyle/>
        <a:p>
          <a:endParaRPr lang="en-US"/>
        </a:p>
      </dgm:t>
    </dgm:pt>
    <dgm:pt modelId="{E584D211-4C36-4CFB-916F-1FE99AE5682E}" type="pres">
      <dgm:prSet presAssocID="{268EBA88-390F-422E-AC0C-A48AC6B58165}" presName="connectorText" presStyleLbl="sibTrans2D1" presStyleIdx="3" presStyleCnt="9"/>
      <dgm:spPr/>
      <dgm:t>
        <a:bodyPr/>
        <a:lstStyle/>
        <a:p>
          <a:endParaRPr lang="en-US"/>
        </a:p>
      </dgm:t>
    </dgm:pt>
    <dgm:pt modelId="{072C6A75-E8E1-4DF4-BDBF-EE92FE773045}" type="pres">
      <dgm:prSet presAssocID="{03DC7582-5DD5-4516-A199-C1D9246C9BB2}" presName="node" presStyleLbl="node1" presStyleIdx="4" presStyleCnt="10">
        <dgm:presLayoutVars>
          <dgm:bulletEnabled val="1"/>
        </dgm:presLayoutVars>
      </dgm:prSet>
      <dgm:spPr/>
      <dgm:t>
        <a:bodyPr/>
        <a:lstStyle/>
        <a:p>
          <a:endParaRPr lang="en-US"/>
        </a:p>
      </dgm:t>
    </dgm:pt>
    <dgm:pt modelId="{867B9B5B-4960-4742-9F24-52F60FD67DEC}" type="pres">
      <dgm:prSet presAssocID="{AEC6800F-C289-4314-9C39-AB9B184C80F6}" presName="sibTrans" presStyleLbl="sibTrans2D1" presStyleIdx="4" presStyleCnt="9"/>
      <dgm:spPr/>
      <dgm:t>
        <a:bodyPr/>
        <a:lstStyle/>
        <a:p>
          <a:endParaRPr lang="en-US"/>
        </a:p>
      </dgm:t>
    </dgm:pt>
    <dgm:pt modelId="{90519BCA-96D3-416D-A5FA-91256B318999}" type="pres">
      <dgm:prSet presAssocID="{AEC6800F-C289-4314-9C39-AB9B184C80F6}" presName="connectorText" presStyleLbl="sibTrans2D1" presStyleIdx="4" presStyleCnt="9"/>
      <dgm:spPr/>
      <dgm:t>
        <a:bodyPr/>
        <a:lstStyle/>
        <a:p>
          <a:endParaRPr lang="en-US"/>
        </a:p>
      </dgm:t>
    </dgm:pt>
    <dgm:pt modelId="{CD5F9D3F-A0FA-45A6-B309-A54E409C45ED}" type="pres">
      <dgm:prSet presAssocID="{C58BE4B4-5FA5-4AFF-8A09-F4A7C9DC4186}" presName="node" presStyleLbl="node1" presStyleIdx="5" presStyleCnt="10">
        <dgm:presLayoutVars>
          <dgm:bulletEnabled val="1"/>
        </dgm:presLayoutVars>
      </dgm:prSet>
      <dgm:spPr/>
      <dgm:t>
        <a:bodyPr/>
        <a:lstStyle/>
        <a:p>
          <a:endParaRPr lang="en-US"/>
        </a:p>
      </dgm:t>
    </dgm:pt>
    <dgm:pt modelId="{E40A15AE-C836-497D-A372-CE23CD0A26BC}" type="pres">
      <dgm:prSet presAssocID="{115101E1-36BE-458D-9D53-27E03DCF6A84}" presName="sibTrans" presStyleLbl="sibTrans2D1" presStyleIdx="5" presStyleCnt="9"/>
      <dgm:spPr/>
      <dgm:t>
        <a:bodyPr/>
        <a:lstStyle/>
        <a:p>
          <a:endParaRPr lang="en-US"/>
        </a:p>
      </dgm:t>
    </dgm:pt>
    <dgm:pt modelId="{3556029B-FEC7-4B64-8999-BC1F8B7E0722}" type="pres">
      <dgm:prSet presAssocID="{115101E1-36BE-458D-9D53-27E03DCF6A84}" presName="connectorText" presStyleLbl="sibTrans2D1" presStyleIdx="5" presStyleCnt="9"/>
      <dgm:spPr/>
      <dgm:t>
        <a:bodyPr/>
        <a:lstStyle/>
        <a:p>
          <a:endParaRPr lang="en-US"/>
        </a:p>
      </dgm:t>
    </dgm:pt>
    <dgm:pt modelId="{38068918-6941-4378-9B2A-3F41E8F89ED6}" type="pres">
      <dgm:prSet presAssocID="{E4605DDF-0C39-4B8C-ADD9-3C780746D988}" presName="node" presStyleLbl="node1" presStyleIdx="6" presStyleCnt="10">
        <dgm:presLayoutVars>
          <dgm:bulletEnabled val="1"/>
        </dgm:presLayoutVars>
      </dgm:prSet>
      <dgm:spPr/>
      <dgm:t>
        <a:bodyPr/>
        <a:lstStyle/>
        <a:p>
          <a:endParaRPr lang="en-US"/>
        </a:p>
      </dgm:t>
    </dgm:pt>
    <dgm:pt modelId="{BEB1982A-6556-4850-992E-90252B8963DD}" type="pres">
      <dgm:prSet presAssocID="{BF4F59FD-4367-4C03-8E7B-61E0968293DE}" presName="sibTrans" presStyleLbl="sibTrans2D1" presStyleIdx="6" presStyleCnt="9"/>
      <dgm:spPr/>
      <dgm:t>
        <a:bodyPr/>
        <a:lstStyle/>
        <a:p>
          <a:endParaRPr lang="en-US"/>
        </a:p>
      </dgm:t>
    </dgm:pt>
    <dgm:pt modelId="{504D62D8-4AD8-4ECB-BDEB-4118ED04F0C9}" type="pres">
      <dgm:prSet presAssocID="{BF4F59FD-4367-4C03-8E7B-61E0968293DE}" presName="connectorText" presStyleLbl="sibTrans2D1" presStyleIdx="6" presStyleCnt="9"/>
      <dgm:spPr/>
      <dgm:t>
        <a:bodyPr/>
        <a:lstStyle/>
        <a:p>
          <a:endParaRPr lang="en-US"/>
        </a:p>
      </dgm:t>
    </dgm:pt>
    <dgm:pt modelId="{EEBA39CF-E73B-4819-90F7-362DBB676831}" type="pres">
      <dgm:prSet presAssocID="{02845A15-0FA6-461C-9200-887A30A6CACE}" presName="node" presStyleLbl="node1" presStyleIdx="7" presStyleCnt="10">
        <dgm:presLayoutVars>
          <dgm:bulletEnabled val="1"/>
        </dgm:presLayoutVars>
      </dgm:prSet>
      <dgm:spPr/>
      <dgm:t>
        <a:bodyPr/>
        <a:lstStyle/>
        <a:p>
          <a:endParaRPr lang="en-US"/>
        </a:p>
      </dgm:t>
    </dgm:pt>
    <dgm:pt modelId="{3EBD6339-9DC7-433A-85B3-8E03C44F0F69}" type="pres">
      <dgm:prSet presAssocID="{50FD96E0-22B5-428F-BD07-C0704536B5F7}" presName="sibTrans" presStyleLbl="sibTrans2D1" presStyleIdx="7" presStyleCnt="9"/>
      <dgm:spPr/>
      <dgm:t>
        <a:bodyPr/>
        <a:lstStyle/>
        <a:p>
          <a:endParaRPr lang="en-US"/>
        </a:p>
      </dgm:t>
    </dgm:pt>
    <dgm:pt modelId="{882D4D17-2890-4BCA-A2EC-7573714386DC}" type="pres">
      <dgm:prSet presAssocID="{50FD96E0-22B5-428F-BD07-C0704536B5F7}" presName="connectorText" presStyleLbl="sibTrans2D1" presStyleIdx="7" presStyleCnt="9"/>
      <dgm:spPr/>
      <dgm:t>
        <a:bodyPr/>
        <a:lstStyle/>
        <a:p>
          <a:endParaRPr lang="en-US"/>
        </a:p>
      </dgm:t>
    </dgm:pt>
    <dgm:pt modelId="{83F5CCD0-DEDF-4B12-98B1-94A7259E03E8}" type="pres">
      <dgm:prSet presAssocID="{AD96C175-4E25-415C-894F-B5B68B3EC44E}" presName="node" presStyleLbl="node1" presStyleIdx="8" presStyleCnt="10">
        <dgm:presLayoutVars>
          <dgm:bulletEnabled val="1"/>
        </dgm:presLayoutVars>
      </dgm:prSet>
      <dgm:spPr/>
      <dgm:t>
        <a:bodyPr/>
        <a:lstStyle/>
        <a:p>
          <a:endParaRPr lang="en-US"/>
        </a:p>
      </dgm:t>
    </dgm:pt>
    <dgm:pt modelId="{FB872E80-4249-4E29-A3B7-8D5AA40D97A3}" type="pres">
      <dgm:prSet presAssocID="{68CE86CE-8952-487F-90AF-C3E92F64F7D9}" presName="sibTrans" presStyleLbl="sibTrans2D1" presStyleIdx="8" presStyleCnt="9"/>
      <dgm:spPr/>
      <dgm:t>
        <a:bodyPr/>
        <a:lstStyle/>
        <a:p>
          <a:endParaRPr lang="en-US"/>
        </a:p>
      </dgm:t>
    </dgm:pt>
    <dgm:pt modelId="{49CFC60C-C016-42CE-9B13-7AE65E9179B7}" type="pres">
      <dgm:prSet presAssocID="{68CE86CE-8952-487F-90AF-C3E92F64F7D9}" presName="connectorText" presStyleLbl="sibTrans2D1" presStyleIdx="8" presStyleCnt="9"/>
      <dgm:spPr/>
      <dgm:t>
        <a:bodyPr/>
        <a:lstStyle/>
        <a:p>
          <a:endParaRPr lang="en-US"/>
        </a:p>
      </dgm:t>
    </dgm:pt>
    <dgm:pt modelId="{41E03A73-279F-4CC5-8A12-5F7FC5235017}" type="pres">
      <dgm:prSet presAssocID="{1E236310-C90A-466F-941A-FD2AD33B331A}" presName="node" presStyleLbl="node1" presStyleIdx="9" presStyleCnt="10">
        <dgm:presLayoutVars>
          <dgm:bulletEnabled val="1"/>
        </dgm:presLayoutVars>
      </dgm:prSet>
      <dgm:spPr/>
      <dgm:t>
        <a:bodyPr/>
        <a:lstStyle/>
        <a:p>
          <a:endParaRPr lang="en-US"/>
        </a:p>
      </dgm:t>
    </dgm:pt>
  </dgm:ptLst>
  <dgm:cxnLst>
    <dgm:cxn modelId="{815D2D75-7895-45EA-86EA-F66633635E3C}" srcId="{89607E6D-882C-4585-8A69-902FA7E18A97}" destId="{0970CBE5-E295-487E-BBEF-42C3760FD94A}" srcOrd="1" destOrd="0" parTransId="{90DF107F-40B5-45DC-A69A-5FE02FF17354}" sibTransId="{95CA2716-DD24-4D6A-AEB3-494B14AF2504}"/>
    <dgm:cxn modelId="{9E884199-54A5-43A7-9E75-44E4C5B57B28}" type="presOf" srcId="{68CE86CE-8952-487F-90AF-C3E92F64F7D9}" destId="{49CFC60C-C016-42CE-9B13-7AE65E9179B7}" srcOrd="1" destOrd="0" presId="urn:microsoft.com/office/officeart/2005/8/layout/process5"/>
    <dgm:cxn modelId="{4F91C9E8-BDAD-4996-9F91-5D0BE6961B9C}" type="presOf" srcId="{BF4F59FD-4367-4C03-8E7B-61E0968293DE}" destId="{504D62D8-4AD8-4ECB-BDEB-4118ED04F0C9}" srcOrd="1" destOrd="0" presId="urn:microsoft.com/office/officeart/2005/8/layout/process5"/>
    <dgm:cxn modelId="{B5460CC7-68E5-4614-9D28-0667B48EACDB}" type="presOf" srcId="{115101E1-36BE-458D-9D53-27E03DCF6A84}" destId="{3556029B-FEC7-4B64-8999-BC1F8B7E0722}" srcOrd="1" destOrd="0" presId="urn:microsoft.com/office/officeart/2005/8/layout/process5"/>
    <dgm:cxn modelId="{AA6BF3BE-1261-4A72-A159-3997184578CE}" type="presOf" srcId="{29954985-CDCC-4338-8F6D-F7E85FA65F5F}" destId="{E012B13C-A63D-4526-8E01-45B408DD10FF}" srcOrd="0" destOrd="0" presId="urn:microsoft.com/office/officeart/2005/8/layout/process5"/>
    <dgm:cxn modelId="{85DE2713-AC74-4117-ABEF-32E9EFFB9F07}" srcId="{89607E6D-882C-4585-8A69-902FA7E18A97}" destId="{1E236310-C90A-466F-941A-FD2AD33B331A}" srcOrd="9" destOrd="0" parTransId="{283C9223-BB0D-45FA-86C3-26CAA7B57796}" sibTransId="{FE8914E0-779E-48DF-8EE2-FBFAD274FC61}"/>
    <dgm:cxn modelId="{E04C11FE-370B-4318-80DD-D3A23C72EBAE}" type="presOf" srcId="{AEC6800F-C289-4314-9C39-AB9B184C80F6}" destId="{867B9B5B-4960-4742-9F24-52F60FD67DEC}" srcOrd="0" destOrd="0" presId="urn:microsoft.com/office/officeart/2005/8/layout/process5"/>
    <dgm:cxn modelId="{8CD872C4-2640-44D9-AB3A-C882DF375A4D}" type="presOf" srcId="{EE3205B7-6325-4339-91F7-18FF466FD2D9}" destId="{7AEA1573-57A2-48F0-8631-05FD2203C951}" srcOrd="0" destOrd="0" presId="urn:microsoft.com/office/officeart/2005/8/layout/process5"/>
    <dgm:cxn modelId="{C1EBD1A8-9104-4970-9161-A8F6DBEF8CB8}" type="presOf" srcId="{C58BE4B4-5FA5-4AFF-8A09-F4A7C9DC4186}" destId="{CD5F9D3F-A0FA-45A6-B309-A54E409C45ED}" srcOrd="0" destOrd="0" presId="urn:microsoft.com/office/officeart/2005/8/layout/process5"/>
    <dgm:cxn modelId="{FEF69DA7-760F-4B46-9BCB-0762B616975E}" type="presOf" srcId="{95CA2716-DD24-4D6A-AEB3-494B14AF2504}" destId="{2A74E316-B3FB-47D4-86AC-3C59B031F226}" srcOrd="1" destOrd="0" presId="urn:microsoft.com/office/officeart/2005/8/layout/process5"/>
    <dgm:cxn modelId="{6CDA94BC-336F-4C4A-9040-A92FF18F7712}" type="presOf" srcId="{AEC6800F-C289-4314-9C39-AB9B184C80F6}" destId="{90519BCA-96D3-416D-A5FA-91256B318999}" srcOrd="1" destOrd="0" presId="urn:microsoft.com/office/officeart/2005/8/layout/process5"/>
    <dgm:cxn modelId="{860091ED-4F3A-480A-9CAA-DD69AD067B02}" srcId="{89607E6D-882C-4585-8A69-902FA7E18A97}" destId="{C58BE4B4-5FA5-4AFF-8A09-F4A7C9DC4186}" srcOrd="5" destOrd="0" parTransId="{1260A403-3E48-4565-9DB4-1193F4202710}" sibTransId="{115101E1-36BE-458D-9D53-27E03DCF6A84}"/>
    <dgm:cxn modelId="{A1977264-BFE6-4808-AC41-F95D9A293BFB}" type="presOf" srcId="{81E4D31B-60CD-4904-BC1E-934F5CC821DF}" destId="{2FAF4459-22A0-4628-8B01-59C08D6A7148}" srcOrd="0" destOrd="0" presId="urn:microsoft.com/office/officeart/2005/8/layout/process5"/>
    <dgm:cxn modelId="{B73674F0-CD38-449E-BE7C-496810F4B841}" type="presOf" srcId="{115101E1-36BE-458D-9D53-27E03DCF6A84}" destId="{E40A15AE-C836-497D-A372-CE23CD0A26BC}" srcOrd="0" destOrd="0" presId="urn:microsoft.com/office/officeart/2005/8/layout/process5"/>
    <dgm:cxn modelId="{14A44E4F-292E-4AE3-B334-0A9DF875697E}" srcId="{89607E6D-882C-4585-8A69-902FA7E18A97}" destId="{81E4D31B-60CD-4904-BC1E-934F5CC821DF}" srcOrd="3" destOrd="0" parTransId="{A81AAA98-F409-4027-AB9F-F4F876907C00}" sibTransId="{268EBA88-390F-422E-AC0C-A48AC6B58165}"/>
    <dgm:cxn modelId="{C7B3C9AB-DBAE-4CFA-9F4A-BADCC103D451}" type="presOf" srcId="{89607E6D-882C-4585-8A69-902FA7E18A97}" destId="{C40FA931-EB53-4368-AAED-3ED2ECF17564}" srcOrd="0" destOrd="0" presId="urn:microsoft.com/office/officeart/2005/8/layout/process5"/>
    <dgm:cxn modelId="{355F50D1-05A8-4864-AFD3-6B263CBD72C8}" type="presOf" srcId="{4F95913B-D240-4931-82E7-451811958D83}" destId="{DE2A3806-D57C-4F95-8978-1BAEB295D2EE}" srcOrd="1" destOrd="0" presId="urn:microsoft.com/office/officeart/2005/8/layout/process5"/>
    <dgm:cxn modelId="{16A63630-1B5D-4185-B0DE-ADE08B1FA764}" srcId="{89607E6D-882C-4585-8A69-902FA7E18A97}" destId="{E4605DDF-0C39-4B8C-ADD9-3C780746D988}" srcOrd="6" destOrd="0" parTransId="{B9B483A1-6C46-43BF-ADD5-4A3913F58F64}" sibTransId="{BF4F59FD-4367-4C03-8E7B-61E0968293DE}"/>
    <dgm:cxn modelId="{46A75F82-13D4-4D7B-990E-B33F23FCA7FD}" type="presOf" srcId="{4F95913B-D240-4931-82E7-451811958D83}" destId="{DB36E99A-CEF8-4522-A142-EBA3405C78C6}" srcOrd="0" destOrd="0" presId="urn:microsoft.com/office/officeart/2005/8/layout/process5"/>
    <dgm:cxn modelId="{B15075C7-7B9B-4708-8D5E-4AC736C8730A}" type="presOf" srcId="{AD96C175-4E25-415C-894F-B5B68B3EC44E}" destId="{83F5CCD0-DEDF-4B12-98B1-94A7259E03E8}" srcOrd="0" destOrd="0" presId="urn:microsoft.com/office/officeart/2005/8/layout/process5"/>
    <dgm:cxn modelId="{7C2D00B1-3004-48D1-850E-AA6ACEEC623D}" type="presOf" srcId="{95CA2716-DD24-4D6A-AEB3-494B14AF2504}" destId="{E0011624-1E50-4A64-9072-0B648208FC58}" srcOrd="0" destOrd="0" presId="urn:microsoft.com/office/officeart/2005/8/layout/process5"/>
    <dgm:cxn modelId="{2DE9DA16-886D-47CF-B0C6-9B717BF6129C}" type="presOf" srcId="{0970CBE5-E295-487E-BBEF-42C3760FD94A}" destId="{5B1595A7-28FA-440D-9A38-F6E7BCB431B9}" srcOrd="0" destOrd="0" presId="urn:microsoft.com/office/officeart/2005/8/layout/process5"/>
    <dgm:cxn modelId="{4D58FF6B-6FAE-4B95-B34E-E03AB53FE114}" type="presOf" srcId="{BF4F59FD-4367-4C03-8E7B-61E0968293DE}" destId="{BEB1982A-6556-4850-992E-90252B8963DD}" srcOrd="0" destOrd="0" presId="urn:microsoft.com/office/officeart/2005/8/layout/process5"/>
    <dgm:cxn modelId="{EFF4D431-7FD8-4E9A-B0AD-56989174CFDD}" srcId="{89607E6D-882C-4585-8A69-902FA7E18A97}" destId="{EE3205B7-6325-4339-91F7-18FF466FD2D9}" srcOrd="0" destOrd="0" parTransId="{2F3261E4-0AE6-4AFD-A7D5-97EC2B361F14}" sibTransId="{BB3CB2B5-26EB-4864-AA1B-DD9309FBE3B3}"/>
    <dgm:cxn modelId="{52699743-D6A9-42A7-B072-ACA267000661}" type="presOf" srcId="{50FD96E0-22B5-428F-BD07-C0704536B5F7}" destId="{3EBD6339-9DC7-433A-85B3-8E03C44F0F69}" srcOrd="0" destOrd="0" presId="urn:microsoft.com/office/officeart/2005/8/layout/process5"/>
    <dgm:cxn modelId="{2D9080CF-820D-4532-AEF9-56A0F0226E0B}" srcId="{89607E6D-882C-4585-8A69-902FA7E18A97}" destId="{03DC7582-5DD5-4516-A199-C1D9246C9BB2}" srcOrd="4" destOrd="0" parTransId="{3B535178-14A2-4BDD-8E8E-5C5A85288AD1}" sibTransId="{AEC6800F-C289-4314-9C39-AB9B184C80F6}"/>
    <dgm:cxn modelId="{295D677F-7547-4BEB-B79A-687B53984571}" type="presOf" srcId="{268EBA88-390F-422E-AC0C-A48AC6B58165}" destId="{A9F03E0C-A960-4418-A6EB-E7E16A93E41D}" srcOrd="0" destOrd="0" presId="urn:microsoft.com/office/officeart/2005/8/layout/process5"/>
    <dgm:cxn modelId="{40A76F45-55DB-4A92-A2D9-84428AE2087E}" type="presOf" srcId="{BB3CB2B5-26EB-4864-AA1B-DD9309FBE3B3}" destId="{4DA8A3E2-F2B9-4B1E-9036-2F5ABDF7BA44}" srcOrd="0" destOrd="0" presId="urn:microsoft.com/office/officeart/2005/8/layout/process5"/>
    <dgm:cxn modelId="{FE6404DF-19AE-444B-A047-1E87DB7E2589}" type="presOf" srcId="{268EBA88-390F-422E-AC0C-A48AC6B58165}" destId="{E584D211-4C36-4CFB-916F-1FE99AE5682E}" srcOrd="1" destOrd="0" presId="urn:microsoft.com/office/officeart/2005/8/layout/process5"/>
    <dgm:cxn modelId="{27BFEC85-61D8-411B-8888-9C8FF9091BA0}" srcId="{89607E6D-882C-4585-8A69-902FA7E18A97}" destId="{29954985-CDCC-4338-8F6D-F7E85FA65F5F}" srcOrd="2" destOrd="0" parTransId="{6C0AF2D3-A0E5-4984-867D-FFF5E79B6FF1}" sibTransId="{4F95913B-D240-4931-82E7-451811958D83}"/>
    <dgm:cxn modelId="{52930831-DD36-477A-B684-89480A4D7294}" srcId="{89607E6D-882C-4585-8A69-902FA7E18A97}" destId="{AD96C175-4E25-415C-894F-B5B68B3EC44E}" srcOrd="8" destOrd="0" parTransId="{F291DA53-76F3-4C58-BB46-F9F377B27D6C}" sibTransId="{68CE86CE-8952-487F-90AF-C3E92F64F7D9}"/>
    <dgm:cxn modelId="{D19D180D-2AFA-428A-9E21-DAB431304CEC}" type="presOf" srcId="{50FD96E0-22B5-428F-BD07-C0704536B5F7}" destId="{882D4D17-2890-4BCA-A2EC-7573714386DC}" srcOrd="1" destOrd="0" presId="urn:microsoft.com/office/officeart/2005/8/layout/process5"/>
    <dgm:cxn modelId="{4CF4A010-B270-467F-9DD3-8E2C6605F068}" type="presOf" srcId="{1E236310-C90A-466F-941A-FD2AD33B331A}" destId="{41E03A73-279F-4CC5-8A12-5F7FC5235017}" srcOrd="0" destOrd="0" presId="urn:microsoft.com/office/officeart/2005/8/layout/process5"/>
    <dgm:cxn modelId="{912D65B4-3CEF-4D5B-960C-2524875CF77A}" type="presOf" srcId="{02845A15-0FA6-461C-9200-887A30A6CACE}" destId="{EEBA39CF-E73B-4819-90F7-362DBB676831}" srcOrd="0" destOrd="0" presId="urn:microsoft.com/office/officeart/2005/8/layout/process5"/>
    <dgm:cxn modelId="{4ABB1EC2-589A-4C4D-A919-CF39F7FD9259}" srcId="{89607E6D-882C-4585-8A69-902FA7E18A97}" destId="{02845A15-0FA6-461C-9200-887A30A6CACE}" srcOrd="7" destOrd="0" parTransId="{1960A69F-B5B7-4D44-B5A3-A62F12F476E1}" sibTransId="{50FD96E0-22B5-428F-BD07-C0704536B5F7}"/>
    <dgm:cxn modelId="{085D186B-2C04-4E8A-B170-4063133EF39E}" type="presOf" srcId="{E4605DDF-0C39-4B8C-ADD9-3C780746D988}" destId="{38068918-6941-4378-9B2A-3F41E8F89ED6}" srcOrd="0" destOrd="0" presId="urn:microsoft.com/office/officeart/2005/8/layout/process5"/>
    <dgm:cxn modelId="{1A0C0D1F-2989-4482-9381-B714C7C41AD2}" type="presOf" srcId="{03DC7582-5DD5-4516-A199-C1D9246C9BB2}" destId="{072C6A75-E8E1-4DF4-BDBF-EE92FE773045}" srcOrd="0" destOrd="0" presId="urn:microsoft.com/office/officeart/2005/8/layout/process5"/>
    <dgm:cxn modelId="{5145FA65-1DD2-46B7-A1BE-6B83A4A138A9}" type="presOf" srcId="{BB3CB2B5-26EB-4864-AA1B-DD9309FBE3B3}" destId="{6C13FC07-CD99-4964-AD34-85672570FFEC}" srcOrd="1" destOrd="0" presId="urn:microsoft.com/office/officeart/2005/8/layout/process5"/>
    <dgm:cxn modelId="{AE83EEFC-9335-42A5-861B-194A97D3A912}" type="presOf" srcId="{68CE86CE-8952-487F-90AF-C3E92F64F7D9}" destId="{FB872E80-4249-4E29-A3B7-8D5AA40D97A3}" srcOrd="0" destOrd="0" presId="urn:microsoft.com/office/officeart/2005/8/layout/process5"/>
    <dgm:cxn modelId="{90AD9BEB-4539-4CEA-B633-5AD44BD79C82}" type="presParOf" srcId="{C40FA931-EB53-4368-AAED-3ED2ECF17564}" destId="{7AEA1573-57A2-48F0-8631-05FD2203C951}" srcOrd="0" destOrd="0" presId="urn:microsoft.com/office/officeart/2005/8/layout/process5"/>
    <dgm:cxn modelId="{091C3C02-2279-415D-88F5-3E5565D35989}" type="presParOf" srcId="{C40FA931-EB53-4368-AAED-3ED2ECF17564}" destId="{4DA8A3E2-F2B9-4B1E-9036-2F5ABDF7BA44}" srcOrd="1" destOrd="0" presId="urn:microsoft.com/office/officeart/2005/8/layout/process5"/>
    <dgm:cxn modelId="{639AD624-2708-455D-A129-6434A7EC769D}" type="presParOf" srcId="{4DA8A3E2-F2B9-4B1E-9036-2F5ABDF7BA44}" destId="{6C13FC07-CD99-4964-AD34-85672570FFEC}" srcOrd="0" destOrd="0" presId="urn:microsoft.com/office/officeart/2005/8/layout/process5"/>
    <dgm:cxn modelId="{79198F1E-32C1-455D-B1C9-FE29AE99A53C}" type="presParOf" srcId="{C40FA931-EB53-4368-AAED-3ED2ECF17564}" destId="{5B1595A7-28FA-440D-9A38-F6E7BCB431B9}" srcOrd="2" destOrd="0" presId="urn:microsoft.com/office/officeart/2005/8/layout/process5"/>
    <dgm:cxn modelId="{61E04CB4-557C-4FB9-9E10-B3BD6E72B83E}" type="presParOf" srcId="{C40FA931-EB53-4368-AAED-3ED2ECF17564}" destId="{E0011624-1E50-4A64-9072-0B648208FC58}" srcOrd="3" destOrd="0" presId="urn:microsoft.com/office/officeart/2005/8/layout/process5"/>
    <dgm:cxn modelId="{418DBEF7-154B-4368-8AD8-78E414A061FE}" type="presParOf" srcId="{E0011624-1E50-4A64-9072-0B648208FC58}" destId="{2A74E316-B3FB-47D4-86AC-3C59B031F226}" srcOrd="0" destOrd="0" presId="urn:microsoft.com/office/officeart/2005/8/layout/process5"/>
    <dgm:cxn modelId="{C87D8DEA-37B5-40FC-9EBC-1FFA37D88FD9}" type="presParOf" srcId="{C40FA931-EB53-4368-AAED-3ED2ECF17564}" destId="{E012B13C-A63D-4526-8E01-45B408DD10FF}" srcOrd="4" destOrd="0" presId="urn:microsoft.com/office/officeart/2005/8/layout/process5"/>
    <dgm:cxn modelId="{BDAD0B9F-1750-4AF6-9919-AF434251988F}" type="presParOf" srcId="{C40FA931-EB53-4368-AAED-3ED2ECF17564}" destId="{DB36E99A-CEF8-4522-A142-EBA3405C78C6}" srcOrd="5" destOrd="0" presId="urn:microsoft.com/office/officeart/2005/8/layout/process5"/>
    <dgm:cxn modelId="{5A9D7FBA-3276-4591-A2B9-098F8A999043}" type="presParOf" srcId="{DB36E99A-CEF8-4522-A142-EBA3405C78C6}" destId="{DE2A3806-D57C-4F95-8978-1BAEB295D2EE}" srcOrd="0" destOrd="0" presId="urn:microsoft.com/office/officeart/2005/8/layout/process5"/>
    <dgm:cxn modelId="{57585605-3A8B-4275-842A-6C3463E1A97A}" type="presParOf" srcId="{C40FA931-EB53-4368-AAED-3ED2ECF17564}" destId="{2FAF4459-22A0-4628-8B01-59C08D6A7148}" srcOrd="6" destOrd="0" presId="urn:microsoft.com/office/officeart/2005/8/layout/process5"/>
    <dgm:cxn modelId="{2E610FCE-A7DA-4AC1-86E6-963B05B81BA5}" type="presParOf" srcId="{C40FA931-EB53-4368-AAED-3ED2ECF17564}" destId="{A9F03E0C-A960-4418-A6EB-E7E16A93E41D}" srcOrd="7" destOrd="0" presId="urn:microsoft.com/office/officeart/2005/8/layout/process5"/>
    <dgm:cxn modelId="{3CFAB4C6-5A95-4EDF-AB98-4037CA807997}" type="presParOf" srcId="{A9F03E0C-A960-4418-A6EB-E7E16A93E41D}" destId="{E584D211-4C36-4CFB-916F-1FE99AE5682E}" srcOrd="0" destOrd="0" presId="urn:microsoft.com/office/officeart/2005/8/layout/process5"/>
    <dgm:cxn modelId="{5CE48AD8-1FA4-4C0C-8AE6-41DA4D3ED0BF}" type="presParOf" srcId="{C40FA931-EB53-4368-AAED-3ED2ECF17564}" destId="{072C6A75-E8E1-4DF4-BDBF-EE92FE773045}" srcOrd="8" destOrd="0" presId="urn:microsoft.com/office/officeart/2005/8/layout/process5"/>
    <dgm:cxn modelId="{A15AEFC1-5136-495A-A946-5CB95C471EC6}" type="presParOf" srcId="{C40FA931-EB53-4368-AAED-3ED2ECF17564}" destId="{867B9B5B-4960-4742-9F24-52F60FD67DEC}" srcOrd="9" destOrd="0" presId="urn:microsoft.com/office/officeart/2005/8/layout/process5"/>
    <dgm:cxn modelId="{F74FF159-0900-4286-B210-DB16D1CB2869}" type="presParOf" srcId="{867B9B5B-4960-4742-9F24-52F60FD67DEC}" destId="{90519BCA-96D3-416D-A5FA-91256B318999}" srcOrd="0" destOrd="0" presId="urn:microsoft.com/office/officeart/2005/8/layout/process5"/>
    <dgm:cxn modelId="{35B8CCD0-3955-490A-AD40-CF57E04CD709}" type="presParOf" srcId="{C40FA931-EB53-4368-AAED-3ED2ECF17564}" destId="{CD5F9D3F-A0FA-45A6-B309-A54E409C45ED}" srcOrd="10" destOrd="0" presId="urn:microsoft.com/office/officeart/2005/8/layout/process5"/>
    <dgm:cxn modelId="{8FD46F5C-FFA0-4DAC-80E1-B873E44C3DE4}" type="presParOf" srcId="{C40FA931-EB53-4368-AAED-3ED2ECF17564}" destId="{E40A15AE-C836-497D-A372-CE23CD0A26BC}" srcOrd="11" destOrd="0" presId="urn:microsoft.com/office/officeart/2005/8/layout/process5"/>
    <dgm:cxn modelId="{743FBCFD-BB09-422D-9737-6688305E64A7}" type="presParOf" srcId="{E40A15AE-C836-497D-A372-CE23CD0A26BC}" destId="{3556029B-FEC7-4B64-8999-BC1F8B7E0722}" srcOrd="0" destOrd="0" presId="urn:microsoft.com/office/officeart/2005/8/layout/process5"/>
    <dgm:cxn modelId="{5B5C2075-646B-4F23-8475-9CDC6077D51D}" type="presParOf" srcId="{C40FA931-EB53-4368-AAED-3ED2ECF17564}" destId="{38068918-6941-4378-9B2A-3F41E8F89ED6}" srcOrd="12" destOrd="0" presId="urn:microsoft.com/office/officeart/2005/8/layout/process5"/>
    <dgm:cxn modelId="{47D85A3D-0973-4A55-A82B-2563B81AFE59}" type="presParOf" srcId="{C40FA931-EB53-4368-AAED-3ED2ECF17564}" destId="{BEB1982A-6556-4850-992E-90252B8963DD}" srcOrd="13" destOrd="0" presId="urn:microsoft.com/office/officeart/2005/8/layout/process5"/>
    <dgm:cxn modelId="{9D7DBCAC-A7FA-4295-8C96-7A870BE9CBA9}" type="presParOf" srcId="{BEB1982A-6556-4850-992E-90252B8963DD}" destId="{504D62D8-4AD8-4ECB-BDEB-4118ED04F0C9}" srcOrd="0" destOrd="0" presId="urn:microsoft.com/office/officeart/2005/8/layout/process5"/>
    <dgm:cxn modelId="{648DDA44-59C9-457C-9B96-44075127DC31}" type="presParOf" srcId="{C40FA931-EB53-4368-AAED-3ED2ECF17564}" destId="{EEBA39CF-E73B-4819-90F7-362DBB676831}" srcOrd="14" destOrd="0" presId="urn:microsoft.com/office/officeart/2005/8/layout/process5"/>
    <dgm:cxn modelId="{7C27AD67-C570-4B3B-98EC-E33C121F9E2D}" type="presParOf" srcId="{C40FA931-EB53-4368-AAED-3ED2ECF17564}" destId="{3EBD6339-9DC7-433A-85B3-8E03C44F0F69}" srcOrd="15" destOrd="0" presId="urn:microsoft.com/office/officeart/2005/8/layout/process5"/>
    <dgm:cxn modelId="{F133B67B-AE28-447B-8DD9-3586301456D3}" type="presParOf" srcId="{3EBD6339-9DC7-433A-85B3-8E03C44F0F69}" destId="{882D4D17-2890-4BCA-A2EC-7573714386DC}" srcOrd="0" destOrd="0" presId="urn:microsoft.com/office/officeart/2005/8/layout/process5"/>
    <dgm:cxn modelId="{47CD0D6F-CD1A-49A6-94A2-6E89F0399748}" type="presParOf" srcId="{C40FA931-EB53-4368-AAED-3ED2ECF17564}" destId="{83F5CCD0-DEDF-4B12-98B1-94A7259E03E8}" srcOrd="16" destOrd="0" presId="urn:microsoft.com/office/officeart/2005/8/layout/process5"/>
    <dgm:cxn modelId="{77F4B691-E689-4FE2-BB37-D93BF127B1BB}" type="presParOf" srcId="{C40FA931-EB53-4368-AAED-3ED2ECF17564}" destId="{FB872E80-4249-4E29-A3B7-8D5AA40D97A3}" srcOrd="17" destOrd="0" presId="urn:microsoft.com/office/officeart/2005/8/layout/process5"/>
    <dgm:cxn modelId="{D97F84A2-920B-49F4-B46A-F0F07C830C0F}" type="presParOf" srcId="{FB872E80-4249-4E29-A3B7-8D5AA40D97A3}" destId="{49CFC60C-C016-42CE-9B13-7AE65E9179B7}" srcOrd="0" destOrd="0" presId="urn:microsoft.com/office/officeart/2005/8/layout/process5"/>
    <dgm:cxn modelId="{D29FE98C-86BC-4109-8039-C8224925F46D}" type="presParOf" srcId="{C40FA931-EB53-4368-AAED-3ED2ECF17564}" destId="{41E03A73-279F-4CC5-8A12-5F7FC5235017}" srcOrd="1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72CDC-BFC5-494B-8EC9-EDDFEDE9DF20}">
      <dsp:nvSpPr>
        <dsp:cNvPr id="0" name=""/>
        <dsp:cNvSpPr/>
      </dsp:nvSpPr>
      <dsp:spPr>
        <a:xfrm>
          <a:off x="1985" y="690550"/>
          <a:ext cx="2281461" cy="114073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rtl="0">
            <a:lnSpc>
              <a:spcPct val="90000"/>
            </a:lnSpc>
            <a:spcBef>
              <a:spcPct val="0"/>
            </a:spcBef>
            <a:spcAft>
              <a:spcPct val="35000"/>
            </a:spcAft>
          </a:pPr>
          <a:r>
            <a:rPr lang="en-US" sz="2700" b="1" kern="1200" smtClean="0"/>
            <a:t>Sign Up and Access:</a:t>
          </a:r>
          <a:endParaRPr lang="en-IN" sz="2700" kern="1200"/>
        </a:p>
      </dsp:txBody>
      <dsp:txXfrm>
        <a:off x="35396" y="723961"/>
        <a:ext cx="2214639" cy="1073908"/>
      </dsp:txXfrm>
    </dsp:sp>
    <dsp:sp modelId="{5E0FEB00-B470-4F26-8C6F-A88F9732652B}">
      <dsp:nvSpPr>
        <dsp:cNvPr id="0" name=""/>
        <dsp:cNvSpPr/>
      </dsp:nvSpPr>
      <dsp:spPr>
        <a:xfrm>
          <a:off x="230131" y="1831281"/>
          <a:ext cx="228146" cy="855548"/>
        </a:xfrm>
        <a:custGeom>
          <a:avLst/>
          <a:gdLst/>
          <a:ahLst/>
          <a:cxnLst/>
          <a:rect l="0" t="0" r="0" b="0"/>
          <a:pathLst>
            <a:path>
              <a:moveTo>
                <a:pt x="0" y="0"/>
              </a:moveTo>
              <a:lnTo>
                <a:pt x="0" y="855548"/>
              </a:lnTo>
              <a:lnTo>
                <a:pt x="228146" y="855548"/>
              </a:lnTo>
            </a:path>
          </a:pathLst>
        </a:custGeom>
        <a:noFill/>
        <a:ln w="1905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2CBA0F-A908-4D92-865F-40A3CC827185}">
      <dsp:nvSpPr>
        <dsp:cNvPr id="0" name=""/>
        <dsp:cNvSpPr/>
      </dsp:nvSpPr>
      <dsp:spPr>
        <a:xfrm>
          <a:off x="458277" y="2116464"/>
          <a:ext cx="1825169" cy="1140730"/>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Power Automate is accessible through the web at </a:t>
          </a:r>
          <a:r>
            <a:rPr lang="en-US" sz="1100" b="1" kern="1200" dirty="0" smtClean="0">
              <a:hlinkClick xmlns:r="http://schemas.openxmlformats.org/officeDocument/2006/relationships" r:id="rId1"/>
            </a:rPr>
            <a:t>flow.microsoft.com</a:t>
          </a:r>
          <a:r>
            <a:rPr lang="en-US" sz="1100" kern="1200" dirty="0" smtClean="0"/>
            <a:t>, and it can also be accessed via the Power Automate mobile app.</a:t>
          </a:r>
          <a:endParaRPr lang="en-IN" sz="1100" kern="1200" dirty="0"/>
        </a:p>
      </dsp:txBody>
      <dsp:txXfrm>
        <a:off x="491688" y="2149875"/>
        <a:ext cx="1758347" cy="1073908"/>
      </dsp:txXfrm>
    </dsp:sp>
    <dsp:sp modelId="{1D26692C-BCA0-4DA1-951E-9466BEC4D034}">
      <dsp:nvSpPr>
        <dsp:cNvPr id="0" name=""/>
        <dsp:cNvSpPr/>
      </dsp:nvSpPr>
      <dsp:spPr>
        <a:xfrm>
          <a:off x="2853812" y="690550"/>
          <a:ext cx="2281461" cy="1140730"/>
        </a:xfrm>
        <a:prstGeom prst="roundRect">
          <a:avLst>
            <a:gd name="adj" fmla="val 10000"/>
          </a:avLst>
        </a:prstGeom>
        <a:solidFill>
          <a:schemeClr val="accent5">
            <a:hueOff val="-6143153"/>
            <a:satOff val="6875"/>
            <a:lumOff val="392"/>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rtl="0">
            <a:lnSpc>
              <a:spcPct val="90000"/>
            </a:lnSpc>
            <a:spcBef>
              <a:spcPct val="0"/>
            </a:spcBef>
            <a:spcAft>
              <a:spcPct val="35000"/>
            </a:spcAft>
          </a:pPr>
          <a:r>
            <a:rPr lang="en-US" sz="2700" b="1" kern="1200" smtClean="0"/>
            <a:t>Explore Templates:</a:t>
          </a:r>
          <a:endParaRPr lang="en-IN" sz="2700" kern="1200"/>
        </a:p>
      </dsp:txBody>
      <dsp:txXfrm>
        <a:off x="2887223" y="723961"/>
        <a:ext cx="2214639" cy="1073908"/>
      </dsp:txXfrm>
    </dsp:sp>
    <dsp:sp modelId="{802CC260-82A2-4268-8DF8-98EE7130C822}">
      <dsp:nvSpPr>
        <dsp:cNvPr id="0" name=""/>
        <dsp:cNvSpPr/>
      </dsp:nvSpPr>
      <dsp:spPr>
        <a:xfrm>
          <a:off x="3081958" y="1831281"/>
          <a:ext cx="228146" cy="855548"/>
        </a:xfrm>
        <a:custGeom>
          <a:avLst/>
          <a:gdLst/>
          <a:ahLst/>
          <a:cxnLst/>
          <a:rect l="0" t="0" r="0" b="0"/>
          <a:pathLst>
            <a:path>
              <a:moveTo>
                <a:pt x="0" y="0"/>
              </a:moveTo>
              <a:lnTo>
                <a:pt x="0" y="855548"/>
              </a:lnTo>
              <a:lnTo>
                <a:pt x="228146" y="855548"/>
              </a:lnTo>
            </a:path>
          </a:pathLst>
        </a:custGeom>
        <a:noFill/>
        <a:ln w="1905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64876E4-43E7-43DE-9231-3A3452F2A1F3}">
      <dsp:nvSpPr>
        <dsp:cNvPr id="0" name=""/>
        <dsp:cNvSpPr/>
      </dsp:nvSpPr>
      <dsp:spPr>
        <a:xfrm>
          <a:off x="3310104" y="2116464"/>
          <a:ext cx="1825169" cy="1140730"/>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6143153"/>
              <a:satOff val="6875"/>
              <a:lumOff val="3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Begin by exploring the pre-built templates to get an idea of what’s possible and to find templates that can be customized for your needs.</a:t>
          </a:r>
          <a:endParaRPr lang="en-IN" sz="1100" kern="1200" dirty="0"/>
        </a:p>
      </dsp:txBody>
      <dsp:txXfrm>
        <a:off x="3343515" y="2149875"/>
        <a:ext cx="1758347" cy="1073908"/>
      </dsp:txXfrm>
    </dsp:sp>
    <dsp:sp modelId="{5E7267AC-B573-48BD-9B1E-9FCC45097872}">
      <dsp:nvSpPr>
        <dsp:cNvPr id="0" name=""/>
        <dsp:cNvSpPr/>
      </dsp:nvSpPr>
      <dsp:spPr>
        <a:xfrm>
          <a:off x="5705639" y="690550"/>
          <a:ext cx="2281461" cy="1140730"/>
        </a:xfrm>
        <a:prstGeom prst="roundRect">
          <a:avLst>
            <a:gd name="adj" fmla="val 10000"/>
          </a:avLst>
        </a:prstGeom>
        <a:solidFill>
          <a:schemeClr val="accent5">
            <a:hueOff val="-12286306"/>
            <a:satOff val="13750"/>
            <a:lumOff val="785"/>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rtl="0">
            <a:lnSpc>
              <a:spcPct val="90000"/>
            </a:lnSpc>
            <a:spcBef>
              <a:spcPct val="0"/>
            </a:spcBef>
            <a:spcAft>
              <a:spcPct val="35000"/>
            </a:spcAft>
          </a:pPr>
          <a:r>
            <a:rPr lang="en-US" sz="2700" b="1" kern="1200" smtClean="0"/>
            <a:t>Create a Flow:</a:t>
          </a:r>
          <a:endParaRPr lang="en-IN" sz="2700" kern="1200"/>
        </a:p>
      </dsp:txBody>
      <dsp:txXfrm>
        <a:off x="5739050" y="723961"/>
        <a:ext cx="2214639" cy="1073908"/>
      </dsp:txXfrm>
    </dsp:sp>
    <dsp:sp modelId="{52A6D442-9977-4B62-8731-C6D3B1F9DFF9}">
      <dsp:nvSpPr>
        <dsp:cNvPr id="0" name=""/>
        <dsp:cNvSpPr/>
      </dsp:nvSpPr>
      <dsp:spPr>
        <a:xfrm>
          <a:off x="5933785" y="1831281"/>
          <a:ext cx="228146" cy="855548"/>
        </a:xfrm>
        <a:custGeom>
          <a:avLst/>
          <a:gdLst/>
          <a:ahLst/>
          <a:cxnLst/>
          <a:rect l="0" t="0" r="0" b="0"/>
          <a:pathLst>
            <a:path>
              <a:moveTo>
                <a:pt x="0" y="0"/>
              </a:moveTo>
              <a:lnTo>
                <a:pt x="0" y="855548"/>
              </a:lnTo>
              <a:lnTo>
                <a:pt x="228146" y="855548"/>
              </a:lnTo>
            </a:path>
          </a:pathLst>
        </a:custGeom>
        <a:noFill/>
        <a:ln w="1905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5AAAA1-5F24-4D7C-ACEE-C9AA4535C04E}">
      <dsp:nvSpPr>
        <dsp:cNvPr id="0" name=""/>
        <dsp:cNvSpPr/>
      </dsp:nvSpPr>
      <dsp:spPr>
        <a:xfrm>
          <a:off x="6161932" y="2116464"/>
          <a:ext cx="1825169" cy="1140730"/>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12286306"/>
              <a:satOff val="13750"/>
              <a:lumOff val="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Use the drag-and-drop interface to create a new flow by defining triggers and actions. Test and refine the workflow as needed.</a:t>
          </a:r>
          <a:endParaRPr lang="en-IN" sz="1100" kern="1200" dirty="0"/>
        </a:p>
      </dsp:txBody>
      <dsp:txXfrm>
        <a:off x="6195343" y="2149875"/>
        <a:ext cx="1758347" cy="1073908"/>
      </dsp:txXfrm>
    </dsp:sp>
    <dsp:sp modelId="{534D28E7-6F04-47DC-84C7-AD0777DCBA85}">
      <dsp:nvSpPr>
        <dsp:cNvPr id="0" name=""/>
        <dsp:cNvSpPr/>
      </dsp:nvSpPr>
      <dsp:spPr>
        <a:xfrm>
          <a:off x="8557467" y="690550"/>
          <a:ext cx="2281461" cy="1140730"/>
        </a:xfrm>
        <a:prstGeom prst="roundRect">
          <a:avLst>
            <a:gd name="adj" fmla="val 10000"/>
          </a:avLst>
        </a:prstGeom>
        <a:solidFill>
          <a:schemeClr val="accent5">
            <a:hueOff val="-18429457"/>
            <a:satOff val="20625"/>
            <a:lumOff val="1177"/>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rtl="0">
            <a:lnSpc>
              <a:spcPct val="90000"/>
            </a:lnSpc>
            <a:spcBef>
              <a:spcPct val="0"/>
            </a:spcBef>
            <a:spcAft>
              <a:spcPct val="35000"/>
            </a:spcAft>
          </a:pPr>
          <a:r>
            <a:rPr lang="en-US" sz="2700" b="1" kern="1200" smtClean="0"/>
            <a:t>Monitor and Manage:</a:t>
          </a:r>
          <a:endParaRPr lang="en-IN" sz="2700" kern="1200"/>
        </a:p>
      </dsp:txBody>
      <dsp:txXfrm>
        <a:off x="8590878" y="723961"/>
        <a:ext cx="2214639" cy="1073908"/>
      </dsp:txXfrm>
    </dsp:sp>
    <dsp:sp modelId="{AFBAA294-4AFE-4D0D-8030-03984953E710}">
      <dsp:nvSpPr>
        <dsp:cNvPr id="0" name=""/>
        <dsp:cNvSpPr/>
      </dsp:nvSpPr>
      <dsp:spPr>
        <a:xfrm>
          <a:off x="8785613" y="1831281"/>
          <a:ext cx="228146" cy="855548"/>
        </a:xfrm>
        <a:custGeom>
          <a:avLst/>
          <a:gdLst/>
          <a:ahLst/>
          <a:cxnLst/>
          <a:rect l="0" t="0" r="0" b="0"/>
          <a:pathLst>
            <a:path>
              <a:moveTo>
                <a:pt x="0" y="0"/>
              </a:moveTo>
              <a:lnTo>
                <a:pt x="0" y="855548"/>
              </a:lnTo>
              <a:lnTo>
                <a:pt x="228146" y="855548"/>
              </a:lnTo>
            </a:path>
          </a:pathLst>
        </a:custGeom>
        <a:noFill/>
        <a:ln w="1905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892BCD-4AD8-408A-9B23-E7109F9C76CF}">
      <dsp:nvSpPr>
        <dsp:cNvPr id="0" name=""/>
        <dsp:cNvSpPr/>
      </dsp:nvSpPr>
      <dsp:spPr>
        <a:xfrm>
          <a:off x="9013759" y="2116464"/>
          <a:ext cx="1825169" cy="1140730"/>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18429457"/>
              <a:satOff val="20625"/>
              <a:lumOff val="117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Utilize Power </a:t>
          </a:r>
          <a:r>
            <a:rPr lang="en-US" sz="1100" kern="1200" dirty="0" err="1" smtClean="0"/>
            <a:t>Automate’s</a:t>
          </a:r>
          <a:r>
            <a:rPr lang="en-US" sz="1100" kern="1200" dirty="0" smtClean="0"/>
            <a:t> monitoring tools to track the performance of your flows, manage connections, and troubleshoot any issues.</a:t>
          </a:r>
          <a:endParaRPr lang="en-IN" sz="1100" kern="1200" dirty="0"/>
        </a:p>
      </dsp:txBody>
      <dsp:txXfrm>
        <a:off x="9047170" y="2149875"/>
        <a:ext cx="1758347" cy="10739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55146-C2AA-4DE5-A3E5-CEC3396ACAF4}">
      <dsp:nvSpPr>
        <dsp:cNvPr id="0" name=""/>
        <dsp:cNvSpPr/>
      </dsp:nvSpPr>
      <dsp:spPr>
        <a:xfrm>
          <a:off x="4327" y="899837"/>
          <a:ext cx="1892063" cy="1135237"/>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t>Define the Trigger:</a:t>
          </a:r>
          <a:endParaRPr lang="en-IN" sz="2400" kern="1200" dirty="0"/>
        </a:p>
      </dsp:txBody>
      <dsp:txXfrm>
        <a:off x="37577" y="933087"/>
        <a:ext cx="1825563" cy="1068737"/>
      </dsp:txXfrm>
    </dsp:sp>
    <dsp:sp modelId="{A8A8A503-8480-479A-991A-15A9E1DE6E61}">
      <dsp:nvSpPr>
        <dsp:cNvPr id="0" name=""/>
        <dsp:cNvSpPr/>
      </dsp:nvSpPr>
      <dsp:spPr>
        <a:xfrm>
          <a:off x="2062892" y="1232841"/>
          <a:ext cx="401117" cy="46923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2062892" y="1326687"/>
        <a:ext cx="280782" cy="281539"/>
      </dsp:txXfrm>
    </dsp:sp>
    <dsp:sp modelId="{8F57F8EA-1CEE-4001-9FA7-8A0BDE7E4E07}">
      <dsp:nvSpPr>
        <dsp:cNvPr id="0" name=""/>
        <dsp:cNvSpPr/>
      </dsp:nvSpPr>
      <dsp:spPr>
        <a:xfrm>
          <a:off x="2653216" y="899837"/>
          <a:ext cx="1892063" cy="1135237"/>
        </a:xfrm>
        <a:prstGeom prst="roundRect">
          <a:avLst>
            <a:gd name="adj" fmla="val 10000"/>
          </a:avLst>
        </a:prstGeom>
        <a:solidFill>
          <a:schemeClr val="accent5">
            <a:hueOff val="-2632780"/>
            <a:satOff val="2946"/>
            <a:lumOff val="16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rtl="0">
            <a:lnSpc>
              <a:spcPct val="90000"/>
            </a:lnSpc>
            <a:spcBef>
              <a:spcPct val="0"/>
            </a:spcBef>
            <a:spcAft>
              <a:spcPct val="35000"/>
            </a:spcAft>
          </a:pPr>
          <a:r>
            <a:rPr lang="en-US" sz="900" b="0" i="0" kern="1200" baseline="0" smtClean="0"/>
            <a:t>Choose the type of trigger that fits your use case. For automatic and scheduled triggers, select the appropriate service and configure the conditions that will start the flow.</a:t>
          </a:r>
          <a:endParaRPr lang="en-IN" sz="900" kern="1200"/>
        </a:p>
      </dsp:txBody>
      <dsp:txXfrm>
        <a:off x="2686466" y="933087"/>
        <a:ext cx="1825563" cy="1068737"/>
      </dsp:txXfrm>
    </dsp:sp>
    <dsp:sp modelId="{B9ED1122-62A3-4716-B049-7CF78A8A7FC8}">
      <dsp:nvSpPr>
        <dsp:cNvPr id="0" name=""/>
        <dsp:cNvSpPr/>
      </dsp:nvSpPr>
      <dsp:spPr>
        <a:xfrm>
          <a:off x="4711780" y="1232841"/>
          <a:ext cx="401117" cy="469231"/>
        </a:xfrm>
        <a:prstGeom prst="rightArrow">
          <a:avLst>
            <a:gd name="adj1" fmla="val 60000"/>
            <a:gd name="adj2" fmla="val 50000"/>
          </a:avLst>
        </a:prstGeom>
        <a:solidFill>
          <a:schemeClr val="accent5">
            <a:hueOff val="-3071576"/>
            <a:satOff val="3438"/>
            <a:lumOff val="19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4711780" y="1326687"/>
        <a:ext cx="280782" cy="281539"/>
      </dsp:txXfrm>
    </dsp:sp>
    <dsp:sp modelId="{99EB3E7C-26F2-4C99-A45F-DF9FD4BAD108}">
      <dsp:nvSpPr>
        <dsp:cNvPr id="0" name=""/>
        <dsp:cNvSpPr/>
      </dsp:nvSpPr>
      <dsp:spPr>
        <a:xfrm>
          <a:off x="5302104" y="899837"/>
          <a:ext cx="1892063" cy="1135237"/>
        </a:xfrm>
        <a:prstGeom prst="roundRect">
          <a:avLst>
            <a:gd name="adj" fmla="val 10000"/>
          </a:avLst>
        </a:prstGeom>
        <a:solidFill>
          <a:schemeClr val="accent5">
            <a:hueOff val="-5265559"/>
            <a:satOff val="5893"/>
            <a:lumOff val="33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t>Configure Trigger Details:</a:t>
          </a:r>
          <a:endParaRPr lang="en-IN" sz="2400" kern="1200" dirty="0"/>
        </a:p>
      </dsp:txBody>
      <dsp:txXfrm>
        <a:off x="5335354" y="933087"/>
        <a:ext cx="1825563" cy="1068737"/>
      </dsp:txXfrm>
    </dsp:sp>
    <dsp:sp modelId="{8B590165-7E73-4032-AAA6-1B08B6DD4909}">
      <dsp:nvSpPr>
        <dsp:cNvPr id="0" name=""/>
        <dsp:cNvSpPr/>
      </dsp:nvSpPr>
      <dsp:spPr>
        <a:xfrm>
          <a:off x="7360669" y="1232841"/>
          <a:ext cx="401117" cy="469231"/>
        </a:xfrm>
        <a:prstGeom prst="rightArrow">
          <a:avLst>
            <a:gd name="adj1" fmla="val 60000"/>
            <a:gd name="adj2" fmla="val 50000"/>
          </a:avLst>
        </a:prstGeom>
        <a:solidFill>
          <a:schemeClr val="accent5">
            <a:hueOff val="-6143153"/>
            <a:satOff val="6875"/>
            <a:lumOff val="39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a:off x="7360669" y="1326687"/>
        <a:ext cx="280782" cy="281539"/>
      </dsp:txXfrm>
    </dsp:sp>
    <dsp:sp modelId="{70BD94E6-7C7F-4D92-8E08-A0DFBC500B74}">
      <dsp:nvSpPr>
        <dsp:cNvPr id="0" name=""/>
        <dsp:cNvSpPr/>
      </dsp:nvSpPr>
      <dsp:spPr>
        <a:xfrm>
          <a:off x="7950993" y="899837"/>
          <a:ext cx="1892063" cy="1135237"/>
        </a:xfrm>
        <a:prstGeom prst="roundRect">
          <a:avLst>
            <a:gd name="adj" fmla="val 10000"/>
          </a:avLst>
        </a:prstGeom>
        <a:solidFill>
          <a:schemeClr val="accent5">
            <a:hueOff val="-7898339"/>
            <a:satOff val="8839"/>
            <a:lumOff val="50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rtl="0">
            <a:lnSpc>
              <a:spcPct val="90000"/>
            </a:lnSpc>
            <a:spcBef>
              <a:spcPct val="0"/>
            </a:spcBef>
            <a:spcAft>
              <a:spcPct val="35000"/>
            </a:spcAft>
          </a:pPr>
          <a:r>
            <a:rPr lang="en-US" sz="900" b="0" i="0" kern="1200" baseline="0" smtClean="0"/>
            <a:t>Set up specific parameters or conditions for the trigger. For example, you might specify which email folder to monitor, which hashtag to look for in tweets, or the exact time and frequency for scheduled triggers.</a:t>
          </a:r>
          <a:endParaRPr lang="en-IN" sz="900" kern="1200"/>
        </a:p>
      </dsp:txBody>
      <dsp:txXfrm>
        <a:off x="7984243" y="933087"/>
        <a:ext cx="1825563" cy="1068737"/>
      </dsp:txXfrm>
    </dsp:sp>
    <dsp:sp modelId="{02F49DF2-2C62-4AB7-B06E-70CE182F67F0}">
      <dsp:nvSpPr>
        <dsp:cNvPr id="0" name=""/>
        <dsp:cNvSpPr/>
      </dsp:nvSpPr>
      <dsp:spPr>
        <a:xfrm rot="5400000">
          <a:off x="8696466" y="2167520"/>
          <a:ext cx="401117" cy="469231"/>
        </a:xfrm>
        <a:prstGeom prst="rightArrow">
          <a:avLst>
            <a:gd name="adj1" fmla="val 60000"/>
            <a:gd name="adj2" fmla="val 50000"/>
          </a:avLst>
        </a:prstGeom>
        <a:solidFill>
          <a:schemeClr val="accent5">
            <a:hueOff val="-9214729"/>
            <a:satOff val="10313"/>
            <a:lumOff val="58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rot="-5400000">
        <a:off x="8756256" y="2201577"/>
        <a:ext cx="281539" cy="280782"/>
      </dsp:txXfrm>
    </dsp:sp>
    <dsp:sp modelId="{343286BB-6B38-4420-9AB3-E76C5546692B}">
      <dsp:nvSpPr>
        <dsp:cNvPr id="0" name=""/>
        <dsp:cNvSpPr/>
      </dsp:nvSpPr>
      <dsp:spPr>
        <a:xfrm>
          <a:off x="7950993" y="2791901"/>
          <a:ext cx="1892063" cy="1135237"/>
        </a:xfrm>
        <a:prstGeom prst="roundRect">
          <a:avLst>
            <a:gd name="adj" fmla="val 10000"/>
          </a:avLst>
        </a:prstGeom>
        <a:solidFill>
          <a:schemeClr val="accent5">
            <a:hueOff val="-10531119"/>
            <a:satOff val="11786"/>
            <a:lumOff val="67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t>Trigger Execution:</a:t>
          </a:r>
          <a:endParaRPr lang="en-IN" sz="2400" kern="1200" dirty="0"/>
        </a:p>
      </dsp:txBody>
      <dsp:txXfrm>
        <a:off x="7984243" y="2825151"/>
        <a:ext cx="1825563" cy="1068737"/>
      </dsp:txXfrm>
    </dsp:sp>
    <dsp:sp modelId="{F0B49A93-4833-43EA-AEEC-7DA6329B42E2}">
      <dsp:nvSpPr>
        <dsp:cNvPr id="0" name=""/>
        <dsp:cNvSpPr/>
      </dsp:nvSpPr>
      <dsp:spPr>
        <a:xfrm rot="10800000">
          <a:off x="7383374" y="3124904"/>
          <a:ext cx="401117" cy="469231"/>
        </a:xfrm>
        <a:prstGeom prst="rightArrow">
          <a:avLst>
            <a:gd name="adj1" fmla="val 60000"/>
            <a:gd name="adj2" fmla="val 50000"/>
          </a:avLst>
        </a:prstGeom>
        <a:solidFill>
          <a:schemeClr val="accent5">
            <a:hueOff val="-12286306"/>
            <a:satOff val="13750"/>
            <a:lumOff val="78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rot="10800000">
        <a:off x="7503709" y="3218750"/>
        <a:ext cx="280782" cy="281539"/>
      </dsp:txXfrm>
    </dsp:sp>
    <dsp:sp modelId="{64FA877D-F8DD-4EE0-82B7-C10D94440999}">
      <dsp:nvSpPr>
        <dsp:cNvPr id="0" name=""/>
        <dsp:cNvSpPr/>
      </dsp:nvSpPr>
      <dsp:spPr>
        <a:xfrm>
          <a:off x="5302104" y="2791901"/>
          <a:ext cx="1892063" cy="1135237"/>
        </a:xfrm>
        <a:prstGeom prst="roundRect">
          <a:avLst>
            <a:gd name="adj" fmla="val 10000"/>
          </a:avLst>
        </a:prstGeom>
        <a:solidFill>
          <a:schemeClr val="accent5">
            <a:hueOff val="-13163898"/>
            <a:satOff val="14732"/>
            <a:lumOff val="84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rtl="0">
            <a:lnSpc>
              <a:spcPct val="90000"/>
            </a:lnSpc>
            <a:spcBef>
              <a:spcPct val="0"/>
            </a:spcBef>
            <a:spcAft>
              <a:spcPct val="35000"/>
            </a:spcAft>
          </a:pPr>
          <a:r>
            <a:rPr lang="en-US" sz="900" b="0" i="0" kern="1200" baseline="0" smtClean="0"/>
            <a:t>Once the specified conditions are met, the trigger activates and starts the flow. The flow then executes the defined actions based on the trigger's parameters.</a:t>
          </a:r>
          <a:endParaRPr lang="en-IN" sz="900" kern="1200"/>
        </a:p>
      </dsp:txBody>
      <dsp:txXfrm>
        <a:off x="5335354" y="2825151"/>
        <a:ext cx="1825563" cy="1068737"/>
      </dsp:txXfrm>
    </dsp:sp>
    <dsp:sp modelId="{A6EFEBF8-F571-477E-8081-C376DD30E34B}">
      <dsp:nvSpPr>
        <dsp:cNvPr id="0" name=""/>
        <dsp:cNvSpPr/>
      </dsp:nvSpPr>
      <dsp:spPr>
        <a:xfrm rot="10800000">
          <a:off x="4734485" y="3124904"/>
          <a:ext cx="401117" cy="469231"/>
        </a:xfrm>
        <a:prstGeom prst="rightArrow">
          <a:avLst>
            <a:gd name="adj1" fmla="val 60000"/>
            <a:gd name="adj2" fmla="val 50000"/>
          </a:avLst>
        </a:prstGeom>
        <a:solidFill>
          <a:schemeClr val="accent5">
            <a:hueOff val="-15357881"/>
            <a:satOff val="17188"/>
            <a:lumOff val="98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rot="10800000">
        <a:off x="4854820" y="3218750"/>
        <a:ext cx="280782" cy="281539"/>
      </dsp:txXfrm>
    </dsp:sp>
    <dsp:sp modelId="{B792F20B-CC80-4FAA-864B-20F46755378C}">
      <dsp:nvSpPr>
        <dsp:cNvPr id="0" name=""/>
        <dsp:cNvSpPr/>
      </dsp:nvSpPr>
      <dsp:spPr>
        <a:xfrm>
          <a:off x="2653216" y="2791901"/>
          <a:ext cx="1892063" cy="1135237"/>
        </a:xfrm>
        <a:prstGeom prst="roundRect">
          <a:avLst>
            <a:gd name="adj" fmla="val 10000"/>
          </a:avLst>
        </a:prstGeom>
        <a:solidFill>
          <a:schemeClr val="accent5">
            <a:hueOff val="-15796677"/>
            <a:satOff val="17679"/>
            <a:lumOff val="100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t>Monitor and Manage:</a:t>
          </a:r>
          <a:endParaRPr lang="en-IN" sz="2400" kern="1200" dirty="0"/>
        </a:p>
      </dsp:txBody>
      <dsp:txXfrm>
        <a:off x="2686466" y="2825151"/>
        <a:ext cx="1825563" cy="1068737"/>
      </dsp:txXfrm>
    </dsp:sp>
    <dsp:sp modelId="{F34A2424-9703-4E3D-B2FF-1894184BE04D}">
      <dsp:nvSpPr>
        <dsp:cNvPr id="0" name=""/>
        <dsp:cNvSpPr/>
      </dsp:nvSpPr>
      <dsp:spPr>
        <a:xfrm rot="10800000">
          <a:off x="2085597" y="3124904"/>
          <a:ext cx="401117" cy="469231"/>
        </a:xfrm>
        <a:prstGeom prst="rightArrow">
          <a:avLst>
            <a:gd name="adj1" fmla="val 60000"/>
            <a:gd name="adj2" fmla="val 50000"/>
          </a:avLst>
        </a:prstGeom>
        <a:solidFill>
          <a:schemeClr val="accent5">
            <a:hueOff val="-18429457"/>
            <a:satOff val="20625"/>
            <a:lumOff val="11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dsp:txBody>
      <dsp:txXfrm rot="10800000">
        <a:off x="2205932" y="3218750"/>
        <a:ext cx="280782" cy="281539"/>
      </dsp:txXfrm>
    </dsp:sp>
    <dsp:sp modelId="{94F64E63-3A44-48D2-B157-72B6F37CF14F}">
      <dsp:nvSpPr>
        <dsp:cNvPr id="0" name=""/>
        <dsp:cNvSpPr/>
      </dsp:nvSpPr>
      <dsp:spPr>
        <a:xfrm>
          <a:off x="4327" y="2791901"/>
          <a:ext cx="1892063" cy="1135237"/>
        </a:xfrm>
        <a:prstGeom prst="roundRect">
          <a:avLst>
            <a:gd name="adj" fmla="val 10000"/>
          </a:avLst>
        </a:prstGeom>
        <a:solidFill>
          <a:schemeClr val="accent5">
            <a:hueOff val="-18429457"/>
            <a:satOff val="20625"/>
            <a:lumOff val="117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rtl="0">
            <a:lnSpc>
              <a:spcPct val="90000"/>
            </a:lnSpc>
            <a:spcBef>
              <a:spcPct val="0"/>
            </a:spcBef>
            <a:spcAft>
              <a:spcPct val="35000"/>
            </a:spcAft>
          </a:pPr>
          <a:r>
            <a:rPr lang="en-US" sz="900" b="0" i="0" kern="1200" baseline="0" smtClean="0"/>
            <a:t>Use Power Automate’s monitoring tools to track when triggers fire and how flows perform. Review run history and logs to ensure that triggers and flows are working as expected.</a:t>
          </a:r>
          <a:endParaRPr lang="en-IN" sz="900" kern="1200"/>
        </a:p>
      </dsp:txBody>
      <dsp:txXfrm>
        <a:off x="37577" y="2825151"/>
        <a:ext cx="1825563" cy="10687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A1573-57A2-48F0-8631-05FD2203C951}">
      <dsp:nvSpPr>
        <dsp:cNvPr id="0" name=""/>
        <dsp:cNvSpPr/>
      </dsp:nvSpPr>
      <dsp:spPr>
        <a:xfrm>
          <a:off x="192589" y="2480"/>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solidFill>
                <a:schemeClr val="accent6">
                  <a:lumMod val="20000"/>
                  <a:lumOff val="80000"/>
                </a:schemeClr>
              </a:solidFill>
            </a:rPr>
            <a:t>Install Power Automate Desktop:</a:t>
          </a:r>
          <a:endParaRPr lang="en-IN" sz="2400" kern="1200" dirty="0">
            <a:solidFill>
              <a:schemeClr val="accent6">
                <a:lumMod val="20000"/>
                <a:lumOff val="80000"/>
              </a:schemeClr>
            </a:solidFill>
          </a:endParaRPr>
        </a:p>
      </dsp:txBody>
      <dsp:txXfrm>
        <a:off x="227023" y="36914"/>
        <a:ext cx="1890584" cy="1106803"/>
      </dsp:txXfrm>
    </dsp:sp>
    <dsp:sp modelId="{4DA8A3E2-F2B9-4B1E-9036-2F5ABDF7BA44}">
      <dsp:nvSpPr>
        <dsp:cNvPr id="0" name=""/>
        <dsp:cNvSpPr/>
      </dsp:nvSpPr>
      <dsp:spPr>
        <a:xfrm>
          <a:off x="2324473" y="347344"/>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a:off x="2324473" y="444533"/>
        <a:ext cx="290782" cy="291566"/>
      </dsp:txXfrm>
    </dsp:sp>
    <dsp:sp modelId="{5B1595A7-28FA-440D-9A38-F6E7BCB431B9}">
      <dsp:nvSpPr>
        <dsp:cNvPr id="0" name=""/>
        <dsp:cNvSpPr/>
      </dsp:nvSpPr>
      <dsp:spPr>
        <a:xfrm>
          <a:off x="2935823" y="2480"/>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0" i="0" kern="1200" baseline="0" dirty="0" smtClean="0"/>
            <a:t>Download and install the Power Automate Desktop application from the Microsoft website.</a:t>
          </a:r>
          <a:endParaRPr lang="en-IN" sz="1200" kern="1200" dirty="0"/>
        </a:p>
      </dsp:txBody>
      <dsp:txXfrm>
        <a:off x="2970257" y="36914"/>
        <a:ext cx="1890584" cy="1106803"/>
      </dsp:txXfrm>
    </dsp:sp>
    <dsp:sp modelId="{E0011624-1E50-4A64-9072-0B648208FC58}">
      <dsp:nvSpPr>
        <dsp:cNvPr id="0" name=""/>
        <dsp:cNvSpPr/>
      </dsp:nvSpPr>
      <dsp:spPr>
        <a:xfrm>
          <a:off x="5067707" y="347344"/>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a:off x="5067707" y="444533"/>
        <a:ext cx="290782" cy="291566"/>
      </dsp:txXfrm>
    </dsp:sp>
    <dsp:sp modelId="{E012B13C-A63D-4526-8E01-45B408DD10FF}">
      <dsp:nvSpPr>
        <dsp:cNvPr id="0" name=""/>
        <dsp:cNvSpPr/>
      </dsp:nvSpPr>
      <dsp:spPr>
        <a:xfrm>
          <a:off x="5679057" y="2480"/>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solidFill>
                <a:schemeClr val="accent6">
                  <a:lumMod val="20000"/>
                  <a:lumOff val="80000"/>
                </a:schemeClr>
              </a:solidFill>
            </a:rPr>
            <a:t>Create a Desktop Flow:</a:t>
          </a:r>
          <a:endParaRPr lang="en-IN" sz="2400" kern="1200" dirty="0">
            <a:solidFill>
              <a:schemeClr val="accent6">
                <a:lumMod val="20000"/>
                <a:lumOff val="80000"/>
              </a:schemeClr>
            </a:solidFill>
          </a:endParaRPr>
        </a:p>
      </dsp:txBody>
      <dsp:txXfrm>
        <a:off x="5713491" y="36914"/>
        <a:ext cx="1890584" cy="1106803"/>
      </dsp:txXfrm>
    </dsp:sp>
    <dsp:sp modelId="{DB36E99A-CEF8-4522-A142-EBA3405C78C6}">
      <dsp:nvSpPr>
        <dsp:cNvPr id="0" name=""/>
        <dsp:cNvSpPr/>
      </dsp:nvSpPr>
      <dsp:spPr>
        <a:xfrm>
          <a:off x="7810941" y="347344"/>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a:off x="7810941" y="444533"/>
        <a:ext cx="290782" cy="291566"/>
      </dsp:txXfrm>
    </dsp:sp>
    <dsp:sp modelId="{2FAF4459-22A0-4628-8B01-59C08D6A7148}">
      <dsp:nvSpPr>
        <dsp:cNvPr id="0" name=""/>
        <dsp:cNvSpPr/>
      </dsp:nvSpPr>
      <dsp:spPr>
        <a:xfrm>
          <a:off x="8422291" y="2480"/>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0" i="0" kern="1200" baseline="0" dirty="0" smtClean="0"/>
            <a:t>Open the Power Automate Desktop app and use the visual designer to create a new desktop flow. Add actions to interact with your desktop applications and files.</a:t>
          </a:r>
          <a:endParaRPr lang="en-IN" sz="1200" kern="1200" dirty="0"/>
        </a:p>
      </dsp:txBody>
      <dsp:txXfrm>
        <a:off x="8456725" y="36914"/>
        <a:ext cx="1890584" cy="1106803"/>
      </dsp:txXfrm>
    </dsp:sp>
    <dsp:sp modelId="{A9F03E0C-A960-4418-A6EB-E7E16A93E41D}">
      <dsp:nvSpPr>
        <dsp:cNvPr id="0" name=""/>
        <dsp:cNvSpPr/>
      </dsp:nvSpPr>
      <dsp:spPr>
        <a:xfrm rot="5400000">
          <a:off x="9194315" y="1315314"/>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rot="-5400000">
        <a:off x="9256234" y="1350585"/>
        <a:ext cx="291566" cy="290782"/>
      </dsp:txXfrm>
    </dsp:sp>
    <dsp:sp modelId="{072C6A75-E8E1-4DF4-BDBF-EE92FE773045}">
      <dsp:nvSpPr>
        <dsp:cNvPr id="0" name=""/>
        <dsp:cNvSpPr/>
      </dsp:nvSpPr>
      <dsp:spPr>
        <a:xfrm>
          <a:off x="8422291" y="1961933"/>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solidFill>
                <a:schemeClr val="accent6">
                  <a:lumMod val="20000"/>
                  <a:lumOff val="80000"/>
                </a:schemeClr>
              </a:solidFill>
            </a:rPr>
            <a:t>Test and Debug:</a:t>
          </a:r>
          <a:endParaRPr lang="en-IN" sz="2400" kern="1200" dirty="0">
            <a:solidFill>
              <a:schemeClr val="accent6">
                <a:lumMod val="20000"/>
                <a:lumOff val="80000"/>
              </a:schemeClr>
            </a:solidFill>
          </a:endParaRPr>
        </a:p>
      </dsp:txBody>
      <dsp:txXfrm>
        <a:off x="8456725" y="1996367"/>
        <a:ext cx="1890584" cy="1106803"/>
      </dsp:txXfrm>
    </dsp:sp>
    <dsp:sp modelId="{867B9B5B-4960-4742-9F24-52F60FD67DEC}">
      <dsp:nvSpPr>
        <dsp:cNvPr id="0" name=""/>
        <dsp:cNvSpPr/>
      </dsp:nvSpPr>
      <dsp:spPr>
        <a:xfrm rot="10800000">
          <a:off x="7834455" y="2306797"/>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rot="10800000">
        <a:off x="7959076" y="2403986"/>
        <a:ext cx="290782" cy="291566"/>
      </dsp:txXfrm>
    </dsp:sp>
    <dsp:sp modelId="{CD5F9D3F-A0FA-45A6-B309-A54E409C45ED}">
      <dsp:nvSpPr>
        <dsp:cNvPr id="0" name=""/>
        <dsp:cNvSpPr/>
      </dsp:nvSpPr>
      <dsp:spPr>
        <a:xfrm>
          <a:off x="5679057" y="1961933"/>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0" i="0" kern="1200" baseline="0" dirty="0" smtClean="0"/>
            <a:t>Test your desktop flow to ensure it works as expected. Use debugging tools to troubleshoot any issues.</a:t>
          </a:r>
          <a:endParaRPr lang="en-IN" sz="1200" kern="1200" dirty="0"/>
        </a:p>
      </dsp:txBody>
      <dsp:txXfrm>
        <a:off x="5713491" y="1996367"/>
        <a:ext cx="1890584" cy="1106803"/>
      </dsp:txXfrm>
    </dsp:sp>
    <dsp:sp modelId="{E40A15AE-C836-497D-A372-CE23CD0A26BC}">
      <dsp:nvSpPr>
        <dsp:cNvPr id="0" name=""/>
        <dsp:cNvSpPr/>
      </dsp:nvSpPr>
      <dsp:spPr>
        <a:xfrm rot="10800000">
          <a:off x="5091221" y="2306797"/>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rot="10800000">
        <a:off x="5215842" y="2403986"/>
        <a:ext cx="290782" cy="291566"/>
      </dsp:txXfrm>
    </dsp:sp>
    <dsp:sp modelId="{38068918-6941-4378-9B2A-3F41E8F89ED6}">
      <dsp:nvSpPr>
        <dsp:cNvPr id="0" name=""/>
        <dsp:cNvSpPr/>
      </dsp:nvSpPr>
      <dsp:spPr>
        <a:xfrm>
          <a:off x="2935823" y="1961933"/>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solidFill>
                <a:schemeClr val="accent6">
                  <a:lumMod val="20000"/>
                  <a:lumOff val="80000"/>
                </a:schemeClr>
              </a:solidFill>
            </a:rPr>
            <a:t>Schedule and Monitor:</a:t>
          </a:r>
          <a:endParaRPr lang="en-IN" sz="2400" kern="1200" dirty="0">
            <a:solidFill>
              <a:schemeClr val="accent6">
                <a:lumMod val="20000"/>
                <a:lumOff val="80000"/>
              </a:schemeClr>
            </a:solidFill>
          </a:endParaRPr>
        </a:p>
      </dsp:txBody>
      <dsp:txXfrm>
        <a:off x="2970257" y="1996367"/>
        <a:ext cx="1890584" cy="1106803"/>
      </dsp:txXfrm>
    </dsp:sp>
    <dsp:sp modelId="{BEB1982A-6556-4850-992E-90252B8963DD}">
      <dsp:nvSpPr>
        <dsp:cNvPr id="0" name=""/>
        <dsp:cNvSpPr/>
      </dsp:nvSpPr>
      <dsp:spPr>
        <a:xfrm rot="10800000">
          <a:off x="2347987" y="2306797"/>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rot="10800000">
        <a:off x="2472608" y="2403986"/>
        <a:ext cx="290782" cy="291566"/>
      </dsp:txXfrm>
    </dsp:sp>
    <dsp:sp modelId="{EEBA39CF-E73B-4819-90F7-362DBB676831}">
      <dsp:nvSpPr>
        <dsp:cNvPr id="0" name=""/>
        <dsp:cNvSpPr/>
      </dsp:nvSpPr>
      <dsp:spPr>
        <a:xfrm>
          <a:off x="192589" y="1961933"/>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0" i="0" kern="1200" baseline="0" dirty="0" smtClean="0"/>
            <a:t>Schedule your desktop flows to run automatically or trigger them manually as needed. Monitor their execution and review logs to ensure they are performing correctly.</a:t>
          </a:r>
          <a:endParaRPr lang="en-IN" sz="1200" kern="1200" dirty="0"/>
        </a:p>
      </dsp:txBody>
      <dsp:txXfrm>
        <a:off x="227023" y="1996367"/>
        <a:ext cx="1890584" cy="1106803"/>
      </dsp:txXfrm>
    </dsp:sp>
    <dsp:sp modelId="{3EBD6339-9DC7-433A-85B3-8E03C44F0F69}">
      <dsp:nvSpPr>
        <dsp:cNvPr id="0" name=""/>
        <dsp:cNvSpPr/>
      </dsp:nvSpPr>
      <dsp:spPr>
        <a:xfrm rot="5400000">
          <a:off x="964613" y="3274767"/>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rot="-5400000">
        <a:off x="1026532" y="3310038"/>
        <a:ext cx="291566" cy="290782"/>
      </dsp:txXfrm>
    </dsp:sp>
    <dsp:sp modelId="{83F5CCD0-DEDF-4B12-98B1-94A7259E03E8}">
      <dsp:nvSpPr>
        <dsp:cNvPr id="0" name=""/>
        <dsp:cNvSpPr/>
      </dsp:nvSpPr>
      <dsp:spPr>
        <a:xfrm>
          <a:off x="192589" y="3921386"/>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i="0" kern="1200" baseline="0" dirty="0" smtClean="0">
              <a:solidFill>
                <a:schemeClr val="accent6">
                  <a:lumMod val="20000"/>
                  <a:lumOff val="80000"/>
                </a:schemeClr>
              </a:solidFill>
            </a:rPr>
            <a:t>Integrate with Cloud Flows:</a:t>
          </a:r>
          <a:endParaRPr lang="en-IN" sz="2400" kern="1200" dirty="0">
            <a:solidFill>
              <a:schemeClr val="accent6">
                <a:lumMod val="20000"/>
                <a:lumOff val="80000"/>
              </a:schemeClr>
            </a:solidFill>
          </a:endParaRPr>
        </a:p>
      </dsp:txBody>
      <dsp:txXfrm>
        <a:off x="227023" y="3955820"/>
        <a:ext cx="1890584" cy="1106803"/>
      </dsp:txXfrm>
    </dsp:sp>
    <dsp:sp modelId="{FB872E80-4249-4E29-A3B7-8D5AA40D97A3}">
      <dsp:nvSpPr>
        <dsp:cNvPr id="0" name=""/>
        <dsp:cNvSpPr/>
      </dsp:nvSpPr>
      <dsp:spPr>
        <a:xfrm>
          <a:off x="2324473" y="4266250"/>
          <a:ext cx="415403" cy="48594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endParaRPr lang="en-US" sz="2100" kern="1200"/>
        </a:p>
      </dsp:txBody>
      <dsp:txXfrm>
        <a:off x="2324473" y="4363439"/>
        <a:ext cx="290782" cy="291566"/>
      </dsp:txXfrm>
    </dsp:sp>
    <dsp:sp modelId="{41E03A73-279F-4CC5-8A12-5F7FC5235017}">
      <dsp:nvSpPr>
        <dsp:cNvPr id="0" name=""/>
        <dsp:cNvSpPr/>
      </dsp:nvSpPr>
      <dsp:spPr>
        <a:xfrm>
          <a:off x="2935823" y="3921386"/>
          <a:ext cx="1959452" cy="117567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0" i="0" kern="1200" baseline="0" dirty="0" smtClean="0"/>
            <a:t>Connect your desktop flows with cloud flows to create end-to-end automation solutions that span both local and cloud environments.</a:t>
          </a:r>
          <a:endParaRPr lang="en-IN" sz="1200" kern="1200" dirty="0"/>
        </a:p>
      </dsp:txBody>
      <dsp:txXfrm>
        <a:off x="2970257" y="3955820"/>
        <a:ext cx="1890584" cy="110680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27B46D2-A196-496D-9104-9A31EDA4F159}"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3566653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7B46D2-A196-496D-9104-9A31EDA4F159}"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3135197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27B46D2-A196-496D-9104-9A31EDA4F159}"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2687680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27B46D2-A196-496D-9104-9A31EDA4F159}"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3650196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27B46D2-A196-496D-9104-9A31EDA4F159}" type="datetimeFigureOut">
              <a:rPr lang="en-IN" smtClean="0"/>
              <a:t>09-09-2024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687849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27B46D2-A196-496D-9104-9A31EDA4F159}" type="datetimeFigureOut">
              <a:rPr lang="en-IN" smtClean="0"/>
              <a:t>09-09-2024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2668204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7B46D2-A196-496D-9104-9A31EDA4F159}" type="datetimeFigureOut">
              <a:rPr lang="en-IN" smtClean="0"/>
              <a:t>09-09-2024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1591411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7B46D2-A196-496D-9104-9A31EDA4F159}"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2488380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7B46D2-A196-496D-9104-9A31EDA4F159}"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107759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7B46D2-A196-496D-9104-9A31EDA4F159}"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2736114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7B46D2-A196-496D-9104-9A31EDA4F159}"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1777407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7B46D2-A196-496D-9104-9A31EDA4F159}"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32AC0D-C0AA-4344-B9F4-734EE2CBD7C5}"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09775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7B46D2-A196-496D-9104-9A31EDA4F159}"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3297780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27B46D2-A196-496D-9104-9A31EDA4F159}" type="datetimeFigureOut">
              <a:rPr lang="en-IN" smtClean="0"/>
              <a:t>09-09-2024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2372866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27B46D2-A196-496D-9104-9A31EDA4F159}" type="datetimeFigureOut">
              <a:rPr lang="en-IN" smtClean="0"/>
              <a:t>09-09-2024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1825632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7B46D2-A196-496D-9104-9A31EDA4F159}"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2841984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7B46D2-A196-496D-9104-9A31EDA4F159}"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32AC0D-C0AA-4344-B9F4-734EE2CBD7C5}" type="slidenum">
              <a:rPr lang="en-IN" smtClean="0"/>
              <a:t>‹#›</a:t>
            </a:fld>
            <a:endParaRPr lang="en-IN"/>
          </a:p>
        </p:txBody>
      </p:sp>
    </p:spTree>
    <p:extLst>
      <p:ext uri="{BB962C8B-B14F-4D97-AF65-F5344CB8AC3E}">
        <p14:creationId xmlns:p14="http://schemas.microsoft.com/office/powerpoint/2010/main" val="1727694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27B46D2-A196-496D-9104-9A31EDA4F159}" type="datetimeFigureOut">
              <a:rPr lang="en-IN" smtClean="0"/>
              <a:t>09-09-2024</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932AC0D-C0AA-4344-B9F4-734EE2CBD7C5}" type="slidenum">
              <a:rPr lang="en-IN" smtClean="0"/>
              <a:t>‹#›</a:t>
            </a:fld>
            <a:endParaRPr lang="en-IN"/>
          </a:p>
        </p:txBody>
      </p:sp>
    </p:spTree>
    <p:extLst>
      <p:ext uri="{BB962C8B-B14F-4D97-AF65-F5344CB8AC3E}">
        <p14:creationId xmlns:p14="http://schemas.microsoft.com/office/powerpoint/2010/main" val="783510531"/>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smtClean="0">
                <a:solidFill>
                  <a:srgbClr val="FF0000"/>
                </a:solidFill>
                <a:effectLst>
                  <a:outerShdw blurRad="38100" dist="38100" dir="2700000" algn="tl">
                    <a:srgbClr val="000000">
                      <a:alpha val="43137"/>
                    </a:srgbClr>
                  </a:outerShdw>
                </a:effectLst>
                <a:latin typeface="Algerian" panose="04020705040A02060702" pitchFamily="82" charset="0"/>
              </a:rPr>
              <a:t>Power Automate</a:t>
            </a:r>
            <a:endParaRPr lang="en-IN" sz="6600" dirty="0">
              <a:solidFill>
                <a:srgbClr val="FF0000"/>
              </a:solidFill>
              <a:effectLst>
                <a:outerShdw blurRad="38100" dist="38100" dir="2700000" algn="tl">
                  <a:srgbClr val="000000">
                    <a:alpha val="43137"/>
                  </a:srgbClr>
                </a:outerShdw>
              </a:effectLst>
              <a:latin typeface="Algerian" panose="04020705040A02060702" pitchFamily="82" charset="0"/>
            </a:endParaRPr>
          </a:p>
        </p:txBody>
      </p:sp>
      <p:sp>
        <p:nvSpPr>
          <p:cNvPr id="4" name="Subtitle 3"/>
          <p:cNvSpPr>
            <a:spLocks noGrp="1"/>
          </p:cNvSpPr>
          <p:nvPr>
            <p:ph type="subTitle" idx="1"/>
          </p:nvPr>
        </p:nvSpPr>
        <p:spPr/>
        <p:txBody>
          <a:bodyPr/>
          <a:lstStyle/>
          <a:p>
            <a:r>
              <a:rPr lang="en-US" dirty="0" smtClean="0"/>
              <a:t> </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05748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agenda</a:t>
            </a:r>
            <a:endParaRPr lang="en-IN" dirty="0">
              <a:solidFill>
                <a:srgbClr val="FF0000"/>
              </a:solidFill>
            </a:endParaRPr>
          </a:p>
        </p:txBody>
      </p:sp>
      <p:sp>
        <p:nvSpPr>
          <p:cNvPr id="3" name="Content Placeholder 2"/>
          <p:cNvSpPr>
            <a:spLocks noGrp="1"/>
          </p:cNvSpPr>
          <p:nvPr>
            <p:ph sz="half" idx="1"/>
          </p:nvPr>
        </p:nvSpPr>
        <p:spPr>
          <a:xfrm>
            <a:off x="913795" y="2088319"/>
            <a:ext cx="5106004" cy="4083881"/>
          </a:xfrm>
        </p:spPr>
        <p:txBody>
          <a:bodyPr>
            <a:normAutofit fontScale="92500" lnSpcReduction="20000"/>
          </a:bodyPr>
          <a:lstStyle/>
          <a:p>
            <a:r>
              <a:rPr lang="en-US" sz="2600" dirty="0" smtClean="0"/>
              <a:t>Introduction to Power Automate</a:t>
            </a:r>
          </a:p>
          <a:p>
            <a:r>
              <a:rPr lang="en-US" sz="2600" dirty="0" smtClean="0"/>
              <a:t>Key Features</a:t>
            </a:r>
          </a:p>
          <a:p>
            <a:r>
              <a:rPr lang="en-US" sz="2600" dirty="0" smtClean="0"/>
              <a:t>Components</a:t>
            </a:r>
          </a:p>
          <a:p>
            <a:r>
              <a:rPr lang="en-US" sz="2600" dirty="0" smtClean="0"/>
              <a:t>Benefits</a:t>
            </a:r>
          </a:p>
          <a:p>
            <a:r>
              <a:rPr lang="en-US" sz="2600" dirty="0" smtClean="0"/>
              <a:t>Getting Started</a:t>
            </a:r>
          </a:p>
          <a:p>
            <a:r>
              <a:rPr lang="en-US" sz="2600" dirty="0" smtClean="0"/>
              <a:t>Flow Types</a:t>
            </a:r>
          </a:p>
          <a:p>
            <a:r>
              <a:rPr lang="en-US" sz="2600" dirty="0" smtClean="0"/>
              <a:t>Trigger &amp; Action - Types</a:t>
            </a:r>
          </a:p>
          <a:p>
            <a:r>
              <a:rPr lang="en-US" sz="2600" dirty="0" smtClean="0"/>
              <a:t>Example</a:t>
            </a:r>
          </a:p>
          <a:p>
            <a:endParaRPr lang="en-US" dirty="0" smtClean="0"/>
          </a:p>
          <a:p>
            <a:pPr marL="0" indent="0">
              <a:buNone/>
            </a:pPr>
            <a:endParaRPr lang="en-US" dirty="0" smtClean="0"/>
          </a:p>
          <a:p>
            <a:endParaRPr lang="en-IN" dirty="0"/>
          </a:p>
        </p:txBody>
      </p:sp>
      <p:sp>
        <p:nvSpPr>
          <p:cNvPr id="4" name="Content Placeholder 3"/>
          <p:cNvSpPr>
            <a:spLocks noGrp="1"/>
          </p:cNvSpPr>
          <p:nvPr>
            <p:ph sz="half" idx="2"/>
          </p:nvPr>
        </p:nvSpPr>
        <p:spPr>
          <a:xfrm>
            <a:off x="6173403" y="2088319"/>
            <a:ext cx="5094154" cy="4083881"/>
          </a:xfrm>
        </p:spPr>
        <p:txBody>
          <a:bodyPr>
            <a:normAutofit fontScale="92500" lnSpcReduction="20000"/>
          </a:bodyPr>
          <a:lstStyle/>
          <a:p>
            <a:r>
              <a:rPr lang="en-US" sz="2600" dirty="0" smtClean="0"/>
              <a:t>Power Automate Desktop</a:t>
            </a:r>
          </a:p>
          <a:p>
            <a:r>
              <a:rPr lang="en-US" sz="2600" dirty="0" smtClean="0"/>
              <a:t>Key Features</a:t>
            </a:r>
          </a:p>
          <a:p>
            <a:r>
              <a:rPr lang="en-US" sz="2600" dirty="0" smtClean="0"/>
              <a:t>Components</a:t>
            </a:r>
          </a:p>
          <a:p>
            <a:r>
              <a:rPr lang="en-US" sz="2600" dirty="0" smtClean="0"/>
              <a:t>Getting Started</a:t>
            </a:r>
          </a:p>
          <a:p>
            <a:r>
              <a:rPr lang="en-US" sz="2600" dirty="0" smtClean="0"/>
              <a:t>Benefits</a:t>
            </a:r>
          </a:p>
          <a:p>
            <a:r>
              <a:rPr lang="en-US" sz="2600" dirty="0" smtClean="0"/>
              <a:t>Actions – Types of actions</a:t>
            </a:r>
          </a:p>
          <a:p>
            <a:r>
              <a:rPr lang="en-US" sz="2600" dirty="0" smtClean="0"/>
              <a:t>Example</a:t>
            </a:r>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026550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latin typeface="+mn-lt"/>
              </a:rPr>
              <a:t>Introduction</a:t>
            </a:r>
            <a:endParaRPr lang="en-IN" b="1" dirty="0">
              <a:solidFill>
                <a:srgbClr val="FF0000"/>
              </a:solidFill>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p:txBody>
          <a:bodyPr/>
          <a:lstStyle/>
          <a:p>
            <a:r>
              <a:rPr lang="en-US" b="1" dirty="0" smtClean="0"/>
              <a:t>Power Automate</a:t>
            </a:r>
            <a:r>
              <a:rPr lang="en-US" dirty="0" smtClean="0"/>
              <a:t>, previously known as Microsoft Flow, is a cloud-based service developed by Microsoft that allows users to automate workflows and integrate applications and services. </a:t>
            </a:r>
          </a:p>
          <a:p>
            <a:r>
              <a:rPr lang="en-US" dirty="0" smtClean="0"/>
              <a:t>It is part of the Microsoft Power Platform, which also includes Power Apps, Power BI, Power Pages and Power Virtual Agents</a:t>
            </a:r>
            <a:endParaRPr lang="en-IN" dirty="0"/>
          </a:p>
        </p:txBody>
      </p:sp>
      <p:pic>
        <p:nvPicPr>
          <p:cNvPr id="2050" name="Picture 2" descr="Why is Power Automate the best business tool of 20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7307" y="4413738"/>
            <a:ext cx="5926015" cy="222445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74039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What is </a:t>
            </a:r>
            <a:r>
              <a:rPr lang="en-US" dirty="0">
                <a:solidFill>
                  <a:srgbClr val="FF0000"/>
                </a:solidFill>
              </a:rPr>
              <a:t>P</a:t>
            </a:r>
            <a:r>
              <a:rPr lang="en-US" dirty="0" smtClean="0">
                <a:solidFill>
                  <a:srgbClr val="FF0000"/>
                </a:solidFill>
              </a:rPr>
              <a:t>ower Automate?</a:t>
            </a:r>
            <a:endParaRPr lang="en-IN" dirty="0">
              <a:solidFill>
                <a:srgbClr val="FF0000"/>
              </a:solidFill>
            </a:endParaRPr>
          </a:p>
        </p:txBody>
      </p:sp>
      <p:sp>
        <p:nvSpPr>
          <p:cNvPr id="3" name="Content Placeholder 2"/>
          <p:cNvSpPr>
            <a:spLocks noGrp="1"/>
          </p:cNvSpPr>
          <p:nvPr>
            <p:ph sz="half" idx="1"/>
          </p:nvPr>
        </p:nvSpPr>
        <p:spPr/>
        <p:txBody>
          <a:bodyPr/>
          <a:lstStyle/>
          <a:p>
            <a:r>
              <a:rPr lang="en-US" dirty="0" smtClean="0"/>
              <a:t>Power Automate is designed to help users automate repetitive tasks and processes without requiring extensive coding knowledge.</a:t>
            </a:r>
          </a:p>
          <a:p>
            <a:r>
              <a:rPr lang="en-US" dirty="0" smtClean="0"/>
              <a:t> It enables users to create workflows that connect various applications and services, facilitating seamless data transfer, notifications, and task automation.</a:t>
            </a:r>
            <a:endParaRPr lang="en-IN" dirty="0"/>
          </a:p>
        </p:txBody>
      </p:sp>
      <p:pic>
        <p:nvPicPr>
          <p:cNvPr id="6" name="Picture 2" descr="https://promx.net/wp-content/uploads/2024/01/img-1-1024x561.jp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3788" y="2088318"/>
            <a:ext cx="5677421" cy="37028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862678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122485"/>
          </a:xfrm>
        </p:spPr>
        <p:txBody>
          <a:bodyPr/>
          <a:lstStyle/>
          <a:p>
            <a:r>
              <a:rPr lang="en-IN" b="1" dirty="0" smtClean="0">
                <a:solidFill>
                  <a:srgbClr val="FF0000"/>
                </a:solidFill>
              </a:rPr>
              <a:t>Key Features </a:t>
            </a:r>
            <a:endParaRPr lang="en-IN" b="1" dirty="0">
              <a:solidFill>
                <a:srgbClr val="FF0000"/>
              </a:solidFill>
            </a:endParaRPr>
          </a:p>
        </p:txBody>
      </p:sp>
      <p:sp>
        <p:nvSpPr>
          <p:cNvPr id="3" name="Content Placeholder 2"/>
          <p:cNvSpPr>
            <a:spLocks noGrp="1"/>
          </p:cNvSpPr>
          <p:nvPr>
            <p:ph idx="1"/>
          </p:nvPr>
        </p:nvSpPr>
        <p:spPr>
          <a:xfrm>
            <a:off x="838200" y="1969477"/>
            <a:ext cx="10515600" cy="4360985"/>
          </a:xfrm>
        </p:spPr>
        <p:txBody>
          <a:bodyPr>
            <a:normAutofit/>
          </a:bodyPr>
          <a:lstStyle/>
          <a:p>
            <a:pPr>
              <a:buFont typeface="Wingdings" panose="05000000000000000000" pitchFamily="2" charset="2"/>
              <a:buChar char="Ø"/>
            </a:pPr>
            <a:r>
              <a:rPr lang="en-US" b="1" dirty="0" smtClean="0">
                <a:solidFill>
                  <a:srgbClr val="00B0F0"/>
                </a:solidFill>
              </a:rPr>
              <a:t>Automated Workflows:</a:t>
            </a:r>
            <a:endParaRPr lang="en-US" dirty="0" smtClean="0">
              <a:solidFill>
                <a:srgbClr val="00B0F0"/>
              </a:solidFill>
            </a:endParaRPr>
          </a:p>
          <a:p>
            <a:pPr lvl="1">
              <a:lnSpc>
                <a:spcPct val="100000"/>
              </a:lnSpc>
            </a:pPr>
            <a:r>
              <a:rPr lang="en-US" sz="2000" dirty="0" smtClean="0"/>
              <a:t>Power Automate enables users to create workflows that automate repetitive tasks. </a:t>
            </a:r>
          </a:p>
          <a:p>
            <a:pPr>
              <a:buFont typeface="Wingdings" panose="05000000000000000000" pitchFamily="2" charset="2"/>
              <a:buChar char="Ø"/>
            </a:pPr>
            <a:r>
              <a:rPr lang="en-US" b="1" dirty="0" smtClean="0">
                <a:solidFill>
                  <a:srgbClr val="00B0F0"/>
                </a:solidFill>
              </a:rPr>
              <a:t>Integration with Multiple Services:</a:t>
            </a:r>
            <a:endParaRPr lang="en-US" dirty="0" smtClean="0">
              <a:solidFill>
                <a:srgbClr val="00B0F0"/>
              </a:solidFill>
            </a:endParaRPr>
          </a:p>
          <a:p>
            <a:pPr lvl="1">
              <a:lnSpc>
                <a:spcPct val="100000"/>
              </a:lnSpc>
            </a:pPr>
            <a:r>
              <a:rPr lang="en-US" sz="2000" dirty="0" smtClean="0"/>
              <a:t>It supports integration with numerous applications and services, including Microsoft 365, Dynamics 365, SharePoint, and various third-party services like Dropbox, Google Drive, and Slack. </a:t>
            </a:r>
          </a:p>
          <a:p>
            <a:pPr>
              <a:buFont typeface="Wingdings" panose="05000000000000000000" pitchFamily="2" charset="2"/>
              <a:buChar char="Ø"/>
            </a:pPr>
            <a:r>
              <a:rPr lang="en-US" b="1" dirty="0" smtClean="0">
                <a:solidFill>
                  <a:srgbClr val="00B0F0"/>
                </a:solidFill>
              </a:rPr>
              <a:t>Pre-built Templates:</a:t>
            </a:r>
            <a:endParaRPr lang="en-US" dirty="0" smtClean="0">
              <a:solidFill>
                <a:srgbClr val="00B0F0"/>
              </a:solidFill>
            </a:endParaRPr>
          </a:p>
          <a:p>
            <a:pPr lvl="1">
              <a:lnSpc>
                <a:spcPct val="100000"/>
              </a:lnSpc>
            </a:pPr>
            <a:r>
              <a:rPr lang="en-US" sz="2000" dirty="0" smtClean="0"/>
              <a:t>Power Automate offers a wide range of pre-built templates for common workflows, which can be customized to fit specific needs. This feature helps users quickly implement automation without needing deep technical knowledge.</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340423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3190"/>
          </a:xfrm>
        </p:spPr>
        <p:txBody>
          <a:bodyPr>
            <a:normAutofit/>
          </a:bodyPr>
          <a:lstStyle/>
          <a:p>
            <a:r>
              <a:rPr lang="en-IN">
                <a:solidFill>
                  <a:srgbClr val="FF0000"/>
                </a:solidFill>
              </a:rPr>
              <a:t>Key Features </a:t>
            </a:r>
            <a:endParaRPr lang="en-IN" dirty="0"/>
          </a:p>
        </p:txBody>
      </p:sp>
      <p:sp>
        <p:nvSpPr>
          <p:cNvPr id="3" name="Content Placeholder 2"/>
          <p:cNvSpPr>
            <a:spLocks noGrp="1"/>
          </p:cNvSpPr>
          <p:nvPr>
            <p:ph idx="1"/>
          </p:nvPr>
        </p:nvSpPr>
        <p:spPr>
          <a:xfrm>
            <a:off x="838200" y="1679330"/>
            <a:ext cx="10515600" cy="4791807"/>
          </a:xfrm>
        </p:spPr>
        <p:txBody>
          <a:bodyPr>
            <a:normAutofit/>
          </a:bodyPr>
          <a:lstStyle/>
          <a:p>
            <a:pPr>
              <a:buFont typeface="Wingdings" panose="05000000000000000000" pitchFamily="2" charset="2"/>
              <a:buChar char="Ø"/>
            </a:pPr>
            <a:r>
              <a:rPr lang="en-US" b="1" dirty="0" smtClean="0">
                <a:solidFill>
                  <a:srgbClr val="00B0F0"/>
                </a:solidFill>
              </a:rPr>
              <a:t>Customizable Flow Creation:</a:t>
            </a:r>
            <a:endParaRPr lang="en-US" dirty="0" smtClean="0">
              <a:solidFill>
                <a:srgbClr val="00B0F0"/>
              </a:solidFill>
            </a:endParaRPr>
          </a:p>
          <a:p>
            <a:pPr lvl="1">
              <a:lnSpc>
                <a:spcPct val="100000"/>
              </a:lnSpc>
            </a:pPr>
            <a:r>
              <a:rPr lang="en-US" sz="2000" dirty="0" smtClean="0"/>
              <a:t>Users can build custom workflows using a drag-and-drop interface. </a:t>
            </a:r>
          </a:p>
          <a:p>
            <a:pPr>
              <a:buFont typeface="Wingdings" panose="05000000000000000000" pitchFamily="2" charset="2"/>
              <a:buChar char="Ø"/>
            </a:pPr>
            <a:r>
              <a:rPr lang="en-US" b="1" dirty="0" smtClean="0">
                <a:solidFill>
                  <a:srgbClr val="00B0F0"/>
                </a:solidFill>
              </a:rPr>
              <a:t>Triggers and Actions:</a:t>
            </a:r>
            <a:endParaRPr lang="en-US" dirty="0" smtClean="0">
              <a:solidFill>
                <a:srgbClr val="00B0F0"/>
              </a:solidFill>
            </a:endParaRPr>
          </a:p>
          <a:p>
            <a:pPr lvl="1">
              <a:lnSpc>
                <a:spcPct val="100000"/>
              </a:lnSpc>
            </a:pPr>
            <a:r>
              <a:rPr lang="en-US" sz="2000" dirty="0" smtClean="0"/>
              <a:t>Workflows in Power Automate are built around triggers (events that start the workflow) and actions (tasks performed as a result).</a:t>
            </a:r>
          </a:p>
          <a:p>
            <a:pPr>
              <a:buFont typeface="Wingdings" panose="05000000000000000000" pitchFamily="2" charset="2"/>
              <a:buChar char="Ø"/>
            </a:pPr>
            <a:r>
              <a:rPr lang="en-US" b="1" dirty="0" smtClean="0">
                <a:solidFill>
                  <a:srgbClr val="00B0F0"/>
                </a:solidFill>
              </a:rPr>
              <a:t>Business Process Flows:</a:t>
            </a:r>
            <a:endParaRPr lang="en-US" dirty="0" smtClean="0">
              <a:solidFill>
                <a:srgbClr val="00B0F0"/>
              </a:solidFill>
            </a:endParaRPr>
          </a:p>
          <a:p>
            <a:pPr lvl="1">
              <a:lnSpc>
                <a:spcPct val="100000"/>
              </a:lnSpc>
            </a:pPr>
            <a:r>
              <a:rPr lang="en-US" sz="2000" dirty="0" smtClean="0"/>
              <a:t>Power Automate supports more complex processes with business process flows, guiding users through a series of steps in a structured way.</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919572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Key Features </a:t>
            </a:r>
            <a:endParaRPr lang="en-IN" dirty="0"/>
          </a:p>
        </p:txBody>
      </p:sp>
      <p:sp>
        <p:nvSpPr>
          <p:cNvPr id="3" name="Content Placeholder 2"/>
          <p:cNvSpPr>
            <a:spLocks noGrp="1"/>
          </p:cNvSpPr>
          <p:nvPr>
            <p:ph idx="1"/>
          </p:nvPr>
        </p:nvSpPr>
        <p:spPr>
          <a:xfrm>
            <a:off x="913795" y="2096064"/>
            <a:ext cx="10353762" cy="3917874"/>
          </a:xfrm>
        </p:spPr>
        <p:txBody>
          <a:bodyPr/>
          <a:lstStyle/>
          <a:p>
            <a:pPr>
              <a:buFont typeface="Wingdings" panose="05000000000000000000" pitchFamily="2" charset="2"/>
              <a:buChar char="Ø"/>
            </a:pPr>
            <a:r>
              <a:rPr lang="en-US" b="1" dirty="0" smtClean="0">
                <a:solidFill>
                  <a:srgbClr val="00B0F0"/>
                </a:solidFill>
              </a:rPr>
              <a:t>Robotic Process Automation (RPA):</a:t>
            </a:r>
            <a:endParaRPr lang="en-US" dirty="0" smtClean="0">
              <a:solidFill>
                <a:srgbClr val="00B0F0"/>
              </a:solidFill>
            </a:endParaRPr>
          </a:p>
          <a:p>
            <a:pPr lvl="1">
              <a:lnSpc>
                <a:spcPct val="100000"/>
              </a:lnSpc>
            </a:pPr>
            <a:r>
              <a:rPr lang="en-US" sz="2000" dirty="0" smtClean="0"/>
              <a:t>It includes capabilities for RPA, which allows users to automate tasks that involve interacting with legacy systems or applications that do not have APIs.</a:t>
            </a:r>
          </a:p>
          <a:p>
            <a:pPr>
              <a:buFont typeface="Wingdings" panose="05000000000000000000" pitchFamily="2" charset="2"/>
              <a:buChar char="Ø"/>
            </a:pPr>
            <a:r>
              <a:rPr lang="en-US" b="1" dirty="0" smtClean="0">
                <a:solidFill>
                  <a:srgbClr val="00B0F0"/>
                </a:solidFill>
              </a:rPr>
              <a:t>Monitoring and Management:</a:t>
            </a:r>
            <a:endParaRPr lang="en-US" dirty="0" smtClean="0">
              <a:solidFill>
                <a:srgbClr val="00B0F0"/>
              </a:solidFill>
            </a:endParaRPr>
          </a:p>
          <a:p>
            <a:pPr lvl="1">
              <a:lnSpc>
                <a:spcPct val="100000"/>
              </a:lnSpc>
            </a:pPr>
            <a:r>
              <a:rPr lang="en-US" sz="2000" dirty="0" smtClean="0"/>
              <a:t>Power Automate provides tools for monitoring the performance of workflows, troubleshooting issues, and managing connections. </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14910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Components</a:t>
            </a:r>
            <a:endParaRPr lang="en-IN" b="1" dirty="0">
              <a:solidFill>
                <a:srgbClr val="FF0000"/>
              </a:solidFill>
            </a:endParaRPr>
          </a:p>
        </p:txBody>
      </p:sp>
      <p:sp>
        <p:nvSpPr>
          <p:cNvPr id="3" name="Content Placeholder 2"/>
          <p:cNvSpPr>
            <a:spLocks noGrp="1"/>
          </p:cNvSpPr>
          <p:nvPr>
            <p:ph idx="1"/>
          </p:nvPr>
        </p:nvSpPr>
        <p:spPr>
          <a:xfrm>
            <a:off x="913795" y="1811215"/>
            <a:ext cx="10353762" cy="4369777"/>
          </a:xfrm>
        </p:spPr>
        <p:txBody>
          <a:bodyPr>
            <a:normAutofit/>
          </a:bodyPr>
          <a:lstStyle/>
          <a:p>
            <a:pPr>
              <a:buFont typeface="Wingdings" panose="05000000000000000000" pitchFamily="2" charset="2"/>
              <a:buChar char="Ø"/>
            </a:pPr>
            <a:r>
              <a:rPr lang="en-US" b="1" dirty="0" smtClean="0">
                <a:solidFill>
                  <a:srgbClr val="00B0F0"/>
                </a:solidFill>
              </a:rPr>
              <a:t>Flows:</a:t>
            </a:r>
            <a:endParaRPr lang="en-US" dirty="0" smtClean="0">
              <a:solidFill>
                <a:srgbClr val="00B0F0"/>
              </a:solidFill>
            </a:endParaRPr>
          </a:p>
          <a:p>
            <a:pPr lvl="1"/>
            <a:r>
              <a:rPr lang="en-US" b="1" dirty="0" smtClean="0"/>
              <a:t>Automated Flows:</a:t>
            </a:r>
          </a:p>
          <a:p>
            <a:pPr marL="914400" lvl="2" indent="0">
              <a:buNone/>
            </a:pPr>
            <a:r>
              <a:rPr lang="en-US" dirty="0" smtClean="0"/>
              <a:t> Triggered by specific events or conditions (e.g., receiving an email, a new file in a folder).</a:t>
            </a:r>
          </a:p>
          <a:p>
            <a:pPr lvl="1"/>
            <a:r>
              <a:rPr lang="en-US" b="1" dirty="0" smtClean="0"/>
              <a:t>Instant Flows:</a:t>
            </a:r>
            <a:r>
              <a:rPr lang="en-US" dirty="0" smtClean="0"/>
              <a:t> </a:t>
            </a:r>
          </a:p>
          <a:p>
            <a:pPr marL="914400" lvl="2" indent="0">
              <a:buNone/>
            </a:pPr>
            <a:r>
              <a:rPr lang="en-US" dirty="0" smtClean="0"/>
              <a:t>Initiated manually by the user, such as through a button press in the Power Automate mobile app.</a:t>
            </a:r>
          </a:p>
          <a:p>
            <a:pPr lvl="1"/>
            <a:r>
              <a:rPr lang="en-US" b="1" dirty="0" smtClean="0"/>
              <a:t>Scheduled Flows:</a:t>
            </a:r>
          </a:p>
          <a:p>
            <a:pPr marL="914400" lvl="2" indent="0">
              <a:buNone/>
            </a:pPr>
            <a:r>
              <a:rPr lang="en-US" dirty="0" smtClean="0"/>
              <a:t> Run on a set schedule (e.g., daily, weekly) to perform tasks like data aggregation or report generation.</a:t>
            </a:r>
          </a:p>
          <a:p>
            <a:pPr lvl="1"/>
            <a:r>
              <a:rPr lang="en-US" b="1" dirty="0" smtClean="0"/>
              <a:t>Business Process Flows:</a:t>
            </a:r>
            <a:r>
              <a:rPr lang="en-US" dirty="0" smtClean="0"/>
              <a:t> </a:t>
            </a:r>
          </a:p>
          <a:p>
            <a:pPr marL="914400" lvl="2" indent="0">
              <a:buNone/>
            </a:pPr>
            <a:r>
              <a:rPr lang="en-US" dirty="0" smtClean="0"/>
              <a:t>Guide users through a set sequence of steps in a business process, ensuring consistency and compliance.</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034934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Components</a:t>
            </a:r>
            <a:endParaRPr lang="en-IN" dirty="0"/>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Ø"/>
            </a:pPr>
            <a:r>
              <a:rPr lang="en-US" b="1" dirty="0" smtClean="0">
                <a:solidFill>
                  <a:srgbClr val="00B0F0"/>
                </a:solidFill>
              </a:rPr>
              <a:t>Connectors:</a:t>
            </a:r>
            <a:endParaRPr lang="en-US" dirty="0" smtClean="0">
              <a:solidFill>
                <a:srgbClr val="00B0F0"/>
              </a:solidFill>
            </a:endParaRPr>
          </a:p>
          <a:p>
            <a:pPr lvl="1"/>
            <a:r>
              <a:rPr lang="en-US" dirty="0" smtClean="0"/>
              <a:t>These are pre-built integrations that allow Power Automate to connect to various applications and services. There are connectors for Microsoft services (e.g., SharePoint, Outlook, Dynamics 365) as well as many third-party services (e.g., Twitter, Salesforce, Dropbox).</a:t>
            </a:r>
          </a:p>
          <a:p>
            <a:pPr>
              <a:buFont typeface="Wingdings" panose="05000000000000000000" pitchFamily="2" charset="2"/>
              <a:buChar char="Ø"/>
            </a:pPr>
            <a:r>
              <a:rPr lang="en-US" b="1" dirty="0" smtClean="0">
                <a:solidFill>
                  <a:srgbClr val="00B0F0"/>
                </a:solidFill>
              </a:rPr>
              <a:t>Triggers and Actions:</a:t>
            </a:r>
            <a:endParaRPr lang="en-US" dirty="0" smtClean="0">
              <a:solidFill>
                <a:srgbClr val="00B0F0"/>
              </a:solidFill>
            </a:endParaRPr>
          </a:p>
          <a:p>
            <a:pPr lvl="1"/>
            <a:r>
              <a:rPr lang="en-US" b="1" dirty="0" smtClean="0"/>
              <a:t>Triggers:</a:t>
            </a:r>
            <a:r>
              <a:rPr lang="en-US" dirty="0" smtClean="0"/>
              <a:t> </a:t>
            </a:r>
          </a:p>
          <a:p>
            <a:pPr marL="914400" lvl="2" indent="0">
              <a:buNone/>
            </a:pPr>
            <a:r>
              <a:rPr lang="en-US" dirty="0" smtClean="0"/>
              <a:t>Events that start a workflow, such as receiving a new email or a change in a database record.</a:t>
            </a:r>
          </a:p>
          <a:p>
            <a:pPr lvl="1"/>
            <a:r>
              <a:rPr lang="en-US" b="1" dirty="0" smtClean="0"/>
              <a:t>Actions:</a:t>
            </a:r>
            <a:r>
              <a:rPr lang="en-US" dirty="0" smtClean="0"/>
              <a:t> </a:t>
            </a:r>
          </a:p>
          <a:p>
            <a:pPr marL="914400" lvl="2" indent="0">
              <a:buNone/>
            </a:pPr>
            <a:r>
              <a:rPr lang="en-US" dirty="0" smtClean="0"/>
              <a:t>Tasks that are performed as a result of the trigger, such as sending a notification, creating a file, or updating a database.</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419568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Components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solidFill>
                  <a:srgbClr val="00B0F0"/>
                </a:solidFill>
              </a:rPr>
              <a:t>Templates:</a:t>
            </a:r>
            <a:endParaRPr lang="en-US" dirty="0" smtClean="0">
              <a:solidFill>
                <a:srgbClr val="00B0F0"/>
              </a:solidFill>
            </a:endParaRPr>
          </a:p>
          <a:p>
            <a:pPr lvl="1"/>
            <a:r>
              <a:rPr lang="en-US" dirty="0" smtClean="0"/>
              <a:t>Power Automate provides a library of pre-built templates for common workflows. These templates can be customized to fit specific needs, making it easier for users to get started with automation.</a:t>
            </a:r>
          </a:p>
          <a:p>
            <a:pPr>
              <a:buFont typeface="Wingdings" panose="05000000000000000000" pitchFamily="2" charset="2"/>
              <a:buChar char="Ø"/>
            </a:pPr>
            <a:r>
              <a:rPr lang="en-US" b="1" dirty="0" smtClean="0">
                <a:solidFill>
                  <a:srgbClr val="00B0F0"/>
                </a:solidFill>
              </a:rPr>
              <a:t>User Interface:</a:t>
            </a:r>
            <a:endParaRPr lang="en-US" dirty="0" smtClean="0">
              <a:solidFill>
                <a:srgbClr val="00B0F0"/>
              </a:solidFill>
            </a:endParaRPr>
          </a:p>
          <a:p>
            <a:pPr lvl="1"/>
            <a:r>
              <a:rPr lang="en-US" dirty="0" smtClean="0"/>
              <a:t>The Power Automate interface is user-friendly, featuring a drag-and-drop workflow designer that allows users to create and customize workflows with minimal technical expertise.</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765900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556846"/>
            <a:ext cx="10353761" cy="1326321"/>
          </a:xfrm>
        </p:spPr>
        <p:txBody>
          <a:bodyPr/>
          <a:lstStyle/>
          <a:p>
            <a:r>
              <a:rPr lang="en-US" dirty="0">
                <a:solidFill>
                  <a:srgbClr val="FF0000"/>
                </a:solidFill>
              </a:rPr>
              <a:t>Components</a:t>
            </a:r>
            <a:endParaRPr lang="en-IN" dirty="0"/>
          </a:p>
        </p:txBody>
      </p:sp>
      <p:pic>
        <p:nvPicPr>
          <p:cNvPr id="3074" name="Picture 2" descr="A Beginners Guide to Creating Custom Connectors for Power Apps and Power  Automate Eric Shupp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0877" y="2078763"/>
            <a:ext cx="7881612" cy="443340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289205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Benefits</a:t>
            </a:r>
            <a:endParaRPr lang="en-IN" dirty="0">
              <a:solidFill>
                <a:srgbClr val="FF0000"/>
              </a:solidFill>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solidFill>
                  <a:srgbClr val="00B0F0"/>
                </a:solidFill>
              </a:rPr>
              <a:t>Increased Efficiency:</a:t>
            </a:r>
            <a:endParaRPr lang="en-US" dirty="0" smtClean="0">
              <a:solidFill>
                <a:srgbClr val="00B0F0"/>
              </a:solidFill>
            </a:endParaRPr>
          </a:p>
          <a:p>
            <a:pPr lvl="1"/>
            <a:r>
              <a:rPr lang="en-US" dirty="0" smtClean="0"/>
              <a:t>By automating repetitive tasks, Power Automate helps save time and reduce the risk of human error, allowing employees to focus on more strategic activities.</a:t>
            </a:r>
          </a:p>
          <a:p>
            <a:pPr>
              <a:buFont typeface="Wingdings" panose="05000000000000000000" pitchFamily="2" charset="2"/>
              <a:buChar char="Ø"/>
            </a:pPr>
            <a:r>
              <a:rPr lang="en-US" b="1" dirty="0" smtClean="0">
                <a:solidFill>
                  <a:srgbClr val="00B0F0"/>
                </a:solidFill>
              </a:rPr>
              <a:t>Consistency and Standardization:</a:t>
            </a:r>
            <a:endParaRPr lang="en-US" dirty="0" smtClean="0">
              <a:solidFill>
                <a:srgbClr val="00B0F0"/>
              </a:solidFill>
            </a:endParaRPr>
          </a:p>
          <a:p>
            <a:pPr lvl="1"/>
            <a:r>
              <a:rPr lang="en-US" dirty="0" smtClean="0"/>
              <a:t>Automation ensures that processes are executed consistently and according to predefined rules, which helps maintain quality and compliance.</a:t>
            </a:r>
          </a:p>
          <a:p>
            <a:pPr>
              <a:buFont typeface="Wingdings" panose="05000000000000000000" pitchFamily="2" charset="2"/>
              <a:buChar char="Ø"/>
            </a:pPr>
            <a:r>
              <a:rPr lang="en-US" b="1" dirty="0" smtClean="0">
                <a:solidFill>
                  <a:srgbClr val="00B0F0"/>
                </a:solidFill>
              </a:rPr>
              <a:t>Enhanced Productivity:</a:t>
            </a:r>
            <a:endParaRPr lang="en-US" dirty="0" smtClean="0">
              <a:solidFill>
                <a:srgbClr val="00B0F0"/>
              </a:solidFill>
            </a:endParaRPr>
          </a:p>
          <a:p>
            <a:pPr lvl="1"/>
            <a:r>
              <a:rPr lang="en-US" dirty="0" smtClean="0"/>
              <a:t>Automating routine processes can lead to faster completion of tasks and improve overall productivity within an organization.</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591240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Benefits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solidFill>
                  <a:srgbClr val="00B0F0"/>
                </a:solidFill>
              </a:rPr>
              <a:t>Scalability:</a:t>
            </a:r>
            <a:endParaRPr lang="en-US" dirty="0" smtClean="0">
              <a:solidFill>
                <a:srgbClr val="00B0F0"/>
              </a:solidFill>
            </a:endParaRPr>
          </a:p>
          <a:p>
            <a:pPr lvl="1"/>
            <a:r>
              <a:rPr lang="en-US" dirty="0" smtClean="0"/>
              <a:t>Power Automate can scale to handle a growing number of tasks and workflows, making it suitable for both small businesses and large enterprises.</a:t>
            </a:r>
          </a:p>
          <a:p>
            <a:pPr>
              <a:buFont typeface="Wingdings" panose="05000000000000000000" pitchFamily="2" charset="2"/>
              <a:buChar char="Ø"/>
            </a:pPr>
            <a:r>
              <a:rPr lang="en-US" b="1" dirty="0" smtClean="0">
                <a:solidFill>
                  <a:srgbClr val="00B0F0"/>
                </a:solidFill>
              </a:rPr>
              <a:t>Improved Collaboration:</a:t>
            </a:r>
            <a:endParaRPr lang="en-US" dirty="0" smtClean="0">
              <a:solidFill>
                <a:srgbClr val="00B0F0"/>
              </a:solidFill>
            </a:endParaRPr>
          </a:p>
          <a:p>
            <a:pPr lvl="1"/>
            <a:r>
              <a:rPr lang="en-US" dirty="0" smtClean="0"/>
              <a:t>By integrating with various communication and collaboration tools, Power Automate can streamline processes that involve multiple team members or departments.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948595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FF00"/>
                </a:solidFill>
              </a:rPr>
              <a:t>Getting Started with Power Automate:</a:t>
            </a:r>
            <a:endParaRPr lang="en-IN" dirty="0">
              <a:solidFill>
                <a:srgbClr val="FFFF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76364303"/>
              </p:ext>
            </p:extLst>
          </p:nvPr>
        </p:nvGraphicFramePr>
        <p:xfrm>
          <a:off x="597878" y="2180492"/>
          <a:ext cx="10840914" cy="39477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77246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Power automate flow types</a:t>
            </a:r>
            <a:endParaRPr lang="en-IN"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solidFill>
                  <a:srgbClr val="00B0F0"/>
                </a:solidFill>
              </a:rPr>
              <a:t>1. Automated Flows</a:t>
            </a:r>
          </a:p>
          <a:p>
            <a:pPr lvl="1"/>
            <a:r>
              <a:rPr lang="en-US" b="1" dirty="0" smtClean="0"/>
              <a:t>Purpose:</a:t>
            </a:r>
            <a:r>
              <a:rPr lang="en-US" dirty="0" smtClean="0"/>
              <a:t> These flows run automatically in response to specific triggers or events.</a:t>
            </a:r>
          </a:p>
          <a:p>
            <a:r>
              <a:rPr lang="en-US" b="1" dirty="0" smtClean="0"/>
              <a:t>Examples:</a:t>
            </a:r>
            <a:endParaRPr lang="en-US" dirty="0" smtClean="0"/>
          </a:p>
          <a:p>
            <a:pPr lvl="1"/>
            <a:r>
              <a:rPr lang="en-US" b="1" dirty="0" smtClean="0"/>
              <a:t>Receive a Notification:</a:t>
            </a:r>
            <a:r>
              <a:rPr lang="en-US" dirty="0" smtClean="0"/>
              <a:t> Automatically send a notification to your mobile device whenever a new item is added to a SharePoint list.</a:t>
            </a:r>
          </a:p>
          <a:p>
            <a:pPr lvl="1"/>
            <a:r>
              <a:rPr lang="en-US" b="1" dirty="0" smtClean="0"/>
              <a:t>Data Synchronization:</a:t>
            </a:r>
            <a:r>
              <a:rPr lang="en-US" dirty="0" smtClean="0"/>
              <a:t> Update a database record whenever a new email arrives in your inbox.</a:t>
            </a:r>
          </a:p>
          <a:p>
            <a:r>
              <a:rPr lang="en-US" b="1" dirty="0" smtClean="0"/>
              <a:t>Use Cases:</a:t>
            </a:r>
            <a:endParaRPr lang="en-US" dirty="0" smtClean="0"/>
          </a:p>
          <a:p>
            <a:pPr lvl="1"/>
            <a:r>
              <a:rPr lang="en-US" dirty="0" smtClean="0"/>
              <a:t>Monitoring changes in data.</a:t>
            </a:r>
          </a:p>
          <a:p>
            <a:pPr lvl="1"/>
            <a:r>
              <a:rPr lang="en-US" dirty="0" smtClean="0"/>
              <a:t>Automating responses to external events.</a:t>
            </a:r>
          </a:p>
          <a:p>
            <a:pPr lvl="1"/>
            <a:r>
              <a:rPr lang="en-US" dirty="0" smtClean="0"/>
              <a:t>Streamlining repetitive tasks.</a:t>
            </a:r>
          </a:p>
          <a:p>
            <a:pPr lvl="1"/>
            <a:endParaRPr lang="en-US" dirty="0" smtClean="0"/>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06079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Power automate flow types</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solidFill>
                  <a:srgbClr val="00B0F0"/>
                </a:solidFill>
              </a:rPr>
              <a:t>2. Instant Flows</a:t>
            </a:r>
          </a:p>
          <a:p>
            <a:pPr lvl="1"/>
            <a:r>
              <a:rPr lang="en-US" b="1" dirty="0" smtClean="0"/>
              <a:t>Purpose:</a:t>
            </a:r>
            <a:r>
              <a:rPr lang="en-US" dirty="0" smtClean="0"/>
              <a:t> Instant flows are triggered manually by the user, often via a button or command.</a:t>
            </a:r>
          </a:p>
          <a:p>
            <a:r>
              <a:rPr lang="en-US" b="1" dirty="0" smtClean="0"/>
              <a:t>Examples:</a:t>
            </a:r>
            <a:endParaRPr lang="en-US" dirty="0" smtClean="0"/>
          </a:p>
          <a:p>
            <a:pPr lvl="1"/>
            <a:r>
              <a:rPr lang="en-US" b="1" dirty="0" smtClean="0"/>
              <a:t>Button Flow:</a:t>
            </a:r>
            <a:r>
              <a:rPr lang="en-US" dirty="0" smtClean="0"/>
              <a:t> Create a button in the Power Automate mobile app to quickly send a pre-written email.</a:t>
            </a:r>
          </a:p>
          <a:p>
            <a:pPr lvl="1"/>
            <a:r>
              <a:rPr lang="en-US" b="1" dirty="0" smtClean="0"/>
              <a:t>Manual Approval:</a:t>
            </a:r>
            <a:r>
              <a:rPr lang="en-US" dirty="0" smtClean="0"/>
              <a:t> Initiate an approval process for a document or request with a single click.</a:t>
            </a:r>
          </a:p>
          <a:p>
            <a:r>
              <a:rPr lang="en-US" b="1" dirty="0" smtClean="0"/>
              <a:t>Use Cases:</a:t>
            </a:r>
            <a:endParaRPr lang="en-US" dirty="0" smtClean="0"/>
          </a:p>
          <a:p>
            <a:pPr lvl="1"/>
            <a:r>
              <a:rPr lang="en-US" dirty="0" smtClean="0"/>
              <a:t>Performing tasks that require user initiation.</a:t>
            </a:r>
          </a:p>
          <a:p>
            <a:pPr lvl="1"/>
            <a:r>
              <a:rPr lang="en-US" dirty="0" smtClean="0"/>
              <a:t>Providing quick access to commonly used actions.</a:t>
            </a:r>
          </a:p>
          <a:p>
            <a:pPr lvl="1"/>
            <a:r>
              <a:rPr lang="en-US" dirty="0" smtClean="0"/>
              <a:t>Simplifying manual processes.</a:t>
            </a:r>
          </a:p>
          <a:p>
            <a:pPr lvl="1"/>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200216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Power automate flow types</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solidFill>
                  <a:srgbClr val="00B0F0"/>
                </a:solidFill>
              </a:rPr>
              <a:t>3. Scheduled Flows</a:t>
            </a:r>
          </a:p>
          <a:p>
            <a:pPr lvl="1"/>
            <a:r>
              <a:rPr lang="en-US" b="1" dirty="0" smtClean="0"/>
              <a:t>Purpose:</a:t>
            </a:r>
            <a:r>
              <a:rPr lang="en-US" dirty="0" smtClean="0"/>
              <a:t> These flows run at predefined intervals or on a specific schedule.</a:t>
            </a:r>
          </a:p>
          <a:p>
            <a:r>
              <a:rPr lang="en-US" b="1" dirty="0" smtClean="0"/>
              <a:t>Examples:</a:t>
            </a:r>
            <a:endParaRPr lang="en-US" dirty="0" smtClean="0"/>
          </a:p>
          <a:p>
            <a:pPr lvl="1"/>
            <a:r>
              <a:rPr lang="en-US" b="1" dirty="0" smtClean="0"/>
              <a:t>Daily Report:</a:t>
            </a:r>
            <a:r>
              <a:rPr lang="en-US" dirty="0" smtClean="0"/>
              <a:t> Generate and email a daily summary report every morning at 8 AM.</a:t>
            </a:r>
          </a:p>
          <a:p>
            <a:pPr lvl="1"/>
            <a:r>
              <a:rPr lang="en-US" b="1" dirty="0" smtClean="0"/>
              <a:t>Weekly Backup:</a:t>
            </a:r>
            <a:r>
              <a:rPr lang="en-US" dirty="0" smtClean="0"/>
              <a:t> Create a backup of important files to a cloud storage service every Friday at midnight.</a:t>
            </a:r>
          </a:p>
          <a:p>
            <a:r>
              <a:rPr lang="en-US" b="1" dirty="0" smtClean="0"/>
              <a:t>Use Cases:</a:t>
            </a:r>
            <a:endParaRPr lang="en-US" dirty="0" smtClean="0"/>
          </a:p>
          <a:p>
            <a:pPr lvl="1"/>
            <a:r>
              <a:rPr lang="en-US" dirty="0" smtClean="0"/>
              <a:t>Automating periodic tasks.</a:t>
            </a:r>
          </a:p>
          <a:p>
            <a:pPr lvl="1"/>
            <a:r>
              <a:rPr lang="en-US" dirty="0" smtClean="0"/>
              <a:t>Scheduling regular reports or notifications.</a:t>
            </a:r>
          </a:p>
          <a:p>
            <a:pPr lvl="1"/>
            <a:r>
              <a:rPr lang="en-US" dirty="0" smtClean="0"/>
              <a:t>Performing routine data backups.</a:t>
            </a:r>
          </a:p>
          <a:p>
            <a:pPr marL="457200" lvl="1"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217856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Power automate flow types</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US" sz="2100" b="1" dirty="0" smtClean="0">
                <a:solidFill>
                  <a:srgbClr val="00B0F0"/>
                </a:solidFill>
              </a:rPr>
              <a:t>4. Business Process Flows</a:t>
            </a:r>
          </a:p>
          <a:p>
            <a:pPr lvl="1"/>
            <a:r>
              <a:rPr lang="en-US" b="1" dirty="0" smtClean="0"/>
              <a:t>Purpose:</a:t>
            </a:r>
            <a:r>
              <a:rPr lang="en-US" dirty="0" smtClean="0"/>
              <a:t> Business process flows guide users through a series of steps to ensure consistency and compliance in a process.</a:t>
            </a:r>
          </a:p>
          <a:p>
            <a:r>
              <a:rPr lang="en-US" b="1" dirty="0" smtClean="0"/>
              <a:t>Examples:</a:t>
            </a:r>
            <a:endParaRPr lang="en-US" dirty="0" smtClean="0"/>
          </a:p>
          <a:p>
            <a:pPr lvl="1"/>
            <a:r>
              <a:rPr lang="en-US" b="1" dirty="0" smtClean="0"/>
              <a:t>Sales Process:</a:t>
            </a:r>
            <a:r>
              <a:rPr lang="en-US" dirty="0" smtClean="0"/>
              <a:t> Guide a sales representative through the stages of the sales pipeline, from lead capture to closing.</a:t>
            </a:r>
          </a:p>
          <a:p>
            <a:pPr lvl="1"/>
            <a:r>
              <a:rPr lang="en-US" b="1" dirty="0" smtClean="0"/>
              <a:t>Onboarding:</a:t>
            </a:r>
            <a:r>
              <a:rPr lang="en-US" dirty="0" smtClean="0"/>
              <a:t> Standardize and automate the employee onboarding process, ensuring all necessary steps are followed.</a:t>
            </a:r>
          </a:p>
          <a:p>
            <a:r>
              <a:rPr lang="en-US" b="1" dirty="0" smtClean="0"/>
              <a:t>Use Cases:</a:t>
            </a:r>
            <a:endParaRPr lang="en-US" dirty="0" smtClean="0"/>
          </a:p>
          <a:p>
            <a:pPr lvl="1"/>
            <a:r>
              <a:rPr lang="en-US" dirty="0" smtClean="0"/>
              <a:t>Ensuring adherence to standardized processes.</a:t>
            </a:r>
          </a:p>
          <a:p>
            <a:pPr lvl="1"/>
            <a:r>
              <a:rPr lang="en-US" dirty="0" smtClean="0"/>
              <a:t>Facilitating complex workflows involving multiple steps and approvals.</a:t>
            </a:r>
          </a:p>
          <a:p>
            <a:pPr lvl="1"/>
            <a:r>
              <a:rPr lang="en-US" dirty="0" smtClean="0"/>
              <a:t>Enhancing compliance with organizational procedures.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90907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Power automate flow types</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b="1" dirty="0" smtClean="0">
                <a:solidFill>
                  <a:srgbClr val="00B0F0"/>
                </a:solidFill>
              </a:rPr>
              <a:t>5.</a:t>
            </a:r>
            <a:r>
              <a:rPr lang="en-IN" dirty="0" smtClean="0">
                <a:solidFill>
                  <a:srgbClr val="00B0F0"/>
                </a:solidFill>
              </a:rPr>
              <a:t> </a:t>
            </a:r>
            <a:r>
              <a:rPr lang="en-US" b="1" dirty="0" smtClean="0">
                <a:solidFill>
                  <a:srgbClr val="00B0F0"/>
                </a:solidFill>
              </a:rPr>
              <a:t>UI Flows (Robotic Process Automation - RPA)</a:t>
            </a:r>
          </a:p>
          <a:p>
            <a:pPr lvl="1"/>
            <a:r>
              <a:rPr lang="en-US" b="1" dirty="0" smtClean="0"/>
              <a:t>Purpose:</a:t>
            </a:r>
            <a:r>
              <a:rPr lang="en-US" dirty="0" smtClean="0"/>
              <a:t> UI flows automate interactions with user interfaces of applications, particularly those without APIs or automation-friendly interfaces.</a:t>
            </a:r>
          </a:p>
          <a:p>
            <a:r>
              <a:rPr lang="en-US" b="1" dirty="0" smtClean="0"/>
              <a:t>Examples:</a:t>
            </a:r>
            <a:endParaRPr lang="en-US" dirty="0" smtClean="0"/>
          </a:p>
          <a:p>
            <a:pPr lvl="1"/>
            <a:r>
              <a:rPr lang="en-US" b="1" dirty="0" smtClean="0"/>
              <a:t>Legacy Systems:</a:t>
            </a:r>
            <a:r>
              <a:rPr lang="en-US" dirty="0" smtClean="0"/>
              <a:t> Automate data entry in a legacy system that lacks modern APIs.</a:t>
            </a:r>
          </a:p>
          <a:p>
            <a:pPr lvl="1"/>
            <a:r>
              <a:rPr lang="en-US" b="1" dirty="0" smtClean="0"/>
              <a:t>Web Scraping:</a:t>
            </a:r>
            <a:r>
              <a:rPr lang="en-US" dirty="0" smtClean="0"/>
              <a:t> Extract data from a web application and process it for reporting or analysis.</a:t>
            </a:r>
          </a:p>
          <a:p>
            <a:r>
              <a:rPr lang="en-US" b="1" dirty="0" smtClean="0"/>
              <a:t>Use Cases:</a:t>
            </a:r>
            <a:endParaRPr lang="en-US" dirty="0" smtClean="0"/>
          </a:p>
          <a:p>
            <a:pPr lvl="1"/>
            <a:r>
              <a:rPr lang="en-US" dirty="0" smtClean="0"/>
              <a:t>Automating tasks in older or non-digital systems.</a:t>
            </a:r>
          </a:p>
          <a:p>
            <a:pPr lvl="1"/>
            <a:r>
              <a:rPr lang="en-US" dirty="0" smtClean="0"/>
              <a:t>Handling repetitive tasks that involve interacting with software interfaces.</a:t>
            </a:r>
          </a:p>
          <a:p>
            <a:pPr lvl="1"/>
            <a:r>
              <a:rPr lang="en-US" dirty="0" smtClean="0"/>
              <a:t>Performing complex data extraction and manipulation.</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894436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Power automate flow types</a:t>
            </a:r>
            <a:endParaRPr lang="en-IN" dirty="0">
              <a:solidFill>
                <a:srgbClr val="FF0000"/>
              </a:solidFill>
            </a:endParaRPr>
          </a:p>
        </p:txBody>
      </p:sp>
      <p:sp>
        <p:nvSpPr>
          <p:cNvPr id="3" name="Content Placeholder 2"/>
          <p:cNvSpPr>
            <a:spLocks noGrp="1"/>
          </p:cNvSpPr>
          <p:nvPr>
            <p:ph idx="1"/>
          </p:nvPr>
        </p:nvSpPr>
        <p:spPr/>
        <p:txBody>
          <a:bodyPr>
            <a:normAutofit/>
          </a:bodyPr>
          <a:lstStyle/>
          <a:p>
            <a:pPr marL="0" indent="0">
              <a:buNone/>
            </a:pPr>
            <a:r>
              <a:rPr lang="en-US" b="1" dirty="0" smtClean="0">
                <a:solidFill>
                  <a:srgbClr val="00B0F0"/>
                </a:solidFill>
              </a:rPr>
              <a:t>Flow Types:</a:t>
            </a:r>
          </a:p>
          <a:p>
            <a:pPr lvl="1"/>
            <a:r>
              <a:rPr lang="en-US" b="1" dirty="0" smtClean="0">
                <a:solidFill>
                  <a:schemeClr val="accent6">
                    <a:lumMod val="60000"/>
                    <a:lumOff val="40000"/>
                  </a:schemeClr>
                </a:solidFill>
              </a:rPr>
              <a:t>Cloud Flows:</a:t>
            </a:r>
            <a:r>
              <a:rPr lang="en-US" dirty="0" smtClean="0">
                <a:solidFill>
                  <a:schemeClr val="accent6">
                    <a:lumMod val="60000"/>
                    <a:lumOff val="40000"/>
                  </a:schemeClr>
                </a:solidFill>
              </a:rPr>
              <a:t> </a:t>
            </a:r>
            <a:r>
              <a:rPr lang="en-US" dirty="0" smtClean="0"/>
              <a:t>These are a broader category that includes automated, instant, and scheduled flows, designed to work with cloud-based applications and services.</a:t>
            </a:r>
          </a:p>
          <a:p>
            <a:pPr lvl="1"/>
            <a:r>
              <a:rPr lang="en-US" b="1" dirty="0" smtClean="0">
                <a:solidFill>
                  <a:schemeClr val="accent6">
                    <a:lumMod val="60000"/>
                    <a:lumOff val="40000"/>
                  </a:schemeClr>
                </a:solidFill>
              </a:rPr>
              <a:t>Desktop Flows:</a:t>
            </a:r>
            <a:r>
              <a:rPr lang="en-US" dirty="0" smtClean="0">
                <a:solidFill>
                  <a:schemeClr val="accent6">
                    <a:lumMod val="60000"/>
                    <a:lumOff val="40000"/>
                  </a:schemeClr>
                </a:solidFill>
              </a:rPr>
              <a:t> </a:t>
            </a:r>
            <a:r>
              <a:rPr lang="en-US" dirty="0" smtClean="0"/>
              <a:t>Part of Power Automate Desktop, these flows are designed for automating tasks on a local computer.</a:t>
            </a:r>
          </a:p>
          <a:p>
            <a:pPr lvl="2"/>
            <a:endParaRPr lang="en-US" dirty="0" smtClean="0"/>
          </a:p>
          <a:p>
            <a:pPr>
              <a:buFont typeface="Wingdings" panose="05000000000000000000" pitchFamily="2" charset="2"/>
              <a:buChar char="v"/>
            </a:pPr>
            <a:r>
              <a:rPr lang="en-US" dirty="0" smtClean="0"/>
              <a:t> Each type of flow in Power Automate is designed to meet different automation needs,  enabling users to streamline tasks, enhance productivity, and integrate various systems and services effectively.</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994779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C00000"/>
                </a:solidFill>
              </a:rPr>
              <a:t>Desktop Flow Overview</a:t>
            </a:r>
            <a:endParaRPr lang="en-IN" dirty="0">
              <a:solidFill>
                <a:srgbClr val="C00000"/>
              </a:solidFill>
            </a:endParaRPr>
          </a:p>
        </p:txBody>
      </p:sp>
      <p:sp>
        <p:nvSpPr>
          <p:cNvPr id="3" name="Content Placeholder 2"/>
          <p:cNvSpPr>
            <a:spLocks noGrp="1"/>
          </p:cNvSpPr>
          <p:nvPr>
            <p:ph idx="1"/>
          </p:nvPr>
        </p:nvSpPr>
        <p:spPr/>
        <p:txBody>
          <a:bodyPr/>
          <a:lstStyle/>
          <a:p>
            <a:r>
              <a:rPr lang="en-US" b="1" dirty="0" smtClean="0"/>
              <a:t>Desktop Flows</a:t>
            </a:r>
            <a:r>
              <a:rPr lang="en-US" dirty="0" smtClean="0"/>
              <a:t> in Power Automate, also known as </a:t>
            </a:r>
            <a:r>
              <a:rPr lang="en-US" b="1" dirty="0" smtClean="0"/>
              <a:t>Power Automate Desktop</a:t>
            </a:r>
            <a:r>
              <a:rPr lang="en-US" dirty="0" smtClean="0"/>
              <a:t>, are designed to automate tasks and processes on your local computer. </a:t>
            </a:r>
          </a:p>
          <a:p>
            <a:r>
              <a:rPr lang="en-US" dirty="0" smtClean="0"/>
              <a:t>This feature is particularly useful for automating repetitive tasks that involve interactions with desktop applications or files that don’t have APIs or are difficult to integrate through cloud-based flows.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392134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Power automate flow types</a:t>
            </a:r>
            <a:endParaRPr lang="en-IN" dirty="0">
              <a:solidFill>
                <a:srgbClr val="FF0000"/>
              </a:solidFill>
            </a:endParaRPr>
          </a:p>
        </p:txBody>
      </p:sp>
      <p:pic>
        <p:nvPicPr>
          <p:cNvPr id="4098" name="Picture 2" descr="Power Automate Flow: Usage And Types Explained – Master Data Skills + AI"/>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4600" y="2095500"/>
            <a:ext cx="7262446" cy="390964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4140188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Triggers</a:t>
            </a:r>
            <a:endParaRPr lang="en-IN" dirty="0">
              <a:solidFill>
                <a:srgbClr val="C00000"/>
              </a:solidFill>
            </a:endParaRPr>
          </a:p>
        </p:txBody>
      </p:sp>
      <p:sp>
        <p:nvSpPr>
          <p:cNvPr id="3" name="Content Placeholder 2"/>
          <p:cNvSpPr>
            <a:spLocks noGrp="1"/>
          </p:cNvSpPr>
          <p:nvPr>
            <p:ph idx="1"/>
          </p:nvPr>
        </p:nvSpPr>
        <p:spPr/>
        <p:txBody>
          <a:bodyPr/>
          <a:lstStyle/>
          <a:p>
            <a:r>
              <a:rPr lang="en-US" dirty="0" smtClean="0"/>
              <a:t>In Power Automate, </a:t>
            </a:r>
            <a:r>
              <a:rPr lang="en-US" b="1" dirty="0" smtClean="0"/>
              <a:t>triggers</a:t>
            </a:r>
            <a:r>
              <a:rPr lang="en-US" dirty="0" smtClean="0"/>
              <a:t> are essential components that initiate workflows or flows.</a:t>
            </a:r>
          </a:p>
          <a:p>
            <a:r>
              <a:rPr lang="en-US" dirty="0" smtClean="0"/>
              <a:t> They are the events or conditions that cause a flow to start running. </a:t>
            </a:r>
          </a:p>
          <a:p>
            <a:r>
              <a:rPr lang="en-US" dirty="0" smtClean="0"/>
              <a:t>Understanding triggers is crucial for designing effective automation workflows, as they define when and why a flow should be executed.</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807843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C00000"/>
                </a:solidFill>
              </a:rPr>
              <a:t>Types of Triggers</a:t>
            </a:r>
            <a:endParaRPr lang="en-IN" dirty="0">
              <a:solidFill>
                <a:srgbClr val="C00000"/>
              </a:solidFill>
            </a:endParaRPr>
          </a:p>
        </p:txBody>
      </p:sp>
      <p:sp>
        <p:nvSpPr>
          <p:cNvPr id="3" name="Content Placeholder 2"/>
          <p:cNvSpPr>
            <a:spLocks noGrp="1"/>
          </p:cNvSpPr>
          <p:nvPr>
            <p:ph idx="1"/>
          </p:nvPr>
        </p:nvSpPr>
        <p:spPr/>
        <p:txBody>
          <a:bodyPr/>
          <a:lstStyle/>
          <a:p>
            <a:r>
              <a:rPr lang="en-US" b="1" dirty="0" smtClean="0">
                <a:solidFill>
                  <a:srgbClr val="00B050"/>
                </a:solidFill>
              </a:rPr>
              <a:t>Automatic Triggers:</a:t>
            </a:r>
            <a:endParaRPr lang="en-US" dirty="0" smtClean="0">
              <a:solidFill>
                <a:srgbClr val="00B050"/>
              </a:solidFill>
            </a:endParaRPr>
          </a:p>
          <a:p>
            <a:pPr lvl="1"/>
            <a:r>
              <a:rPr lang="en-US" b="1" dirty="0" smtClean="0">
                <a:solidFill>
                  <a:schemeClr val="accent1">
                    <a:lumMod val="40000"/>
                    <a:lumOff val="60000"/>
                  </a:schemeClr>
                </a:solidFill>
              </a:rPr>
              <a:t>Event-Based Triggers:</a:t>
            </a:r>
            <a:r>
              <a:rPr lang="en-US" dirty="0" smtClean="0">
                <a:solidFill>
                  <a:schemeClr val="accent1">
                    <a:lumMod val="40000"/>
                    <a:lumOff val="60000"/>
                  </a:schemeClr>
                </a:solidFill>
              </a:rPr>
              <a:t> </a:t>
            </a:r>
            <a:r>
              <a:rPr lang="en-US" dirty="0" smtClean="0"/>
              <a:t>These are triggered by specific events occurring in connected services or applications. </a:t>
            </a:r>
          </a:p>
          <a:p>
            <a:pPr lvl="1"/>
            <a:r>
              <a:rPr lang="en-US" dirty="0" smtClean="0"/>
              <a:t>For example, a trigger might activate when a new email arrives in your inbox, a file is uploaded to OneDrive, or a new item is added to a SharePoint list.</a:t>
            </a:r>
          </a:p>
          <a:p>
            <a:pPr lvl="2"/>
            <a:r>
              <a:rPr lang="en-US" b="1" dirty="0" smtClean="0">
                <a:solidFill>
                  <a:schemeClr val="accent1">
                    <a:lumMod val="40000"/>
                    <a:lumOff val="60000"/>
                  </a:schemeClr>
                </a:solidFill>
              </a:rPr>
              <a:t>Examples:</a:t>
            </a:r>
            <a:endParaRPr lang="en-US" dirty="0" smtClean="0">
              <a:solidFill>
                <a:schemeClr val="accent1">
                  <a:lumMod val="40000"/>
                  <a:lumOff val="60000"/>
                </a:schemeClr>
              </a:solidFill>
            </a:endParaRPr>
          </a:p>
          <a:p>
            <a:pPr lvl="3"/>
            <a:r>
              <a:rPr lang="en-US" sz="1600" dirty="0" smtClean="0"/>
              <a:t>When a new tweet is posted with a specific hashtag.</a:t>
            </a:r>
          </a:p>
          <a:p>
            <a:pPr lvl="3"/>
            <a:r>
              <a:rPr lang="en-US" sz="1600" dirty="0" smtClean="0"/>
              <a:t>When a new row is added to an Excel file.</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239213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 of Triggers</a:t>
            </a:r>
            <a:endParaRPr lang="en-IN" dirty="0">
              <a:solidFill>
                <a:srgbClr val="FF0000"/>
              </a:solidFill>
            </a:endParaRPr>
          </a:p>
        </p:txBody>
      </p:sp>
      <p:sp>
        <p:nvSpPr>
          <p:cNvPr id="3" name="Content Placeholder 2"/>
          <p:cNvSpPr>
            <a:spLocks noGrp="1"/>
          </p:cNvSpPr>
          <p:nvPr>
            <p:ph idx="1"/>
          </p:nvPr>
        </p:nvSpPr>
        <p:spPr/>
        <p:txBody>
          <a:bodyPr/>
          <a:lstStyle/>
          <a:p>
            <a:r>
              <a:rPr lang="en-US" b="1" dirty="0" smtClean="0">
                <a:solidFill>
                  <a:srgbClr val="00B050"/>
                </a:solidFill>
              </a:rPr>
              <a:t>Manual Triggers:</a:t>
            </a:r>
            <a:endParaRPr lang="en-US" dirty="0" smtClean="0">
              <a:solidFill>
                <a:srgbClr val="00B050"/>
              </a:solidFill>
            </a:endParaRPr>
          </a:p>
          <a:p>
            <a:pPr lvl="1"/>
            <a:r>
              <a:rPr lang="en-US" b="1" dirty="0" smtClean="0">
                <a:solidFill>
                  <a:schemeClr val="accent1">
                    <a:lumMod val="40000"/>
                    <a:lumOff val="60000"/>
                  </a:schemeClr>
                </a:solidFill>
              </a:rPr>
              <a:t>Button Triggers:</a:t>
            </a:r>
            <a:r>
              <a:rPr lang="en-US" dirty="0" smtClean="0">
                <a:solidFill>
                  <a:schemeClr val="accent1">
                    <a:lumMod val="40000"/>
                    <a:lumOff val="60000"/>
                  </a:schemeClr>
                </a:solidFill>
              </a:rPr>
              <a:t> </a:t>
            </a:r>
            <a:r>
              <a:rPr lang="en-US" dirty="0" smtClean="0"/>
              <a:t>These require manual initiation from the user. </a:t>
            </a:r>
          </a:p>
          <a:p>
            <a:pPr lvl="1"/>
            <a:r>
              <a:rPr lang="en-US" dirty="0" smtClean="0"/>
              <a:t>For instance, a button in the Power Automate mobile app or within a Power Apps app can start a flow. </a:t>
            </a:r>
          </a:p>
          <a:p>
            <a:pPr lvl="1"/>
            <a:r>
              <a:rPr lang="en-US" dirty="0" smtClean="0"/>
              <a:t>This is useful for processes that need user input to kick off.</a:t>
            </a:r>
          </a:p>
          <a:p>
            <a:pPr lvl="2"/>
            <a:r>
              <a:rPr lang="en-US" b="1" dirty="0" smtClean="0">
                <a:solidFill>
                  <a:schemeClr val="accent1">
                    <a:lumMod val="40000"/>
                    <a:lumOff val="60000"/>
                  </a:schemeClr>
                </a:solidFill>
              </a:rPr>
              <a:t>Examples:</a:t>
            </a:r>
            <a:endParaRPr lang="en-US" dirty="0" smtClean="0">
              <a:solidFill>
                <a:schemeClr val="accent1">
                  <a:lumMod val="40000"/>
                  <a:lumOff val="60000"/>
                </a:schemeClr>
              </a:solidFill>
            </a:endParaRPr>
          </a:p>
          <a:p>
            <a:pPr lvl="3"/>
            <a:r>
              <a:rPr lang="en-US" sz="1600" dirty="0" smtClean="0"/>
              <a:t>Pressing a button to send a pre-defined email or notification.</a:t>
            </a:r>
          </a:p>
          <a:p>
            <a:pPr lvl="3"/>
            <a:r>
              <a:rPr lang="en-US" sz="1600" dirty="0" smtClean="0"/>
              <a:t>Manually starting a workflow to update records.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581675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 of Triggers</a:t>
            </a:r>
            <a:endParaRPr lang="en-IN" dirty="0">
              <a:solidFill>
                <a:srgbClr val="FF0000"/>
              </a:solidFill>
            </a:endParaRPr>
          </a:p>
        </p:txBody>
      </p:sp>
      <p:sp>
        <p:nvSpPr>
          <p:cNvPr id="3" name="Content Placeholder 2"/>
          <p:cNvSpPr>
            <a:spLocks noGrp="1"/>
          </p:cNvSpPr>
          <p:nvPr>
            <p:ph idx="1"/>
          </p:nvPr>
        </p:nvSpPr>
        <p:spPr/>
        <p:txBody>
          <a:bodyPr/>
          <a:lstStyle/>
          <a:p>
            <a:r>
              <a:rPr lang="en-US" b="1" dirty="0" smtClean="0">
                <a:solidFill>
                  <a:srgbClr val="00B050"/>
                </a:solidFill>
              </a:rPr>
              <a:t>Scheduled Triggers:</a:t>
            </a:r>
            <a:endParaRPr lang="en-US" dirty="0" smtClean="0">
              <a:solidFill>
                <a:srgbClr val="00B050"/>
              </a:solidFill>
            </a:endParaRPr>
          </a:p>
          <a:p>
            <a:pPr lvl="1"/>
            <a:r>
              <a:rPr lang="en-US" b="1" dirty="0" smtClean="0">
                <a:solidFill>
                  <a:schemeClr val="accent1">
                    <a:lumMod val="40000"/>
                    <a:lumOff val="60000"/>
                  </a:schemeClr>
                </a:solidFill>
              </a:rPr>
              <a:t>Time-Based Triggers</a:t>
            </a:r>
            <a:r>
              <a:rPr lang="en-US" b="1" dirty="0" smtClean="0"/>
              <a:t>:</a:t>
            </a:r>
            <a:r>
              <a:rPr lang="en-US" dirty="0" smtClean="0"/>
              <a:t> These are designed to run flows at specific intervals or on a fixed schedule.</a:t>
            </a:r>
          </a:p>
          <a:p>
            <a:pPr lvl="1"/>
            <a:r>
              <a:rPr lang="en-US" dirty="0" smtClean="0"/>
              <a:t> Scheduled triggers are ideal for recurring tasks that need to be executed at regular times.</a:t>
            </a:r>
          </a:p>
          <a:p>
            <a:pPr lvl="2"/>
            <a:r>
              <a:rPr lang="en-US" b="1" dirty="0" smtClean="0">
                <a:solidFill>
                  <a:schemeClr val="accent1">
                    <a:lumMod val="40000"/>
                    <a:lumOff val="60000"/>
                  </a:schemeClr>
                </a:solidFill>
              </a:rPr>
              <a:t>Examples:</a:t>
            </a:r>
            <a:endParaRPr lang="en-US" dirty="0" smtClean="0">
              <a:solidFill>
                <a:schemeClr val="accent1">
                  <a:lumMod val="40000"/>
                  <a:lumOff val="60000"/>
                </a:schemeClr>
              </a:solidFill>
            </a:endParaRPr>
          </a:p>
          <a:p>
            <a:pPr lvl="3"/>
            <a:r>
              <a:rPr lang="en-US" sz="1600" dirty="0" smtClean="0"/>
              <a:t>Running a flow every day at 8 AM to generate and email a daily report.</a:t>
            </a:r>
          </a:p>
          <a:p>
            <a:pPr lvl="3"/>
            <a:r>
              <a:rPr lang="en-US" sz="1600" dirty="0" smtClean="0"/>
              <a:t>Scheduling a flow to backup files every Friday at midnight.</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496442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1"/>
            <a:ext cx="10353761" cy="1052146"/>
          </a:xfrm>
        </p:spPr>
        <p:txBody>
          <a:bodyPr/>
          <a:lstStyle/>
          <a:p>
            <a:r>
              <a:rPr lang="en-IN" dirty="0" smtClean="0">
                <a:solidFill>
                  <a:srgbClr val="92D050"/>
                </a:solidFill>
              </a:rPr>
              <a:t>How Triggers Works</a:t>
            </a:r>
            <a:endParaRPr lang="en-IN" dirty="0">
              <a:solidFill>
                <a:srgbClr val="92D050"/>
              </a:solidFill>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81177880"/>
              </p:ext>
            </p:extLst>
          </p:nvPr>
        </p:nvGraphicFramePr>
        <p:xfrm>
          <a:off x="1538654" y="1494692"/>
          <a:ext cx="9847384" cy="48269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539535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Examples of Common Triggers</a:t>
            </a:r>
            <a:endParaRPr lang="en-IN" dirty="0">
              <a:solidFill>
                <a:srgbClr val="FF0000"/>
              </a:solidFill>
            </a:endParaRPr>
          </a:p>
        </p:txBody>
      </p:sp>
      <p:sp>
        <p:nvSpPr>
          <p:cNvPr id="3" name="Content Placeholder 2"/>
          <p:cNvSpPr>
            <a:spLocks noGrp="1"/>
          </p:cNvSpPr>
          <p:nvPr>
            <p:ph idx="1"/>
          </p:nvPr>
        </p:nvSpPr>
        <p:spPr/>
        <p:txBody>
          <a:bodyPr>
            <a:normAutofit/>
          </a:bodyPr>
          <a:lstStyle/>
          <a:p>
            <a:r>
              <a:rPr lang="en-US" b="1" dirty="0" smtClean="0">
                <a:solidFill>
                  <a:schemeClr val="tx2">
                    <a:lumMod val="75000"/>
                  </a:schemeClr>
                </a:solidFill>
              </a:rPr>
              <a:t>Email Triggers:</a:t>
            </a:r>
            <a:endParaRPr lang="en-US" dirty="0" smtClean="0">
              <a:solidFill>
                <a:schemeClr val="tx2">
                  <a:lumMod val="75000"/>
                </a:schemeClr>
              </a:solidFill>
            </a:endParaRPr>
          </a:p>
          <a:p>
            <a:pPr lvl="1"/>
            <a:r>
              <a:rPr lang="en-US" b="1" dirty="0" smtClean="0"/>
              <a:t>When a new email arrives:</a:t>
            </a:r>
            <a:r>
              <a:rPr lang="en-US" dirty="0" smtClean="0"/>
              <a:t> Start a flow whenever a new email is received in a specified folder or with certain criteria.</a:t>
            </a:r>
          </a:p>
          <a:p>
            <a:r>
              <a:rPr lang="en-US" b="1" dirty="0" smtClean="0">
                <a:solidFill>
                  <a:schemeClr val="tx2">
                    <a:lumMod val="75000"/>
                  </a:schemeClr>
                </a:solidFill>
              </a:rPr>
              <a:t>File Triggers:</a:t>
            </a:r>
            <a:endParaRPr lang="en-US" dirty="0" smtClean="0">
              <a:solidFill>
                <a:schemeClr val="tx2">
                  <a:lumMod val="75000"/>
                </a:schemeClr>
              </a:solidFill>
            </a:endParaRPr>
          </a:p>
          <a:p>
            <a:pPr lvl="1"/>
            <a:r>
              <a:rPr lang="en-US" b="1" dirty="0" smtClean="0"/>
              <a:t>When a file is created or modified:</a:t>
            </a:r>
            <a:r>
              <a:rPr lang="en-US" dirty="0" smtClean="0"/>
              <a:t> Trigger a flow when a file is added to or updated in a specific location, such as a SharePoint library or OneDrive folder.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346481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Examples of Common Triggers</a:t>
            </a:r>
            <a:endParaRPr lang="en-IN" dirty="0">
              <a:solidFill>
                <a:srgbClr val="FF0000"/>
              </a:solidFill>
            </a:endParaRPr>
          </a:p>
        </p:txBody>
      </p:sp>
      <p:sp>
        <p:nvSpPr>
          <p:cNvPr id="3" name="Content Placeholder 2"/>
          <p:cNvSpPr>
            <a:spLocks noGrp="1"/>
          </p:cNvSpPr>
          <p:nvPr>
            <p:ph idx="1"/>
          </p:nvPr>
        </p:nvSpPr>
        <p:spPr/>
        <p:txBody>
          <a:bodyPr>
            <a:normAutofit/>
          </a:bodyPr>
          <a:lstStyle/>
          <a:p>
            <a:r>
              <a:rPr lang="en-US" b="1" dirty="0" smtClean="0">
                <a:solidFill>
                  <a:schemeClr val="tx2">
                    <a:lumMod val="75000"/>
                  </a:schemeClr>
                </a:solidFill>
              </a:rPr>
              <a:t>Database Triggers:</a:t>
            </a:r>
            <a:endParaRPr lang="en-US" dirty="0" smtClean="0">
              <a:solidFill>
                <a:schemeClr val="tx2">
                  <a:lumMod val="75000"/>
                </a:schemeClr>
              </a:solidFill>
            </a:endParaRPr>
          </a:p>
          <a:p>
            <a:pPr lvl="1"/>
            <a:r>
              <a:rPr lang="en-US" b="1" dirty="0" smtClean="0"/>
              <a:t>When a row is added or modified:</a:t>
            </a:r>
            <a:r>
              <a:rPr lang="en-US" dirty="0" smtClean="0"/>
              <a:t> Start a flow when a new record is added to or an existing record is updated in a database or a data source like SQL Server.</a:t>
            </a:r>
          </a:p>
          <a:p>
            <a:r>
              <a:rPr lang="en-US" b="1" dirty="0" smtClean="0">
                <a:solidFill>
                  <a:schemeClr val="tx2">
                    <a:lumMod val="75000"/>
                  </a:schemeClr>
                </a:solidFill>
              </a:rPr>
              <a:t>Social Media Triggers:</a:t>
            </a:r>
            <a:endParaRPr lang="en-US" dirty="0" smtClean="0">
              <a:solidFill>
                <a:schemeClr val="tx2">
                  <a:lumMod val="75000"/>
                </a:schemeClr>
              </a:solidFill>
            </a:endParaRPr>
          </a:p>
          <a:p>
            <a:pPr lvl="1"/>
            <a:r>
              <a:rPr lang="en-US" b="1" dirty="0" smtClean="0"/>
              <a:t>When a new tweet is posted:</a:t>
            </a:r>
            <a:r>
              <a:rPr lang="en-US" dirty="0" smtClean="0"/>
              <a:t> Trigger a flow when a tweet with specific keywords or from specific accounts is detected.</a:t>
            </a:r>
          </a:p>
          <a:p>
            <a:r>
              <a:rPr lang="en-US" b="1" dirty="0" smtClean="0">
                <a:solidFill>
                  <a:schemeClr val="tx2">
                    <a:lumMod val="75000"/>
                  </a:schemeClr>
                </a:solidFill>
              </a:rPr>
              <a:t>Calendar Triggers:</a:t>
            </a:r>
            <a:endParaRPr lang="en-US" dirty="0" smtClean="0">
              <a:solidFill>
                <a:schemeClr val="tx2">
                  <a:lumMod val="75000"/>
                </a:schemeClr>
              </a:solidFill>
            </a:endParaRPr>
          </a:p>
          <a:p>
            <a:pPr lvl="1"/>
            <a:r>
              <a:rPr lang="en-US" b="1" dirty="0" smtClean="0"/>
              <a:t>When an event is created or updated:</a:t>
            </a:r>
            <a:r>
              <a:rPr lang="en-US" dirty="0" smtClean="0"/>
              <a:t> Start a flow when a new event is added to a calendar or when an existing event is modified.</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394908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Actions</a:t>
            </a:r>
            <a:endParaRPr lang="en-IN" dirty="0">
              <a:solidFill>
                <a:srgbClr val="FF0000"/>
              </a:solidFill>
            </a:endParaRPr>
          </a:p>
        </p:txBody>
      </p:sp>
      <p:sp>
        <p:nvSpPr>
          <p:cNvPr id="3" name="Content Placeholder 2"/>
          <p:cNvSpPr>
            <a:spLocks noGrp="1"/>
          </p:cNvSpPr>
          <p:nvPr>
            <p:ph idx="1"/>
          </p:nvPr>
        </p:nvSpPr>
        <p:spPr/>
        <p:txBody>
          <a:bodyPr/>
          <a:lstStyle/>
          <a:p>
            <a:r>
              <a:rPr lang="en-US" dirty="0" smtClean="0"/>
              <a:t>In Power Automate, </a:t>
            </a:r>
            <a:r>
              <a:rPr lang="en-US" b="1" dirty="0" smtClean="0"/>
              <a:t>actions</a:t>
            </a:r>
            <a:r>
              <a:rPr lang="en-US" dirty="0" smtClean="0"/>
              <a:t> are the tasks or operations that a flow performs after it is triggered. </a:t>
            </a:r>
          </a:p>
          <a:p>
            <a:r>
              <a:rPr lang="en-US" dirty="0" smtClean="0"/>
              <a:t>Once a flow has been initiated by a trigger, it executes a series of actions to achieve the desired outcome.</a:t>
            </a:r>
          </a:p>
          <a:p>
            <a:r>
              <a:rPr lang="en-US" dirty="0" smtClean="0"/>
              <a:t> Actions are the building blocks of workflows and can range from sending emails to updating databases, managing files, or interacting with various applications and services.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244259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 of Actions</a:t>
            </a:r>
            <a:endParaRPr lang="en-IN"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en-US" b="1" dirty="0" smtClean="0">
                <a:solidFill>
                  <a:schemeClr val="tx2">
                    <a:lumMod val="75000"/>
                  </a:schemeClr>
                </a:solidFill>
              </a:rPr>
              <a:t>Data Operations:</a:t>
            </a:r>
            <a:endParaRPr lang="en-US" dirty="0" smtClean="0">
              <a:solidFill>
                <a:schemeClr val="tx2">
                  <a:lumMod val="75000"/>
                </a:schemeClr>
              </a:solidFill>
            </a:endParaRPr>
          </a:p>
          <a:p>
            <a:pPr lvl="1"/>
            <a:r>
              <a:rPr lang="en-US" b="1" dirty="0" smtClean="0">
                <a:solidFill>
                  <a:schemeClr val="accent1">
                    <a:lumMod val="40000"/>
                    <a:lumOff val="60000"/>
                  </a:schemeClr>
                </a:solidFill>
              </a:rPr>
              <a:t>Create, Read, Update, Delete (CRUD):</a:t>
            </a:r>
            <a:r>
              <a:rPr lang="en-US" dirty="0" smtClean="0">
                <a:solidFill>
                  <a:schemeClr val="accent1">
                    <a:lumMod val="40000"/>
                    <a:lumOff val="60000"/>
                  </a:schemeClr>
                </a:solidFill>
              </a:rPr>
              <a:t> </a:t>
            </a:r>
            <a:r>
              <a:rPr lang="en-US" dirty="0" smtClean="0"/>
              <a:t>Actions for managing data in databases, SharePoint lists, or other data sources.</a:t>
            </a:r>
          </a:p>
          <a:p>
            <a:pPr marL="914400" lvl="2" indent="0">
              <a:buNone/>
            </a:pPr>
            <a:r>
              <a:rPr lang="en-US" b="1" dirty="0" smtClean="0">
                <a:solidFill>
                  <a:schemeClr val="accent6">
                    <a:lumMod val="20000"/>
                    <a:lumOff val="80000"/>
                  </a:schemeClr>
                </a:solidFill>
              </a:rPr>
              <a:t>Examples:</a:t>
            </a:r>
            <a:endParaRPr lang="en-US" dirty="0" smtClean="0">
              <a:solidFill>
                <a:schemeClr val="accent6">
                  <a:lumMod val="20000"/>
                  <a:lumOff val="80000"/>
                </a:schemeClr>
              </a:solidFill>
            </a:endParaRPr>
          </a:p>
          <a:p>
            <a:pPr lvl="3"/>
            <a:r>
              <a:rPr lang="en-US" dirty="0" smtClean="0"/>
              <a:t>Create a new row in an Excel table.</a:t>
            </a:r>
          </a:p>
          <a:p>
            <a:pPr lvl="3"/>
            <a:r>
              <a:rPr lang="en-US" dirty="0" smtClean="0"/>
              <a:t>Update a record in a SQL database.</a:t>
            </a:r>
          </a:p>
          <a:p>
            <a:pPr>
              <a:buFont typeface="Wingdings" panose="05000000000000000000" pitchFamily="2" charset="2"/>
              <a:buChar char="Ø"/>
            </a:pPr>
            <a:r>
              <a:rPr lang="en-US" b="1" dirty="0" smtClean="0">
                <a:solidFill>
                  <a:schemeClr val="tx2">
                    <a:lumMod val="75000"/>
                  </a:schemeClr>
                </a:solidFill>
              </a:rPr>
              <a:t>Communication:</a:t>
            </a:r>
            <a:endParaRPr lang="en-US" dirty="0" smtClean="0">
              <a:solidFill>
                <a:schemeClr val="tx2">
                  <a:lumMod val="75000"/>
                </a:schemeClr>
              </a:solidFill>
            </a:endParaRPr>
          </a:p>
          <a:p>
            <a:pPr lvl="1"/>
            <a:r>
              <a:rPr lang="en-US" b="1" dirty="0" smtClean="0">
                <a:solidFill>
                  <a:schemeClr val="accent1">
                    <a:lumMod val="40000"/>
                    <a:lumOff val="60000"/>
                  </a:schemeClr>
                </a:solidFill>
              </a:rPr>
              <a:t>Email, Notifications, Messaging:</a:t>
            </a:r>
            <a:r>
              <a:rPr lang="en-US" dirty="0" smtClean="0">
                <a:solidFill>
                  <a:schemeClr val="accent1">
                    <a:lumMod val="40000"/>
                    <a:lumOff val="60000"/>
                  </a:schemeClr>
                </a:solidFill>
              </a:rPr>
              <a:t> </a:t>
            </a:r>
            <a:r>
              <a:rPr lang="en-US" dirty="0" smtClean="0"/>
              <a:t>Actions for sending emails, notifications, or messages through various channels.</a:t>
            </a:r>
          </a:p>
          <a:p>
            <a:pPr marL="914400" lvl="2" indent="0">
              <a:buNone/>
            </a:pPr>
            <a:r>
              <a:rPr lang="en-US" b="1" dirty="0" smtClean="0">
                <a:solidFill>
                  <a:schemeClr val="accent6">
                    <a:lumMod val="20000"/>
                    <a:lumOff val="80000"/>
                  </a:schemeClr>
                </a:solidFill>
              </a:rPr>
              <a:t>Examples:</a:t>
            </a:r>
            <a:endParaRPr lang="en-US" dirty="0" smtClean="0">
              <a:solidFill>
                <a:schemeClr val="accent6">
                  <a:lumMod val="20000"/>
                  <a:lumOff val="80000"/>
                </a:schemeClr>
              </a:solidFill>
            </a:endParaRPr>
          </a:p>
          <a:p>
            <a:pPr lvl="3"/>
            <a:r>
              <a:rPr lang="en-US" dirty="0" smtClean="0"/>
              <a:t>Send an email with specific content.</a:t>
            </a:r>
          </a:p>
          <a:p>
            <a:pPr lvl="3"/>
            <a:r>
              <a:rPr lang="en-US" dirty="0" smtClean="0"/>
              <a:t>Post a message to a Microsoft Teams channel.</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388676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 of Actions</a:t>
            </a: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b="1" dirty="0" smtClean="0">
                <a:solidFill>
                  <a:schemeClr val="tx2">
                    <a:lumMod val="75000"/>
                  </a:schemeClr>
                </a:solidFill>
              </a:rPr>
              <a:t>Approval and Task Management:</a:t>
            </a:r>
            <a:endParaRPr lang="en-US" dirty="0" smtClean="0">
              <a:solidFill>
                <a:schemeClr val="tx2">
                  <a:lumMod val="75000"/>
                </a:schemeClr>
              </a:solidFill>
            </a:endParaRPr>
          </a:p>
          <a:p>
            <a:pPr lvl="1"/>
            <a:r>
              <a:rPr lang="en-US" b="1" dirty="0" smtClean="0">
                <a:solidFill>
                  <a:schemeClr val="accent1">
                    <a:lumMod val="40000"/>
                    <a:lumOff val="60000"/>
                  </a:schemeClr>
                </a:solidFill>
              </a:rPr>
              <a:t>Approval Requests:</a:t>
            </a:r>
            <a:r>
              <a:rPr lang="en-US" dirty="0" smtClean="0">
                <a:solidFill>
                  <a:schemeClr val="accent1">
                    <a:lumMod val="40000"/>
                    <a:lumOff val="60000"/>
                  </a:schemeClr>
                </a:solidFill>
              </a:rPr>
              <a:t> </a:t>
            </a:r>
            <a:r>
              <a:rPr lang="en-US" dirty="0" smtClean="0"/>
              <a:t>Actions for creating and managing approval requests and tasks.</a:t>
            </a:r>
          </a:p>
          <a:p>
            <a:pPr marL="914400" lvl="2" indent="0">
              <a:buNone/>
            </a:pPr>
            <a:r>
              <a:rPr lang="en-US" b="1" dirty="0" smtClean="0">
                <a:solidFill>
                  <a:schemeClr val="accent6">
                    <a:lumMod val="20000"/>
                    <a:lumOff val="80000"/>
                  </a:schemeClr>
                </a:solidFill>
              </a:rPr>
              <a:t>Examples:</a:t>
            </a:r>
            <a:endParaRPr lang="en-US" dirty="0" smtClean="0">
              <a:solidFill>
                <a:schemeClr val="accent6">
                  <a:lumMod val="20000"/>
                  <a:lumOff val="80000"/>
                </a:schemeClr>
              </a:solidFill>
            </a:endParaRPr>
          </a:p>
          <a:p>
            <a:pPr lvl="3"/>
            <a:r>
              <a:rPr lang="en-US" dirty="0" smtClean="0"/>
              <a:t>Start an approval process for a document or request.</a:t>
            </a:r>
          </a:p>
          <a:p>
            <a:pPr lvl="3"/>
            <a:r>
              <a:rPr lang="en-US" dirty="0" smtClean="0">
                <a:solidFill>
                  <a:schemeClr val="tx2">
                    <a:lumMod val="75000"/>
                  </a:schemeClr>
                </a:solidFill>
              </a:rPr>
              <a:t>Create a task in Microsoft To Do or Planner.</a:t>
            </a:r>
          </a:p>
          <a:p>
            <a:pPr>
              <a:buFont typeface="Wingdings" panose="05000000000000000000" pitchFamily="2" charset="2"/>
              <a:buChar char="Ø"/>
            </a:pPr>
            <a:r>
              <a:rPr lang="en-US" b="1" dirty="0" smtClean="0">
                <a:solidFill>
                  <a:schemeClr val="tx2">
                    <a:lumMod val="75000"/>
                  </a:schemeClr>
                </a:solidFill>
              </a:rPr>
              <a:t>Integration with External Systems:</a:t>
            </a:r>
            <a:endParaRPr lang="en-US" dirty="0" smtClean="0">
              <a:solidFill>
                <a:schemeClr val="tx2">
                  <a:lumMod val="75000"/>
                </a:schemeClr>
              </a:solidFill>
            </a:endParaRPr>
          </a:p>
          <a:p>
            <a:pPr lvl="1"/>
            <a:r>
              <a:rPr lang="en-US" b="1" dirty="0" smtClean="0">
                <a:solidFill>
                  <a:schemeClr val="accent1">
                    <a:lumMod val="40000"/>
                    <a:lumOff val="60000"/>
                  </a:schemeClr>
                </a:solidFill>
              </a:rPr>
              <a:t>API Calls:</a:t>
            </a:r>
            <a:r>
              <a:rPr lang="en-US" dirty="0" smtClean="0">
                <a:solidFill>
                  <a:schemeClr val="accent1">
                    <a:lumMod val="40000"/>
                    <a:lumOff val="60000"/>
                  </a:schemeClr>
                </a:solidFill>
              </a:rPr>
              <a:t> </a:t>
            </a:r>
            <a:r>
              <a:rPr lang="en-US" dirty="0" smtClean="0"/>
              <a:t>Actions for making HTTP requests to external services or APIs.</a:t>
            </a:r>
          </a:p>
          <a:p>
            <a:pPr marL="914400" lvl="2" indent="0">
              <a:buNone/>
            </a:pPr>
            <a:r>
              <a:rPr lang="en-US" b="1" dirty="0" smtClean="0">
                <a:solidFill>
                  <a:schemeClr val="accent6">
                    <a:lumMod val="20000"/>
                    <a:lumOff val="80000"/>
                  </a:schemeClr>
                </a:solidFill>
              </a:rPr>
              <a:t>Examples:</a:t>
            </a:r>
            <a:endParaRPr lang="en-US" dirty="0" smtClean="0">
              <a:solidFill>
                <a:schemeClr val="accent6">
                  <a:lumMod val="20000"/>
                  <a:lumOff val="80000"/>
                </a:schemeClr>
              </a:solidFill>
            </a:endParaRPr>
          </a:p>
          <a:p>
            <a:pPr lvl="3"/>
            <a:r>
              <a:rPr lang="en-US" dirty="0" smtClean="0"/>
              <a:t>Call a REST API to update an external system.</a:t>
            </a:r>
          </a:p>
          <a:p>
            <a:pPr lvl="3"/>
            <a:r>
              <a:rPr lang="en-US" dirty="0" smtClean="0"/>
              <a:t>Post data to a web service endpoint.</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343691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 of Actions</a:t>
            </a:r>
            <a:endParaRPr lang="en-IN"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b="1" dirty="0" smtClean="0">
                <a:solidFill>
                  <a:schemeClr val="tx2">
                    <a:lumMod val="75000"/>
                  </a:schemeClr>
                </a:solidFill>
              </a:rPr>
              <a:t>Data Manipulation:</a:t>
            </a:r>
            <a:endParaRPr lang="en-US" dirty="0" smtClean="0">
              <a:solidFill>
                <a:schemeClr val="tx2">
                  <a:lumMod val="75000"/>
                </a:schemeClr>
              </a:solidFill>
            </a:endParaRPr>
          </a:p>
          <a:p>
            <a:pPr lvl="1"/>
            <a:r>
              <a:rPr lang="en-US" b="1" dirty="0" smtClean="0">
                <a:solidFill>
                  <a:schemeClr val="accent1">
                    <a:lumMod val="40000"/>
                    <a:lumOff val="60000"/>
                  </a:schemeClr>
                </a:solidFill>
              </a:rPr>
              <a:t>Transformations and Calculations:</a:t>
            </a:r>
            <a:r>
              <a:rPr lang="en-US" dirty="0" smtClean="0">
                <a:solidFill>
                  <a:schemeClr val="accent1">
                    <a:lumMod val="40000"/>
                    <a:lumOff val="60000"/>
                  </a:schemeClr>
                </a:solidFill>
              </a:rPr>
              <a:t> </a:t>
            </a:r>
            <a:r>
              <a:rPr lang="en-US" dirty="0" smtClean="0"/>
              <a:t>Actions for processing and transforming data.</a:t>
            </a:r>
          </a:p>
          <a:p>
            <a:pPr marL="914400" lvl="2" indent="0">
              <a:buNone/>
            </a:pPr>
            <a:r>
              <a:rPr lang="en-US" b="1" dirty="0" smtClean="0">
                <a:solidFill>
                  <a:schemeClr val="accent6">
                    <a:lumMod val="20000"/>
                    <a:lumOff val="80000"/>
                  </a:schemeClr>
                </a:solidFill>
              </a:rPr>
              <a:t>Examples:</a:t>
            </a:r>
            <a:endParaRPr lang="en-US" dirty="0" smtClean="0">
              <a:solidFill>
                <a:schemeClr val="accent6">
                  <a:lumMod val="20000"/>
                  <a:lumOff val="80000"/>
                </a:schemeClr>
              </a:solidFill>
            </a:endParaRPr>
          </a:p>
          <a:p>
            <a:pPr lvl="3"/>
            <a:r>
              <a:rPr lang="en-US" dirty="0" smtClean="0"/>
              <a:t>Convert data from one format to another.</a:t>
            </a:r>
          </a:p>
          <a:p>
            <a:pPr lvl="3"/>
            <a:r>
              <a:rPr lang="en-US" dirty="0" smtClean="0"/>
              <a:t>Perform calculations or data aggregations.</a:t>
            </a:r>
          </a:p>
          <a:p>
            <a:pPr>
              <a:buFont typeface="Wingdings" panose="05000000000000000000" pitchFamily="2" charset="2"/>
              <a:buChar char="Ø"/>
            </a:pPr>
            <a:r>
              <a:rPr lang="en-US" b="1" dirty="0" smtClean="0">
                <a:solidFill>
                  <a:schemeClr val="tx2">
                    <a:lumMod val="75000"/>
                  </a:schemeClr>
                </a:solidFill>
              </a:rPr>
              <a:t>Control Actions:</a:t>
            </a:r>
            <a:endParaRPr lang="en-US" dirty="0" smtClean="0">
              <a:solidFill>
                <a:schemeClr val="tx2">
                  <a:lumMod val="75000"/>
                </a:schemeClr>
              </a:solidFill>
            </a:endParaRPr>
          </a:p>
          <a:p>
            <a:pPr lvl="1"/>
            <a:r>
              <a:rPr lang="en-US" b="1" dirty="0" smtClean="0">
                <a:solidFill>
                  <a:schemeClr val="accent1">
                    <a:lumMod val="40000"/>
                    <a:lumOff val="60000"/>
                  </a:schemeClr>
                </a:solidFill>
              </a:rPr>
              <a:t>Conditions, Loops, and Termination:</a:t>
            </a:r>
            <a:r>
              <a:rPr lang="en-US" dirty="0" smtClean="0">
                <a:solidFill>
                  <a:schemeClr val="accent1">
                    <a:lumMod val="40000"/>
                    <a:lumOff val="60000"/>
                  </a:schemeClr>
                </a:solidFill>
              </a:rPr>
              <a:t> </a:t>
            </a:r>
            <a:r>
              <a:rPr lang="en-US" dirty="0" smtClean="0"/>
              <a:t>Actions for controlling the flow of the workflow based on conditions and logic.</a:t>
            </a:r>
          </a:p>
          <a:p>
            <a:pPr marL="914400" lvl="2" indent="0">
              <a:buNone/>
            </a:pPr>
            <a:r>
              <a:rPr lang="en-US" b="1" dirty="0" smtClean="0">
                <a:solidFill>
                  <a:schemeClr val="accent6">
                    <a:lumMod val="20000"/>
                    <a:lumOff val="80000"/>
                  </a:schemeClr>
                </a:solidFill>
              </a:rPr>
              <a:t>Examples:</a:t>
            </a:r>
            <a:endParaRPr lang="en-US" dirty="0" smtClean="0">
              <a:solidFill>
                <a:schemeClr val="accent6">
                  <a:lumMod val="20000"/>
                  <a:lumOff val="80000"/>
                </a:schemeClr>
              </a:solidFill>
            </a:endParaRPr>
          </a:p>
          <a:p>
            <a:pPr lvl="3"/>
            <a:r>
              <a:rPr lang="en-US" dirty="0" smtClean="0"/>
              <a:t>Use a condition to determine the next steps based on data values.</a:t>
            </a:r>
          </a:p>
          <a:p>
            <a:pPr lvl="3"/>
            <a:r>
              <a:rPr lang="en-US" dirty="0" smtClean="0"/>
              <a:t>Loop through a list of items and perform actions on each one.</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961121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 of Actions</a:t>
            </a:r>
            <a:endParaRPr lang="en-IN" dirty="0">
              <a:solidFill>
                <a:srgbClr val="FF0000"/>
              </a:solidFill>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smtClean="0">
                <a:solidFill>
                  <a:schemeClr val="tx2">
                    <a:lumMod val="75000"/>
                  </a:schemeClr>
                </a:solidFill>
              </a:rPr>
              <a:t>File and Document Management:</a:t>
            </a:r>
            <a:endParaRPr lang="en-US" dirty="0" smtClean="0">
              <a:solidFill>
                <a:schemeClr val="tx2">
                  <a:lumMod val="75000"/>
                </a:schemeClr>
              </a:solidFill>
            </a:endParaRPr>
          </a:p>
          <a:p>
            <a:pPr lvl="1"/>
            <a:r>
              <a:rPr lang="en-US" b="1" dirty="0" smtClean="0">
                <a:solidFill>
                  <a:schemeClr val="accent1">
                    <a:lumMod val="40000"/>
                    <a:lumOff val="60000"/>
                  </a:schemeClr>
                </a:solidFill>
              </a:rPr>
              <a:t>File Operations:</a:t>
            </a:r>
            <a:r>
              <a:rPr lang="en-US" dirty="0" smtClean="0">
                <a:solidFill>
                  <a:schemeClr val="accent1">
                    <a:lumMod val="40000"/>
                    <a:lumOff val="60000"/>
                  </a:schemeClr>
                </a:solidFill>
              </a:rPr>
              <a:t> </a:t>
            </a:r>
            <a:r>
              <a:rPr lang="en-US" dirty="0" smtClean="0"/>
              <a:t>Actions for managing files, such as uploading, downloading, or modifying documents.</a:t>
            </a:r>
          </a:p>
          <a:p>
            <a:pPr marL="914400" lvl="2" indent="0">
              <a:buNone/>
            </a:pPr>
            <a:r>
              <a:rPr lang="en-US" b="1" dirty="0" smtClean="0">
                <a:solidFill>
                  <a:schemeClr val="accent6">
                    <a:lumMod val="20000"/>
                    <a:lumOff val="80000"/>
                  </a:schemeClr>
                </a:solidFill>
              </a:rPr>
              <a:t>Examples:</a:t>
            </a:r>
            <a:endParaRPr lang="en-US" dirty="0" smtClean="0">
              <a:solidFill>
                <a:schemeClr val="accent6">
                  <a:lumMod val="20000"/>
                  <a:lumOff val="80000"/>
                </a:schemeClr>
              </a:solidFill>
            </a:endParaRPr>
          </a:p>
          <a:p>
            <a:pPr lvl="3"/>
            <a:r>
              <a:rPr lang="en-US" dirty="0" smtClean="0"/>
              <a:t>Save an attachment from an email to a SharePoint document library.</a:t>
            </a:r>
          </a:p>
          <a:p>
            <a:pPr lvl="3"/>
            <a:r>
              <a:rPr lang="en-US" dirty="0" smtClean="0"/>
              <a:t>Copy a file from one folder to another.</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758133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How to Use Actions in a Flow</a:t>
            </a:r>
            <a:endParaRPr lang="en-IN" dirty="0">
              <a:solidFill>
                <a:srgbClr val="FF0000"/>
              </a:solidFill>
            </a:endParaRPr>
          </a:p>
        </p:txBody>
      </p:sp>
      <p:sp>
        <p:nvSpPr>
          <p:cNvPr id="3" name="Content Placeholder 2"/>
          <p:cNvSpPr>
            <a:spLocks noGrp="1"/>
          </p:cNvSpPr>
          <p:nvPr>
            <p:ph idx="1"/>
          </p:nvPr>
        </p:nvSpPr>
        <p:spPr/>
        <p:txBody>
          <a:bodyPr>
            <a:normAutofit/>
          </a:bodyPr>
          <a:lstStyle/>
          <a:p>
            <a:pPr marL="0" indent="0">
              <a:buNone/>
            </a:pPr>
            <a:r>
              <a:rPr lang="en-US" b="1" dirty="0" smtClean="0">
                <a:solidFill>
                  <a:schemeClr val="tx2">
                    <a:lumMod val="75000"/>
                  </a:schemeClr>
                </a:solidFill>
              </a:rPr>
              <a:t>Add Actions:</a:t>
            </a:r>
            <a:endParaRPr lang="en-US" dirty="0" smtClean="0">
              <a:solidFill>
                <a:schemeClr val="tx2">
                  <a:lumMod val="75000"/>
                </a:schemeClr>
              </a:solidFill>
            </a:endParaRPr>
          </a:p>
          <a:p>
            <a:pPr lvl="1"/>
            <a:r>
              <a:rPr lang="en-US" dirty="0" smtClean="0"/>
              <a:t>Once you have defined your trigger, add actions to your flow by selecting them from the available connectors and configuring their parameters.</a:t>
            </a:r>
          </a:p>
          <a:p>
            <a:pPr marL="0" indent="0">
              <a:buNone/>
            </a:pPr>
            <a:r>
              <a:rPr lang="en-US" b="1" dirty="0" smtClean="0">
                <a:solidFill>
                  <a:schemeClr val="tx2">
                    <a:lumMod val="75000"/>
                  </a:schemeClr>
                </a:solidFill>
              </a:rPr>
              <a:t>Configure Parameters:</a:t>
            </a:r>
            <a:endParaRPr lang="en-US" dirty="0" smtClean="0">
              <a:solidFill>
                <a:schemeClr val="tx2">
                  <a:lumMod val="75000"/>
                </a:schemeClr>
              </a:solidFill>
            </a:endParaRPr>
          </a:p>
          <a:p>
            <a:pPr lvl="1"/>
            <a:r>
              <a:rPr lang="en-US" dirty="0" smtClean="0"/>
              <a:t>Set the parameters for each action based on the data you want to process. For instance, if you’re sending an email, specify the recipient, subject, and body content.</a:t>
            </a:r>
          </a:p>
          <a:p>
            <a:pPr marL="0" indent="0">
              <a:buNone/>
            </a:pPr>
            <a:r>
              <a:rPr lang="en-US" b="1" dirty="0" smtClean="0">
                <a:solidFill>
                  <a:schemeClr val="tx2">
                    <a:lumMod val="75000"/>
                  </a:schemeClr>
                </a:solidFill>
              </a:rPr>
              <a:t>Use Dynamic Content:</a:t>
            </a:r>
            <a:endParaRPr lang="en-US" dirty="0" smtClean="0">
              <a:solidFill>
                <a:schemeClr val="tx2">
                  <a:lumMod val="75000"/>
                </a:schemeClr>
              </a:solidFill>
            </a:endParaRPr>
          </a:p>
          <a:p>
            <a:pPr lvl="1"/>
            <a:r>
              <a:rPr lang="en-US" dirty="0" smtClean="0"/>
              <a:t>Incorporate dynamic content from previous steps to personalize and customize actions. This allows actions to adapt based on the data processed by the flow.</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15037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How to Use Actions in a Flow</a:t>
            </a:r>
            <a:endParaRPr lang="en-IN" dirty="0">
              <a:solidFill>
                <a:srgbClr val="FF0000"/>
              </a:solidFill>
            </a:endParaRPr>
          </a:p>
        </p:txBody>
      </p:sp>
      <p:sp>
        <p:nvSpPr>
          <p:cNvPr id="3" name="Content Placeholder 2"/>
          <p:cNvSpPr>
            <a:spLocks noGrp="1"/>
          </p:cNvSpPr>
          <p:nvPr>
            <p:ph idx="1"/>
          </p:nvPr>
        </p:nvSpPr>
        <p:spPr/>
        <p:txBody>
          <a:bodyPr>
            <a:normAutofit/>
          </a:bodyPr>
          <a:lstStyle/>
          <a:p>
            <a:pPr marL="0" indent="0">
              <a:buNone/>
            </a:pPr>
            <a:r>
              <a:rPr lang="en-US" b="1" dirty="0" smtClean="0">
                <a:solidFill>
                  <a:schemeClr val="tx2">
                    <a:lumMod val="75000"/>
                  </a:schemeClr>
                </a:solidFill>
              </a:rPr>
              <a:t>Apply Logic:</a:t>
            </a:r>
            <a:endParaRPr lang="en-US" dirty="0" smtClean="0">
              <a:solidFill>
                <a:schemeClr val="tx2">
                  <a:lumMod val="75000"/>
                </a:schemeClr>
              </a:solidFill>
            </a:endParaRPr>
          </a:p>
          <a:p>
            <a:pPr lvl="1"/>
            <a:r>
              <a:rPr lang="en-US" dirty="0" smtClean="0"/>
              <a:t>Use conditional logic and loops to create more sophisticated workflows. Actions within these constructs can be executed based on specific conditions or repeated for each item in a collection.</a:t>
            </a:r>
          </a:p>
          <a:p>
            <a:pPr marL="0" indent="0">
              <a:buNone/>
            </a:pPr>
            <a:r>
              <a:rPr lang="en-US" b="1" dirty="0" smtClean="0">
                <a:solidFill>
                  <a:schemeClr val="tx2">
                    <a:lumMod val="75000"/>
                  </a:schemeClr>
                </a:solidFill>
              </a:rPr>
              <a:t>Test and Refine:</a:t>
            </a:r>
            <a:endParaRPr lang="en-US" dirty="0" smtClean="0">
              <a:solidFill>
                <a:schemeClr val="tx2">
                  <a:lumMod val="75000"/>
                </a:schemeClr>
              </a:solidFill>
            </a:endParaRPr>
          </a:p>
          <a:p>
            <a:pPr lvl="1"/>
            <a:r>
              <a:rPr lang="en-US" dirty="0" smtClean="0"/>
              <a:t>Test your flow to ensure that actions are executed as expected. Refine configurations and error handling to improve the reliability and performance of the flow.</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412083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Examples of Common Actions</a:t>
            </a:r>
            <a:endParaRPr lang="en-IN" dirty="0">
              <a:solidFill>
                <a:srgbClr val="FF0000"/>
              </a:solidFill>
            </a:endParaRPr>
          </a:p>
        </p:txBody>
      </p:sp>
      <p:sp>
        <p:nvSpPr>
          <p:cNvPr id="3" name="Content Placeholder 2"/>
          <p:cNvSpPr>
            <a:spLocks noGrp="1"/>
          </p:cNvSpPr>
          <p:nvPr>
            <p:ph idx="1"/>
          </p:nvPr>
        </p:nvSpPr>
        <p:spPr/>
        <p:txBody>
          <a:bodyPr>
            <a:normAutofit fontScale="77500" lnSpcReduction="20000"/>
          </a:bodyPr>
          <a:lstStyle/>
          <a:p>
            <a:pPr>
              <a:buFont typeface="Wingdings" panose="05000000000000000000" pitchFamily="2" charset="2"/>
              <a:buChar char="q"/>
            </a:pPr>
            <a:r>
              <a:rPr lang="en-US" b="1" dirty="0" smtClean="0">
                <a:solidFill>
                  <a:schemeClr val="tx2">
                    <a:lumMod val="75000"/>
                  </a:schemeClr>
                </a:solidFill>
              </a:rPr>
              <a:t>Send Email:</a:t>
            </a:r>
            <a:endParaRPr lang="en-US" dirty="0" smtClean="0">
              <a:solidFill>
                <a:schemeClr val="tx2">
                  <a:lumMod val="75000"/>
                </a:schemeClr>
              </a:solidFill>
            </a:endParaRPr>
          </a:p>
          <a:p>
            <a:pPr lvl="1"/>
            <a:r>
              <a:rPr lang="en-US" b="1" dirty="0" smtClean="0"/>
              <a:t>Action:</a:t>
            </a:r>
            <a:r>
              <a:rPr lang="en-US" dirty="0" smtClean="0"/>
              <a:t> Send an email with specified recipients, subject, and body text.</a:t>
            </a:r>
          </a:p>
          <a:p>
            <a:pPr lvl="1"/>
            <a:r>
              <a:rPr lang="en-US" b="1" dirty="0" smtClean="0"/>
              <a:t>Use Case:</a:t>
            </a:r>
            <a:r>
              <a:rPr lang="en-US" dirty="0" smtClean="0"/>
              <a:t> Notify a team when a new item is added to a project management tool.</a:t>
            </a:r>
          </a:p>
          <a:p>
            <a:pPr>
              <a:buFont typeface="Wingdings" panose="05000000000000000000" pitchFamily="2" charset="2"/>
              <a:buChar char="q"/>
            </a:pPr>
            <a:r>
              <a:rPr lang="en-US" b="1" dirty="0" smtClean="0">
                <a:solidFill>
                  <a:schemeClr val="tx2">
                    <a:lumMod val="75000"/>
                  </a:schemeClr>
                </a:solidFill>
              </a:rPr>
              <a:t>Create Item:</a:t>
            </a:r>
            <a:endParaRPr lang="en-US" dirty="0" smtClean="0">
              <a:solidFill>
                <a:schemeClr val="tx2">
                  <a:lumMod val="75000"/>
                </a:schemeClr>
              </a:solidFill>
            </a:endParaRPr>
          </a:p>
          <a:p>
            <a:pPr lvl="1"/>
            <a:r>
              <a:rPr lang="en-US" b="1" dirty="0" smtClean="0"/>
              <a:t>Action:</a:t>
            </a:r>
            <a:r>
              <a:rPr lang="en-US" dirty="0" smtClean="0"/>
              <a:t> Create a new item in a SharePoint list or database.</a:t>
            </a:r>
          </a:p>
          <a:p>
            <a:pPr lvl="1"/>
            <a:r>
              <a:rPr lang="en-US" b="1" dirty="0" smtClean="0"/>
              <a:t>Use Case:</a:t>
            </a:r>
            <a:r>
              <a:rPr lang="en-US" dirty="0" smtClean="0"/>
              <a:t> Log new customer inquiries into a CRM system.</a:t>
            </a:r>
          </a:p>
          <a:p>
            <a:pPr>
              <a:buFont typeface="Wingdings" panose="05000000000000000000" pitchFamily="2" charset="2"/>
              <a:buChar char="q"/>
            </a:pPr>
            <a:r>
              <a:rPr lang="en-US" b="1" dirty="0" smtClean="0">
                <a:solidFill>
                  <a:schemeClr val="tx2">
                    <a:lumMod val="75000"/>
                  </a:schemeClr>
                </a:solidFill>
              </a:rPr>
              <a:t>Update Record:</a:t>
            </a:r>
            <a:endParaRPr lang="en-US" dirty="0" smtClean="0">
              <a:solidFill>
                <a:schemeClr val="tx2">
                  <a:lumMod val="75000"/>
                </a:schemeClr>
              </a:solidFill>
            </a:endParaRPr>
          </a:p>
          <a:p>
            <a:pPr lvl="1"/>
            <a:r>
              <a:rPr lang="en-US" b="1" dirty="0" smtClean="0"/>
              <a:t>Action:</a:t>
            </a:r>
            <a:r>
              <a:rPr lang="en-US" dirty="0" smtClean="0"/>
              <a:t> Update an existing record in a data source.</a:t>
            </a:r>
          </a:p>
          <a:p>
            <a:pPr lvl="1"/>
            <a:r>
              <a:rPr lang="en-US" b="1" dirty="0" smtClean="0"/>
              <a:t>Use Case:</a:t>
            </a:r>
            <a:r>
              <a:rPr lang="en-US" dirty="0" smtClean="0"/>
              <a:t> Update a status field in a project management application when a task is completed.</a:t>
            </a:r>
          </a:p>
          <a:p>
            <a:pPr>
              <a:buFont typeface="Wingdings" panose="05000000000000000000" pitchFamily="2" charset="2"/>
              <a:buChar char="q"/>
            </a:pPr>
            <a:r>
              <a:rPr lang="en-US" b="1" dirty="0" smtClean="0">
                <a:solidFill>
                  <a:schemeClr val="tx2">
                    <a:lumMod val="75000"/>
                  </a:schemeClr>
                </a:solidFill>
              </a:rPr>
              <a:t>Post Message:</a:t>
            </a:r>
            <a:endParaRPr lang="en-US" dirty="0" smtClean="0">
              <a:solidFill>
                <a:schemeClr val="tx2">
                  <a:lumMod val="75000"/>
                </a:schemeClr>
              </a:solidFill>
            </a:endParaRPr>
          </a:p>
          <a:p>
            <a:pPr lvl="1"/>
            <a:r>
              <a:rPr lang="en-US" b="1" dirty="0" smtClean="0"/>
              <a:t>Action:</a:t>
            </a:r>
            <a:r>
              <a:rPr lang="en-US" dirty="0" smtClean="0"/>
              <a:t> Post a message to a chat or team channel.</a:t>
            </a:r>
          </a:p>
          <a:p>
            <a:pPr lvl="1"/>
            <a:r>
              <a:rPr lang="en-US" b="1" dirty="0" smtClean="0"/>
              <a:t>Use Case:</a:t>
            </a:r>
            <a:r>
              <a:rPr lang="en-US" dirty="0" smtClean="0"/>
              <a:t> Announce important updates to a team in Microsoft Teams.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933327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Trigger And actions</a:t>
            </a:r>
            <a:endParaRPr lang="en-IN" dirty="0">
              <a:solidFill>
                <a:srgbClr val="FF0000"/>
              </a:solidFill>
            </a:endParaRPr>
          </a:p>
        </p:txBody>
      </p:sp>
      <p:pic>
        <p:nvPicPr>
          <p:cNvPr id="5122" name="Picture 2" descr="Power Automate Flow: Usage And Types Explained – Master Data Skills + AI"/>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72862" y="2895600"/>
            <a:ext cx="5985363" cy="29424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41400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solidFill>
                  <a:srgbClr val="FF0000"/>
                </a:solidFill>
              </a:rPr>
              <a:t>Example: reporting the email from power bi report builder</a:t>
            </a:r>
            <a:endParaRPr lang="en-IN" dirty="0">
              <a:solidFill>
                <a:srgbClr val="FF0000"/>
              </a:solidFill>
            </a:endParaRPr>
          </a:p>
        </p:txBody>
      </p:sp>
      <p:pic>
        <p:nvPicPr>
          <p:cNvPr id="8" name="Content Placeholder 7"/>
          <p:cNvPicPr>
            <a:picLocks noGrp="1" noChangeAspect="1"/>
          </p:cNvPicPr>
          <p:nvPr>
            <p:ph idx="1"/>
          </p:nvPr>
        </p:nvPicPr>
        <p:blipFill>
          <a:blip r:embed="rId2"/>
          <a:stretch>
            <a:fillRect/>
          </a:stretch>
        </p:blipFill>
        <p:spPr>
          <a:xfrm>
            <a:off x="5336905" y="2726589"/>
            <a:ext cx="5604755" cy="2452080"/>
          </a:xfrm>
          <a:prstGeom prst="rect">
            <a:avLst/>
          </a:prstGeom>
          <a:ln>
            <a:solidFill>
              <a:schemeClr val="accent1"/>
            </a:solidFill>
          </a:ln>
        </p:spPr>
      </p:pic>
      <p:sp>
        <p:nvSpPr>
          <p:cNvPr id="3" name="Rectangle 2"/>
          <p:cNvSpPr/>
          <p:nvPr/>
        </p:nvSpPr>
        <p:spPr>
          <a:xfrm>
            <a:off x="1002323" y="2365131"/>
            <a:ext cx="3560885" cy="29718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Paginated Report – </a:t>
            </a:r>
            <a:endParaRPr lang="en-US" sz="3600" b="1" dirty="0" smtClean="0">
              <a:solidFill>
                <a:srgbClr val="FF0000"/>
              </a:solidFill>
            </a:endParaRPr>
          </a:p>
          <a:p>
            <a:pPr algn="ctr"/>
            <a:r>
              <a:rPr lang="en-US" sz="3600" b="1" dirty="0" smtClean="0">
                <a:solidFill>
                  <a:srgbClr val="FF0000"/>
                </a:solidFill>
              </a:rPr>
              <a:t>Email </a:t>
            </a:r>
            <a:r>
              <a:rPr lang="en-US" sz="3600" b="1" dirty="0">
                <a:solidFill>
                  <a:srgbClr val="FF0000"/>
                </a:solidFill>
              </a:rPr>
              <a:t>a report</a:t>
            </a:r>
            <a:endParaRPr lang="en-IN" sz="3600" b="1"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694969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solidFill>
                  <a:srgbClr val="FF0000"/>
                </a:solidFill>
              </a:rPr>
              <a:t>Step 1:</a:t>
            </a:r>
            <a:br>
              <a:rPr lang="en-US" dirty="0" smtClean="0">
                <a:solidFill>
                  <a:srgbClr val="FF0000"/>
                </a:solidFill>
              </a:rPr>
            </a:br>
            <a:r>
              <a:rPr lang="en-US" dirty="0" smtClean="0">
                <a:solidFill>
                  <a:srgbClr val="FF0000"/>
                </a:solidFill>
              </a:rPr>
              <a:t> </a:t>
            </a:r>
            <a:r>
              <a:rPr lang="en-US" sz="2400" dirty="0" smtClean="0">
                <a:solidFill>
                  <a:schemeClr val="tx1">
                    <a:lumMod val="95000"/>
                  </a:schemeClr>
                </a:solidFill>
                <a:latin typeface="Bell MT" panose="02020503060305020303" pitchFamily="18" charset="0"/>
              </a:rPr>
              <a:t>Create a manual trigger flow</a:t>
            </a:r>
            <a:endParaRPr lang="en-IN" sz="2400" dirty="0">
              <a:solidFill>
                <a:schemeClr val="tx1">
                  <a:lumMod val="95000"/>
                </a:schemeClr>
              </a:solidFill>
              <a:latin typeface="Bell MT" panose="02020503060305020303" pitchFamily="18" charset="0"/>
            </a:endParaRPr>
          </a:p>
        </p:txBody>
      </p:sp>
      <p:pic>
        <p:nvPicPr>
          <p:cNvPr id="8" name="Content Placeholder 7"/>
          <p:cNvPicPr>
            <a:picLocks noGrp="1" noChangeAspect="1"/>
          </p:cNvPicPr>
          <p:nvPr>
            <p:ph idx="1"/>
          </p:nvPr>
        </p:nvPicPr>
        <p:blipFill>
          <a:blip r:embed="rId2"/>
          <a:stretch>
            <a:fillRect/>
          </a:stretch>
        </p:blipFill>
        <p:spPr>
          <a:xfrm>
            <a:off x="2066192" y="2158904"/>
            <a:ext cx="7825154" cy="413197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7027462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1"/>
            <a:ext cx="10353761" cy="1359876"/>
          </a:xfrm>
        </p:spPr>
        <p:txBody>
          <a:bodyPr>
            <a:normAutofit fontScale="90000"/>
          </a:bodyPr>
          <a:lstStyle/>
          <a:p>
            <a:pPr algn="l"/>
            <a:r>
              <a:rPr lang="en-US" dirty="0" smtClean="0">
                <a:solidFill>
                  <a:srgbClr val="FF0000"/>
                </a:solidFill>
              </a:rPr>
              <a:t>Step 2: </a:t>
            </a:r>
            <a:br>
              <a:rPr lang="en-US" dirty="0" smtClean="0">
                <a:solidFill>
                  <a:srgbClr val="FF0000"/>
                </a:solidFill>
              </a:rPr>
            </a:br>
            <a:r>
              <a:rPr lang="en-US" dirty="0" smtClean="0">
                <a:solidFill>
                  <a:srgbClr val="FF0000"/>
                </a:solidFill>
              </a:rPr>
              <a:t/>
            </a:r>
            <a:br>
              <a:rPr lang="en-US" dirty="0" smtClean="0">
                <a:solidFill>
                  <a:srgbClr val="FF0000"/>
                </a:solidFill>
              </a:rPr>
            </a:br>
            <a:r>
              <a:rPr lang="en-US" sz="2700" dirty="0" smtClean="0">
                <a:solidFill>
                  <a:schemeClr val="tx1">
                    <a:lumMod val="95000"/>
                  </a:schemeClr>
                </a:solidFill>
                <a:latin typeface="Bell MT" panose="02020503060305020303" pitchFamily="18" charset="0"/>
              </a:rPr>
              <a:t>Choose Text and give the input as Email address</a:t>
            </a:r>
            <a:endParaRPr lang="en-IN" sz="2700" dirty="0">
              <a:solidFill>
                <a:schemeClr val="tx1">
                  <a:lumMod val="95000"/>
                </a:schemeClr>
              </a:solidFill>
              <a:latin typeface="Bell MT" panose="02020503060305020303" pitchFamily="18" charset="0"/>
            </a:endParaRPr>
          </a:p>
        </p:txBody>
      </p:sp>
      <p:pic>
        <p:nvPicPr>
          <p:cNvPr id="4" name="Content Placeholder 3"/>
          <p:cNvPicPr>
            <a:picLocks noGrp="1" noChangeAspect="1"/>
          </p:cNvPicPr>
          <p:nvPr>
            <p:ph idx="1"/>
          </p:nvPr>
        </p:nvPicPr>
        <p:blipFill>
          <a:blip r:embed="rId2"/>
          <a:stretch>
            <a:fillRect/>
          </a:stretch>
        </p:blipFill>
        <p:spPr>
          <a:xfrm>
            <a:off x="614796" y="2599593"/>
            <a:ext cx="6505891" cy="3311769"/>
          </a:xfrm>
          <a:prstGeom prst="rect">
            <a:avLst/>
          </a:prstGeom>
        </p:spPr>
      </p:pic>
      <p:pic>
        <p:nvPicPr>
          <p:cNvPr id="5" name="Picture 4"/>
          <p:cNvPicPr>
            <a:picLocks noChangeAspect="1"/>
          </p:cNvPicPr>
          <p:nvPr/>
        </p:nvPicPr>
        <p:blipFill>
          <a:blip r:embed="rId3"/>
          <a:stretch>
            <a:fillRect/>
          </a:stretch>
        </p:blipFill>
        <p:spPr>
          <a:xfrm>
            <a:off x="7375105" y="3422698"/>
            <a:ext cx="4665038" cy="166555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6271815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solidFill>
                  <a:srgbClr val="FF0000"/>
                </a:solidFill>
              </a:rPr>
              <a:t>Step 3:</a:t>
            </a:r>
            <a:br>
              <a:rPr lang="en-US" dirty="0" smtClean="0">
                <a:solidFill>
                  <a:srgbClr val="FF0000"/>
                </a:solidFill>
              </a:rPr>
            </a:br>
            <a:r>
              <a:rPr lang="en-US" dirty="0" smtClean="0">
                <a:solidFill>
                  <a:srgbClr val="FF0000"/>
                </a:solidFill>
              </a:rPr>
              <a:t/>
            </a:r>
            <a:br>
              <a:rPr lang="en-US" dirty="0" smtClean="0">
                <a:solidFill>
                  <a:srgbClr val="FF0000"/>
                </a:solidFill>
              </a:rPr>
            </a:br>
            <a:r>
              <a:rPr lang="en-US" sz="2400" dirty="0" smtClean="0">
                <a:solidFill>
                  <a:schemeClr val="tx1">
                    <a:lumMod val="95000"/>
                  </a:schemeClr>
                </a:solidFill>
                <a:latin typeface="Bell MT" panose="02020503060305020303" pitchFamily="18" charset="0"/>
              </a:rPr>
              <a:t>Choose an action ( Export to file for Paginated Reports)</a:t>
            </a:r>
            <a:endParaRPr lang="en-IN" sz="2400" dirty="0">
              <a:solidFill>
                <a:schemeClr val="tx1">
                  <a:lumMod val="95000"/>
                </a:schemeClr>
              </a:solidFill>
              <a:latin typeface="Bell MT" panose="02020503060305020303" pitchFamily="18" charset="0"/>
            </a:endParaRPr>
          </a:p>
        </p:txBody>
      </p:sp>
      <p:pic>
        <p:nvPicPr>
          <p:cNvPr id="4" name="Content Placeholder 3"/>
          <p:cNvPicPr>
            <a:picLocks noGrp="1" noChangeAspect="1"/>
          </p:cNvPicPr>
          <p:nvPr>
            <p:ph idx="1"/>
          </p:nvPr>
        </p:nvPicPr>
        <p:blipFill>
          <a:blip r:embed="rId2"/>
          <a:stretch>
            <a:fillRect/>
          </a:stretch>
        </p:blipFill>
        <p:spPr>
          <a:xfrm>
            <a:off x="3395833" y="2083776"/>
            <a:ext cx="5389684" cy="446517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9521039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rPr>
              <a:t>Step </a:t>
            </a:r>
            <a:r>
              <a:rPr lang="en-US" dirty="0" smtClean="0">
                <a:solidFill>
                  <a:srgbClr val="FF0000"/>
                </a:solidFill>
              </a:rPr>
              <a:t>4:</a:t>
            </a:r>
            <a:br>
              <a:rPr lang="en-US" dirty="0" smtClean="0">
                <a:solidFill>
                  <a:srgbClr val="FF0000"/>
                </a:solidFill>
              </a:rPr>
            </a:br>
            <a:r>
              <a:rPr lang="en-US" dirty="0">
                <a:solidFill>
                  <a:srgbClr val="FF0000"/>
                </a:solidFill>
              </a:rPr>
              <a:t/>
            </a:r>
            <a:br>
              <a:rPr lang="en-US" dirty="0">
                <a:solidFill>
                  <a:srgbClr val="FF0000"/>
                </a:solidFill>
              </a:rPr>
            </a:br>
            <a:r>
              <a:rPr lang="en-US" sz="2400" dirty="0" smtClean="0">
                <a:solidFill>
                  <a:schemeClr val="tx1">
                    <a:lumMod val="95000"/>
                  </a:schemeClr>
                </a:solidFill>
                <a:latin typeface="Bell MT" panose="02020503060305020303" pitchFamily="18" charset="0"/>
              </a:rPr>
              <a:t>fill up the details in the parameter</a:t>
            </a:r>
            <a:endParaRPr lang="en-IN" dirty="0">
              <a:solidFill>
                <a:schemeClr val="tx1">
                  <a:lumMod val="95000"/>
                </a:schemeClr>
              </a:solidFill>
            </a:endParaRPr>
          </a:p>
        </p:txBody>
      </p:sp>
      <p:pic>
        <p:nvPicPr>
          <p:cNvPr id="4" name="Content Placeholder 3"/>
          <p:cNvPicPr>
            <a:picLocks noGrp="1" noChangeAspect="1"/>
          </p:cNvPicPr>
          <p:nvPr>
            <p:ph idx="1"/>
          </p:nvPr>
        </p:nvPicPr>
        <p:blipFill>
          <a:blip r:embed="rId2"/>
          <a:stretch>
            <a:fillRect/>
          </a:stretch>
        </p:blipFill>
        <p:spPr>
          <a:xfrm>
            <a:off x="3481753" y="2461846"/>
            <a:ext cx="4958861" cy="427892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807520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rPr>
              <a:t>Step </a:t>
            </a:r>
            <a:r>
              <a:rPr lang="en-US" dirty="0" smtClean="0">
                <a:solidFill>
                  <a:srgbClr val="FF0000"/>
                </a:solidFill>
              </a:rPr>
              <a:t>5:</a:t>
            </a:r>
            <a:br>
              <a:rPr lang="en-US" dirty="0" smtClean="0">
                <a:solidFill>
                  <a:srgbClr val="FF0000"/>
                </a:solidFill>
              </a:rPr>
            </a:br>
            <a:r>
              <a:rPr lang="en-US" dirty="0">
                <a:solidFill>
                  <a:srgbClr val="FF0000"/>
                </a:solidFill>
              </a:rPr>
              <a:t/>
            </a:r>
            <a:br>
              <a:rPr lang="en-US" dirty="0">
                <a:solidFill>
                  <a:srgbClr val="FF0000"/>
                </a:solidFill>
              </a:rPr>
            </a:br>
            <a:r>
              <a:rPr lang="en-US" sz="2400" dirty="0" smtClean="0">
                <a:solidFill>
                  <a:schemeClr val="tx1">
                    <a:lumMod val="95000"/>
                  </a:schemeClr>
                </a:solidFill>
                <a:latin typeface="Bell MT" panose="02020503060305020303" pitchFamily="18" charset="0"/>
              </a:rPr>
              <a:t>Again choose an action (send an email)</a:t>
            </a:r>
            <a:endParaRPr lang="en-IN" dirty="0">
              <a:solidFill>
                <a:schemeClr val="tx1">
                  <a:lumMod val="95000"/>
                </a:schemeClr>
              </a:solidFill>
            </a:endParaRPr>
          </a:p>
        </p:txBody>
      </p:sp>
      <p:pic>
        <p:nvPicPr>
          <p:cNvPr id="4" name="Content Placeholder 3"/>
          <p:cNvPicPr>
            <a:picLocks noGrp="1" noChangeAspect="1"/>
          </p:cNvPicPr>
          <p:nvPr>
            <p:ph idx="1"/>
          </p:nvPr>
        </p:nvPicPr>
        <p:blipFill>
          <a:blip r:embed="rId2"/>
          <a:stretch>
            <a:fillRect/>
          </a:stretch>
        </p:blipFill>
        <p:spPr>
          <a:xfrm>
            <a:off x="3449581" y="2173002"/>
            <a:ext cx="5282188" cy="44182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4497796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rPr>
              <a:t>Step </a:t>
            </a:r>
            <a:r>
              <a:rPr lang="en-US" dirty="0" smtClean="0">
                <a:solidFill>
                  <a:srgbClr val="FF0000"/>
                </a:solidFill>
              </a:rPr>
              <a:t>6:</a:t>
            </a:r>
            <a:br>
              <a:rPr lang="en-US" dirty="0" smtClean="0">
                <a:solidFill>
                  <a:srgbClr val="FF0000"/>
                </a:solidFill>
              </a:rPr>
            </a:br>
            <a:r>
              <a:rPr lang="en-US" dirty="0">
                <a:solidFill>
                  <a:srgbClr val="FF0000"/>
                </a:solidFill>
              </a:rPr>
              <a:t/>
            </a:r>
            <a:br>
              <a:rPr lang="en-US" dirty="0">
                <a:solidFill>
                  <a:srgbClr val="FF0000"/>
                </a:solidFill>
              </a:rPr>
            </a:br>
            <a:r>
              <a:rPr lang="en-US" sz="2700" dirty="0" smtClean="0">
                <a:solidFill>
                  <a:schemeClr val="tx1">
                    <a:lumMod val="95000"/>
                  </a:schemeClr>
                </a:solidFill>
                <a:latin typeface="Bell MT" panose="02020503060305020303" pitchFamily="18" charset="0"/>
              </a:rPr>
              <a:t>Fill up the action parameter</a:t>
            </a:r>
            <a:endParaRPr lang="en-IN" sz="2700" dirty="0">
              <a:solidFill>
                <a:schemeClr val="tx1">
                  <a:lumMod val="95000"/>
                </a:schemeClr>
              </a:solidFill>
              <a:latin typeface="Bell MT" panose="02020503060305020303" pitchFamily="18" charset="0"/>
            </a:endParaRPr>
          </a:p>
        </p:txBody>
      </p:sp>
      <p:pic>
        <p:nvPicPr>
          <p:cNvPr id="4" name="Content Placeholder 3"/>
          <p:cNvPicPr>
            <a:picLocks noGrp="1" noChangeAspect="1"/>
          </p:cNvPicPr>
          <p:nvPr>
            <p:ph idx="1"/>
          </p:nvPr>
        </p:nvPicPr>
        <p:blipFill>
          <a:blip r:embed="rId2"/>
          <a:stretch>
            <a:fillRect/>
          </a:stretch>
        </p:blipFill>
        <p:spPr>
          <a:xfrm>
            <a:off x="3961057" y="2312377"/>
            <a:ext cx="4294920" cy="417634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57475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rPr>
              <a:t>Step </a:t>
            </a:r>
            <a:r>
              <a:rPr lang="en-US" dirty="0" smtClean="0">
                <a:solidFill>
                  <a:srgbClr val="FF0000"/>
                </a:solidFill>
              </a:rPr>
              <a:t>7:</a:t>
            </a:r>
            <a:br>
              <a:rPr lang="en-US" dirty="0" smtClean="0">
                <a:solidFill>
                  <a:srgbClr val="FF0000"/>
                </a:solidFill>
              </a:rPr>
            </a:br>
            <a:r>
              <a:rPr lang="en-US" dirty="0">
                <a:solidFill>
                  <a:srgbClr val="FF0000"/>
                </a:solidFill>
              </a:rPr>
              <a:t/>
            </a:r>
            <a:br>
              <a:rPr lang="en-US" dirty="0">
                <a:solidFill>
                  <a:srgbClr val="FF0000"/>
                </a:solidFill>
              </a:rPr>
            </a:br>
            <a:r>
              <a:rPr lang="en-US" sz="2700" dirty="0" smtClean="0">
                <a:solidFill>
                  <a:schemeClr val="tx1">
                    <a:lumMod val="95000"/>
                  </a:schemeClr>
                </a:solidFill>
                <a:latin typeface="Bell MT" panose="02020503060305020303" pitchFamily="18" charset="0"/>
              </a:rPr>
              <a:t>Save the flow and test it</a:t>
            </a:r>
            <a:endParaRPr lang="en-IN" sz="2700" dirty="0">
              <a:solidFill>
                <a:schemeClr val="tx1">
                  <a:lumMod val="95000"/>
                </a:schemeClr>
              </a:solidFill>
              <a:latin typeface="Bell MT" panose="02020503060305020303" pitchFamily="18" charset="0"/>
            </a:endParaRPr>
          </a:p>
        </p:txBody>
      </p:sp>
      <p:pic>
        <p:nvPicPr>
          <p:cNvPr id="4" name="Content Placeholder 3"/>
          <p:cNvPicPr>
            <a:picLocks noGrp="1" noChangeAspect="1"/>
          </p:cNvPicPr>
          <p:nvPr>
            <p:ph idx="1"/>
          </p:nvPr>
        </p:nvPicPr>
        <p:blipFill>
          <a:blip r:embed="rId2"/>
          <a:stretch>
            <a:fillRect/>
          </a:stretch>
        </p:blipFill>
        <p:spPr>
          <a:xfrm>
            <a:off x="1011116" y="2110153"/>
            <a:ext cx="8889022" cy="428978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1055163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rPr>
              <a:t>Step </a:t>
            </a:r>
            <a:r>
              <a:rPr lang="en-US" dirty="0" smtClean="0">
                <a:solidFill>
                  <a:srgbClr val="FF0000"/>
                </a:solidFill>
              </a:rPr>
              <a:t>8:</a:t>
            </a:r>
            <a:br>
              <a:rPr lang="en-US" dirty="0" smtClean="0">
                <a:solidFill>
                  <a:srgbClr val="FF0000"/>
                </a:solidFill>
              </a:rPr>
            </a:br>
            <a:r>
              <a:rPr lang="en-US" dirty="0">
                <a:solidFill>
                  <a:srgbClr val="FF0000"/>
                </a:solidFill>
              </a:rPr>
              <a:t/>
            </a:r>
            <a:br>
              <a:rPr lang="en-US" dirty="0">
                <a:solidFill>
                  <a:srgbClr val="FF0000"/>
                </a:solidFill>
              </a:rPr>
            </a:br>
            <a:r>
              <a:rPr lang="en-US" sz="2700" dirty="0" smtClean="0">
                <a:solidFill>
                  <a:schemeClr val="tx1">
                    <a:lumMod val="95000"/>
                  </a:schemeClr>
                </a:solidFill>
                <a:latin typeface="Bell MT" panose="02020503060305020303" pitchFamily="18" charset="0"/>
              </a:rPr>
              <a:t>Check the connectors </a:t>
            </a:r>
            <a:endParaRPr lang="en-IN" sz="2700" dirty="0">
              <a:solidFill>
                <a:schemeClr val="tx1">
                  <a:lumMod val="95000"/>
                </a:schemeClr>
              </a:solidFill>
              <a:latin typeface="Bell MT" panose="02020503060305020303" pitchFamily="18" charset="0"/>
            </a:endParaRPr>
          </a:p>
        </p:txBody>
      </p:sp>
      <p:pic>
        <p:nvPicPr>
          <p:cNvPr id="4" name="Content Placeholder 3"/>
          <p:cNvPicPr>
            <a:picLocks noGrp="1" noChangeAspect="1"/>
          </p:cNvPicPr>
          <p:nvPr>
            <p:ph idx="1"/>
          </p:nvPr>
        </p:nvPicPr>
        <p:blipFill>
          <a:blip r:embed="rId2"/>
          <a:stretch>
            <a:fillRect/>
          </a:stretch>
        </p:blipFill>
        <p:spPr>
          <a:xfrm>
            <a:off x="1118485" y="2118946"/>
            <a:ext cx="8975083" cy="441007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9947302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rPr>
              <a:t>Step </a:t>
            </a:r>
            <a:r>
              <a:rPr lang="en-US" dirty="0" smtClean="0">
                <a:solidFill>
                  <a:srgbClr val="FF0000"/>
                </a:solidFill>
              </a:rPr>
              <a:t>9:</a:t>
            </a:r>
            <a:br>
              <a:rPr lang="en-US" dirty="0" smtClean="0">
                <a:solidFill>
                  <a:srgbClr val="FF0000"/>
                </a:solidFill>
              </a:rPr>
            </a:br>
            <a:r>
              <a:rPr lang="en-US" dirty="0">
                <a:solidFill>
                  <a:srgbClr val="FF0000"/>
                </a:solidFill>
              </a:rPr>
              <a:t/>
            </a:r>
            <a:br>
              <a:rPr lang="en-US" dirty="0">
                <a:solidFill>
                  <a:srgbClr val="FF0000"/>
                </a:solidFill>
              </a:rPr>
            </a:br>
            <a:r>
              <a:rPr lang="en-US" sz="2700" dirty="0" smtClean="0">
                <a:solidFill>
                  <a:schemeClr val="tx1">
                    <a:lumMod val="95000"/>
                  </a:schemeClr>
                </a:solidFill>
                <a:latin typeface="Bell MT" panose="02020503060305020303" pitchFamily="18" charset="0"/>
              </a:rPr>
              <a:t>Run the flow by providing the email address in the input field</a:t>
            </a:r>
            <a:endParaRPr lang="en-IN" sz="2700" dirty="0">
              <a:solidFill>
                <a:schemeClr val="tx1">
                  <a:lumMod val="95000"/>
                </a:schemeClr>
              </a:solidFill>
              <a:latin typeface="Bell MT" panose="02020503060305020303" pitchFamily="18" charset="0"/>
            </a:endParaRPr>
          </a:p>
        </p:txBody>
      </p:sp>
      <p:pic>
        <p:nvPicPr>
          <p:cNvPr id="4" name="Content Placeholder 3"/>
          <p:cNvPicPr>
            <a:picLocks noGrp="1" noChangeAspect="1"/>
          </p:cNvPicPr>
          <p:nvPr>
            <p:ph idx="1"/>
          </p:nvPr>
        </p:nvPicPr>
        <p:blipFill>
          <a:blip r:embed="rId2"/>
          <a:stretch>
            <a:fillRect/>
          </a:stretch>
        </p:blipFill>
        <p:spPr>
          <a:xfrm>
            <a:off x="1939411" y="2294792"/>
            <a:ext cx="8110195" cy="398243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370956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rPr>
              <a:t>Step </a:t>
            </a:r>
            <a:r>
              <a:rPr lang="en-US" dirty="0" smtClean="0">
                <a:solidFill>
                  <a:srgbClr val="FF0000"/>
                </a:solidFill>
              </a:rPr>
              <a:t>10:</a:t>
            </a:r>
            <a:br>
              <a:rPr lang="en-US" dirty="0" smtClean="0">
                <a:solidFill>
                  <a:srgbClr val="FF0000"/>
                </a:solidFill>
              </a:rPr>
            </a:br>
            <a:r>
              <a:rPr lang="en-US" dirty="0">
                <a:solidFill>
                  <a:srgbClr val="FF0000"/>
                </a:solidFill>
              </a:rPr>
              <a:t/>
            </a:r>
            <a:br>
              <a:rPr lang="en-US" dirty="0">
                <a:solidFill>
                  <a:srgbClr val="FF0000"/>
                </a:solidFill>
              </a:rPr>
            </a:br>
            <a:r>
              <a:rPr lang="en-US" sz="2700" dirty="0" smtClean="0">
                <a:solidFill>
                  <a:schemeClr val="tx1">
                    <a:lumMod val="95000"/>
                  </a:schemeClr>
                </a:solidFill>
                <a:latin typeface="Bell MT" panose="02020503060305020303" pitchFamily="18" charset="0"/>
              </a:rPr>
              <a:t>After execution of the flow</a:t>
            </a:r>
            <a:endParaRPr lang="en-IN" sz="2700" dirty="0">
              <a:solidFill>
                <a:schemeClr val="tx1">
                  <a:lumMod val="95000"/>
                </a:schemeClr>
              </a:solidFill>
              <a:latin typeface="Bell MT" panose="02020503060305020303" pitchFamily="18" charset="0"/>
            </a:endParaRPr>
          </a:p>
        </p:txBody>
      </p:sp>
      <p:pic>
        <p:nvPicPr>
          <p:cNvPr id="4" name="Content Placeholder 3"/>
          <p:cNvPicPr>
            <a:picLocks noGrp="1" noChangeAspect="1"/>
          </p:cNvPicPr>
          <p:nvPr>
            <p:ph idx="1"/>
          </p:nvPr>
        </p:nvPicPr>
        <p:blipFill>
          <a:blip r:embed="rId2"/>
          <a:stretch>
            <a:fillRect/>
          </a:stretch>
        </p:blipFill>
        <p:spPr>
          <a:xfrm>
            <a:off x="2581562" y="2095500"/>
            <a:ext cx="7775776" cy="409396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972690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29243" y="657226"/>
            <a:ext cx="10112833" cy="3334482"/>
          </a:xfrm>
        </p:spPr>
        <p:txBody>
          <a:bodyPr>
            <a:normAutofit/>
          </a:bodyPr>
          <a:lstStyle/>
          <a:p>
            <a:r>
              <a:rPr lang="en-US" sz="4800" dirty="0" smtClean="0">
                <a:solidFill>
                  <a:srgbClr val="FF0000"/>
                </a:solidFill>
                <a:latin typeface="Algerian" panose="04020705040A02060702" pitchFamily="82" charset="0"/>
              </a:rPr>
              <a:t>Power automate Desktop</a:t>
            </a:r>
            <a:endParaRPr lang="en-IN" sz="4800" dirty="0">
              <a:solidFill>
                <a:srgbClr val="FF0000"/>
              </a:solidFill>
              <a:latin typeface="Algerian" panose="04020705040A02060702" pitchFamily="82" charset="0"/>
            </a:endParaRPr>
          </a:p>
        </p:txBody>
      </p:sp>
      <p:sp>
        <p:nvSpPr>
          <p:cNvPr id="5" name="Text Placeholder 4"/>
          <p:cNvSpPr>
            <a:spLocks noGrp="1"/>
          </p:cNvSpPr>
          <p:nvPr>
            <p:ph type="body" idx="1"/>
          </p:nvPr>
        </p:nvSpPr>
        <p:spPr/>
        <p:txBody>
          <a:bodyPr/>
          <a:lstStyle/>
          <a:p>
            <a:r>
              <a:rPr lang="en-US" dirty="0" smtClean="0"/>
              <a:t>  </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8500073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What is Power Automate Desktop?</a:t>
            </a:r>
            <a:endParaRPr lang="en-IN" dirty="0">
              <a:solidFill>
                <a:srgbClr val="FF0000"/>
              </a:solidFill>
            </a:endParaRPr>
          </a:p>
        </p:txBody>
      </p:sp>
      <p:sp>
        <p:nvSpPr>
          <p:cNvPr id="5" name="Content Placeholder 4"/>
          <p:cNvSpPr>
            <a:spLocks noGrp="1"/>
          </p:cNvSpPr>
          <p:nvPr>
            <p:ph idx="1"/>
          </p:nvPr>
        </p:nvSpPr>
        <p:spPr/>
        <p:txBody>
          <a:bodyPr/>
          <a:lstStyle/>
          <a:p>
            <a:r>
              <a:rPr lang="en-US" dirty="0"/>
              <a:t>Power Automate Desktop is part of the Microsoft Power Automate suite and allows users to automate desktop-based processes and tasks. </a:t>
            </a:r>
            <a:endParaRPr lang="en-US" dirty="0" smtClean="0"/>
          </a:p>
          <a:p>
            <a:r>
              <a:rPr lang="en-US" dirty="0" smtClean="0"/>
              <a:t>It </a:t>
            </a:r>
            <a:r>
              <a:rPr lang="en-US" dirty="0"/>
              <a:t>supports creating and running automated workflows, known as "flows," to streamline various activities on a Windows machine.</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2852415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 Power automate vs power automate desktop</a:t>
            </a:r>
            <a:endParaRPr lang="en-IN" dirty="0">
              <a:solidFill>
                <a:srgbClr val="FF0000"/>
              </a:solidFill>
            </a:endParaRPr>
          </a:p>
        </p:txBody>
      </p:sp>
      <p:sp>
        <p:nvSpPr>
          <p:cNvPr id="5" name="Text Placeholder 4"/>
          <p:cNvSpPr>
            <a:spLocks noGrp="1"/>
          </p:cNvSpPr>
          <p:nvPr>
            <p:ph type="body" idx="1"/>
          </p:nvPr>
        </p:nvSpPr>
        <p:spPr/>
        <p:txBody>
          <a:bodyPr/>
          <a:lstStyle/>
          <a:p>
            <a:r>
              <a:rPr lang="en-US" dirty="0" smtClean="0">
                <a:solidFill>
                  <a:schemeClr val="accent6">
                    <a:lumMod val="60000"/>
                    <a:lumOff val="40000"/>
                  </a:schemeClr>
                </a:solidFill>
              </a:rPr>
              <a:t>Power Automate</a:t>
            </a:r>
            <a:endParaRPr lang="en-IN" dirty="0">
              <a:solidFill>
                <a:schemeClr val="accent6">
                  <a:lumMod val="60000"/>
                  <a:lumOff val="40000"/>
                </a:schemeClr>
              </a:solidFill>
            </a:endParaRPr>
          </a:p>
        </p:txBody>
      </p:sp>
      <p:sp>
        <p:nvSpPr>
          <p:cNvPr id="6" name="Text Placeholder 5"/>
          <p:cNvSpPr>
            <a:spLocks noGrp="1"/>
          </p:cNvSpPr>
          <p:nvPr>
            <p:ph type="body" sz="quarter" idx="3"/>
          </p:nvPr>
        </p:nvSpPr>
        <p:spPr/>
        <p:txBody>
          <a:bodyPr/>
          <a:lstStyle/>
          <a:p>
            <a:r>
              <a:rPr lang="en-US" dirty="0" smtClean="0">
                <a:solidFill>
                  <a:schemeClr val="accent6">
                    <a:lumMod val="60000"/>
                    <a:lumOff val="40000"/>
                  </a:schemeClr>
                </a:solidFill>
              </a:rPr>
              <a:t>Power Automate Desktop</a:t>
            </a:r>
            <a:endParaRPr lang="en-IN" dirty="0">
              <a:solidFill>
                <a:schemeClr val="accent6">
                  <a:lumMod val="60000"/>
                  <a:lumOff val="40000"/>
                </a:schemeClr>
              </a:solidFill>
            </a:endParaRPr>
          </a:p>
        </p:txBody>
      </p:sp>
      <p:sp>
        <p:nvSpPr>
          <p:cNvPr id="7" name="Content Placeholder 6"/>
          <p:cNvSpPr>
            <a:spLocks noGrp="1"/>
          </p:cNvSpPr>
          <p:nvPr>
            <p:ph sz="quarter" idx="4"/>
          </p:nvPr>
        </p:nvSpPr>
        <p:spPr/>
        <p:txBody>
          <a:bodyPr/>
          <a:lstStyle/>
          <a:p>
            <a:r>
              <a:rPr lang="en-US" dirty="0" smtClean="0"/>
              <a:t>A new desktop-based RPA</a:t>
            </a:r>
          </a:p>
          <a:p>
            <a:r>
              <a:rPr lang="en-US" dirty="0" smtClean="0"/>
              <a:t>A Desktop based software</a:t>
            </a:r>
          </a:p>
          <a:p>
            <a:r>
              <a:rPr lang="en-US" dirty="0" smtClean="0"/>
              <a:t>Automate ant desktop or web-based application</a:t>
            </a:r>
          </a:p>
          <a:p>
            <a:r>
              <a:rPr lang="en-US" dirty="0" smtClean="0"/>
              <a:t>370 + Actions</a:t>
            </a:r>
          </a:p>
          <a:p>
            <a:r>
              <a:rPr lang="en-US" dirty="0" smtClean="0"/>
              <a:t>Web Recorder and Desktop Recorder</a:t>
            </a:r>
            <a:endParaRPr lang="en-IN" dirty="0"/>
          </a:p>
        </p:txBody>
      </p:sp>
      <p:sp>
        <p:nvSpPr>
          <p:cNvPr id="8" name="Content Placeholder 7"/>
          <p:cNvSpPr>
            <a:spLocks noGrp="1"/>
          </p:cNvSpPr>
          <p:nvPr>
            <p:ph sz="half" idx="2"/>
          </p:nvPr>
        </p:nvSpPr>
        <p:spPr/>
        <p:txBody>
          <a:bodyPr/>
          <a:lstStyle/>
          <a:p>
            <a:r>
              <a:rPr lang="en-US" dirty="0"/>
              <a:t>Named “power automate” at “ignite 2019” RPA</a:t>
            </a:r>
          </a:p>
          <a:p>
            <a:r>
              <a:rPr lang="en-US" dirty="0"/>
              <a:t>A Cloud-based software</a:t>
            </a:r>
          </a:p>
          <a:p>
            <a:r>
              <a:rPr lang="en-US" dirty="0"/>
              <a:t>Automated workflows are called flows.</a:t>
            </a:r>
          </a:p>
          <a:p>
            <a:r>
              <a:rPr lang="en-US" dirty="0"/>
              <a:t>450+Connectors</a:t>
            </a:r>
          </a:p>
          <a:p>
            <a:r>
              <a:rPr lang="en-US" dirty="0"/>
              <a:t>AI features.</a:t>
            </a:r>
            <a:endParaRPr lang="en-IN" dirty="0"/>
          </a:p>
          <a:p>
            <a:pPr marL="0" indent="0">
              <a:buNone/>
            </a:pPr>
            <a:endParaRPr lang="en-IN"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0632558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solidFill>
                  <a:srgbClr val="FF0000"/>
                </a:solidFill>
              </a:rPr>
              <a:t>similarities</a:t>
            </a:r>
            <a:endParaRPr lang="en-IN" dirty="0">
              <a:solidFill>
                <a:srgbClr val="FF0000"/>
              </a:solidFill>
            </a:endParaRPr>
          </a:p>
        </p:txBody>
      </p:sp>
      <p:sp>
        <p:nvSpPr>
          <p:cNvPr id="3" name="Content Placeholder 2"/>
          <p:cNvSpPr>
            <a:spLocks noGrp="1"/>
          </p:cNvSpPr>
          <p:nvPr>
            <p:ph idx="1"/>
          </p:nvPr>
        </p:nvSpPr>
        <p:spPr/>
        <p:txBody>
          <a:bodyPr/>
          <a:lstStyle/>
          <a:p>
            <a:r>
              <a:rPr lang="en-US" dirty="0" smtClean="0"/>
              <a:t>RPA</a:t>
            </a:r>
          </a:p>
          <a:p>
            <a:r>
              <a:rPr lang="en-US" dirty="0" smtClean="0"/>
              <a:t>Automate the task with flows</a:t>
            </a:r>
          </a:p>
          <a:p>
            <a:r>
              <a:rPr lang="en-US" dirty="0" smtClean="0"/>
              <a:t>Low code or No code</a:t>
            </a:r>
          </a:p>
          <a:p>
            <a:r>
              <a:rPr lang="en-US" dirty="0" smtClean="0"/>
              <a:t>Microsoft Products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0056501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Key Features</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b="1" dirty="0">
                <a:solidFill>
                  <a:schemeClr val="tx2">
                    <a:lumMod val="75000"/>
                  </a:schemeClr>
                </a:solidFill>
              </a:rPr>
              <a:t>Drag-and-Drop Interface:</a:t>
            </a:r>
            <a:endParaRPr lang="en-US" dirty="0">
              <a:solidFill>
                <a:schemeClr val="tx2">
                  <a:lumMod val="75000"/>
                </a:schemeClr>
              </a:solidFill>
            </a:endParaRPr>
          </a:p>
          <a:p>
            <a:pPr marL="457200" lvl="1" indent="0">
              <a:buNone/>
            </a:pPr>
            <a:r>
              <a:rPr lang="en-US" b="1" dirty="0"/>
              <a:t>User-Friendly Design:</a:t>
            </a:r>
            <a:r>
              <a:rPr lang="en-US" dirty="0"/>
              <a:t> Offers a visual interface where users can drag and drop actions to build workflows without needing extensive coding knowledge.</a:t>
            </a:r>
          </a:p>
          <a:p>
            <a:pPr>
              <a:buFont typeface="Wingdings" panose="05000000000000000000" pitchFamily="2" charset="2"/>
              <a:buChar char="Ø"/>
            </a:pPr>
            <a:r>
              <a:rPr lang="en-US" b="1" dirty="0">
                <a:solidFill>
                  <a:schemeClr val="tx2">
                    <a:lumMod val="75000"/>
                  </a:schemeClr>
                </a:solidFill>
              </a:rPr>
              <a:t>Wide Range of Actions:</a:t>
            </a:r>
            <a:endParaRPr lang="en-US" dirty="0">
              <a:solidFill>
                <a:schemeClr val="tx2">
                  <a:lumMod val="75000"/>
                </a:schemeClr>
              </a:solidFill>
            </a:endParaRPr>
          </a:p>
          <a:p>
            <a:pPr lvl="1"/>
            <a:r>
              <a:rPr lang="en-US" b="1" dirty="0"/>
              <a:t>File Operations:</a:t>
            </a:r>
            <a:r>
              <a:rPr lang="en-US" dirty="0"/>
              <a:t> Automate file creation, deletion, renaming, and manipulation.</a:t>
            </a:r>
          </a:p>
          <a:p>
            <a:pPr lvl="1"/>
            <a:r>
              <a:rPr lang="en-US" b="1" dirty="0"/>
              <a:t>Data Handling:</a:t>
            </a:r>
            <a:r>
              <a:rPr lang="en-US" dirty="0"/>
              <a:t> Read from and write to databases, Excel spreadsheets, and other data sources.</a:t>
            </a:r>
          </a:p>
          <a:p>
            <a:pPr lvl="1"/>
            <a:r>
              <a:rPr lang="en-US" b="1" dirty="0"/>
              <a:t>UI Automation:</a:t>
            </a:r>
            <a:r>
              <a:rPr lang="en-US" dirty="0"/>
              <a:t> Interact with software applications by mimicking user actions like clicking buttons, entering text, and navigating through applications.</a:t>
            </a:r>
          </a:p>
          <a:p>
            <a:pPr lvl="1"/>
            <a:r>
              <a:rPr lang="en-US" b="1" dirty="0"/>
              <a:t>Web Automation:</a:t>
            </a:r>
            <a:r>
              <a:rPr lang="en-US" dirty="0"/>
              <a:t> Automate web interactions such as data scraping, form submission, and web navigation.</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8801767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Key Features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a:solidFill>
                  <a:schemeClr val="tx2">
                    <a:lumMod val="75000"/>
                  </a:schemeClr>
                </a:solidFill>
              </a:rPr>
              <a:t>Integration with Other Tools:</a:t>
            </a:r>
            <a:endParaRPr lang="en-US" dirty="0">
              <a:solidFill>
                <a:schemeClr val="tx2">
                  <a:lumMod val="75000"/>
                </a:schemeClr>
              </a:solidFill>
            </a:endParaRPr>
          </a:p>
          <a:p>
            <a:pPr lvl="1"/>
            <a:r>
              <a:rPr lang="en-US" b="1" dirty="0"/>
              <a:t>Microsoft Ecosystem:</a:t>
            </a:r>
            <a:r>
              <a:rPr lang="en-US" dirty="0"/>
              <a:t> Seamlessly integrates with other Microsoft services, including SharePoint, Outlook, and Dynamics 365.</a:t>
            </a:r>
          </a:p>
          <a:p>
            <a:pPr lvl="1"/>
            <a:r>
              <a:rPr lang="en-US" b="1" dirty="0"/>
              <a:t>Custom APIs:</a:t>
            </a:r>
            <a:r>
              <a:rPr lang="en-US" dirty="0"/>
              <a:t> Connect with third-party APIs and services to extend functionality.</a:t>
            </a:r>
          </a:p>
          <a:p>
            <a:pPr>
              <a:buFont typeface="Wingdings" panose="05000000000000000000" pitchFamily="2" charset="2"/>
              <a:buChar char="Ø"/>
            </a:pPr>
            <a:r>
              <a:rPr lang="en-US" b="1" dirty="0">
                <a:solidFill>
                  <a:schemeClr val="tx2">
                    <a:lumMod val="75000"/>
                  </a:schemeClr>
                </a:solidFill>
              </a:rPr>
              <a:t>Conditional Logic:</a:t>
            </a:r>
            <a:endParaRPr lang="en-US" dirty="0">
              <a:solidFill>
                <a:schemeClr val="tx2">
                  <a:lumMod val="75000"/>
                </a:schemeClr>
              </a:solidFill>
            </a:endParaRPr>
          </a:p>
          <a:p>
            <a:pPr lvl="1"/>
            <a:r>
              <a:rPr lang="en-US" b="1" dirty="0"/>
              <a:t>Decision Making:</a:t>
            </a:r>
            <a:r>
              <a:rPr lang="en-US" dirty="0"/>
              <a:t> Implement if-then conditions, loops, and other logical constructs to handle complex workflows and decision-making.</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3210781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Key Features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a:solidFill>
                  <a:schemeClr val="tx2">
                    <a:lumMod val="75000"/>
                  </a:schemeClr>
                </a:solidFill>
              </a:rPr>
              <a:t>Error Handling and Logging:</a:t>
            </a:r>
            <a:endParaRPr lang="en-US" dirty="0">
              <a:solidFill>
                <a:schemeClr val="tx2">
                  <a:lumMod val="75000"/>
                </a:schemeClr>
              </a:solidFill>
            </a:endParaRPr>
          </a:p>
          <a:p>
            <a:pPr lvl="1"/>
            <a:r>
              <a:rPr lang="en-US" b="1" dirty="0"/>
              <a:t>Robust Monitoring:</a:t>
            </a:r>
            <a:r>
              <a:rPr lang="en-US" dirty="0"/>
              <a:t> Built-in features to manage errors and exceptions, providing detailed logs and notifications for better monitoring and troubleshooting.</a:t>
            </a:r>
          </a:p>
          <a:p>
            <a:pPr>
              <a:buFont typeface="Wingdings" panose="05000000000000000000" pitchFamily="2" charset="2"/>
              <a:buChar char="Ø"/>
            </a:pPr>
            <a:r>
              <a:rPr lang="en-US" b="1" dirty="0">
                <a:solidFill>
                  <a:schemeClr val="tx2">
                    <a:lumMod val="75000"/>
                  </a:schemeClr>
                </a:solidFill>
              </a:rPr>
              <a:t>Data Extraction and Manipulation:</a:t>
            </a:r>
            <a:endParaRPr lang="en-US" dirty="0">
              <a:solidFill>
                <a:schemeClr val="tx2">
                  <a:lumMod val="75000"/>
                </a:schemeClr>
              </a:solidFill>
            </a:endParaRPr>
          </a:p>
          <a:p>
            <a:pPr lvl="1"/>
            <a:r>
              <a:rPr lang="en-US" b="1" dirty="0"/>
              <a:t>Text and Data Extraction:</a:t>
            </a:r>
            <a:r>
              <a:rPr lang="en-US" dirty="0"/>
              <a:t> Extract and manipulate data from various sources, including text files, web pages, and more.</a:t>
            </a:r>
          </a:p>
          <a:p>
            <a:pPr>
              <a:buFont typeface="Wingdings" panose="05000000000000000000" pitchFamily="2" charset="2"/>
              <a:buChar char="Ø"/>
            </a:pPr>
            <a:r>
              <a:rPr lang="en-US" b="1" dirty="0">
                <a:solidFill>
                  <a:schemeClr val="tx2">
                    <a:lumMod val="75000"/>
                  </a:schemeClr>
                </a:solidFill>
              </a:rPr>
              <a:t>Automation Recording:</a:t>
            </a:r>
            <a:endParaRPr lang="en-US" dirty="0">
              <a:solidFill>
                <a:schemeClr val="tx2">
                  <a:lumMod val="75000"/>
                </a:schemeClr>
              </a:solidFill>
            </a:endParaRPr>
          </a:p>
          <a:p>
            <a:pPr lvl="1"/>
            <a:r>
              <a:rPr lang="en-US" b="1" dirty="0"/>
              <a:t>Record Actions:</a:t>
            </a:r>
            <a:r>
              <a:rPr lang="en-US" dirty="0"/>
              <a:t> Use the recorder to capture and replicate user interactions with applications, converting these actions into automated workflows.</a:t>
            </a:r>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8832923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Components</a:t>
            </a:r>
            <a:endParaRPr lang="en-IN"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dirty="0" smtClean="0">
                <a:solidFill>
                  <a:schemeClr val="tx2">
                    <a:lumMod val="75000"/>
                  </a:schemeClr>
                </a:solidFill>
              </a:rPr>
              <a:t> Actions:</a:t>
            </a:r>
          </a:p>
          <a:p>
            <a:pPr lvl="1"/>
            <a:r>
              <a:rPr lang="en-US" dirty="0" smtClean="0"/>
              <a:t>Basic Actions</a:t>
            </a:r>
          </a:p>
          <a:p>
            <a:pPr lvl="1"/>
            <a:r>
              <a:rPr lang="en-US" dirty="0" smtClean="0"/>
              <a:t>UI Automation Actions</a:t>
            </a:r>
          </a:p>
          <a:p>
            <a:pPr lvl="1"/>
            <a:r>
              <a:rPr lang="en-US" dirty="0" smtClean="0"/>
              <a:t>Web Automation Actions</a:t>
            </a:r>
          </a:p>
          <a:p>
            <a:pPr lvl="1"/>
            <a:r>
              <a:rPr lang="en-US" dirty="0" smtClean="0"/>
              <a:t>File Actions</a:t>
            </a:r>
          </a:p>
          <a:p>
            <a:pPr lvl="1"/>
            <a:r>
              <a:rPr lang="en-US" dirty="0" smtClean="0"/>
              <a:t>Excel Actions</a:t>
            </a:r>
          </a:p>
          <a:p>
            <a:pPr lvl="1"/>
            <a:r>
              <a:rPr lang="en-US" dirty="0" smtClean="0"/>
              <a:t>Database Actions</a:t>
            </a:r>
          </a:p>
          <a:p>
            <a:pPr>
              <a:buFont typeface="Wingdings" panose="05000000000000000000" pitchFamily="2" charset="2"/>
              <a:buChar char="Ø"/>
            </a:pPr>
            <a:r>
              <a:rPr lang="en-US" dirty="0" smtClean="0">
                <a:solidFill>
                  <a:schemeClr val="tx2">
                    <a:lumMod val="75000"/>
                  </a:schemeClr>
                </a:solidFill>
              </a:rPr>
              <a:t>Variables:</a:t>
            </a:r>
          </a:p>
          <a:p>
            <a:pPr lvl="1"/>
            <a:r>
              <a:rPr lang="en-US" b="1" dirty="0"/>
              <a:t>Global Variables</a:t>
            </a:r>
            <a:r>
              <a:rPr lang="en-US" dirty="0"/>
              <a:t>: Accessible throughout the entire flow</a:t>
            </a:r>
            <a:r>
              <a:rPr lang="en-US" dirty="0" smtClean="0"/>
              <a:t>.</a:t>
            </a:r>
          </a:p>
          <a:p>
            <a:pPr lvl="1"/>
            <a:r>
              <a:rPr lang="en-US" b="1" dirty="0"/>
              <a:t>Local Variables</a:t>
            </a:r>
            <a:r>
              <a:rPr lang="en-US" dirty="0"/>
              <a:t>: Accessible only within the specific scope where they are defined.</a:t>
            </a:r>
            <a:endParaRPr lang="en-US" dirty="0" smtClean="0"/>
          </a:p>
          <a:p>
            <a:pPr lvl="1"/>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5357041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Components</a:t>
            </a:r>
            <a:endParaRPr lang="en-IN" dirty="0">
              <a:solidFill>
                <a:srgbClr val="FF0000"/>
              </a:solidFill>
            </a:endParaRPr>
          </a:p>
        </p:txBody>
      </p:sp>
      <p:sp>
        <p:nvSpPr>
          <p:cNvPr id="3" name="Content Placeholder 2"/>
          <p:cNvSpPr>
            <a:spLocks noGrp="1"/>
          </p:cNvSpPr>
          <p:nvPr>
            <p:ph idx="1"/>
          </p:nvPr>
        </p:nvSpPr>
        <p:spPr>
          <a:xfrm>
            <a:off x="913795" y="2096064"/>
            <a:ext cx="10353762" cy="4145710"/>
          </a:xfrm>
        </p:spPr>
        <p:txBody>
          <a:bodyPr>
            <a:normAutofit fontScale="92500"/>
          </a:bodyPr>
          <a:lstStyle/>
          <a:p>
            <a:pPr>
              <a:buFont typeface="Wingdings" panose="05000000000000000000" pitchFamily="2" charset="2"/>
              <a:buChar char="Ø"/>
            </a:pPr>
            <a:r>
              <a:rPr lang="en-US" dirty="0" smtClean="0">
                <a:solidFill>
                  <a:schemeClr val="tx2">
                    <a:lumMod val="75000"/>
                  </a:schemeClr>
                </a:solidFill>
              </a:rPr>
              <a:t> </a:t>
            </a:r>
            <a:r>
              <a:rPr lang="en-IN" b="1" dirty="0">
                <a:solidFill>
                  <a:schemeClr val="tx2">
                    <a:lumMod val="75000"/>
                  </a:schemeClr>
                </a:solidFill>
              </a:rPr>
              <a:t>Flows</a:t>
            </a:r>
            <a:r>
              <a:rPr lang="en-US" dirty="0" smtClean="0">
                <a:solidFill>
                  <a:schemeClr val="tx2">
                    <a:lumMod val="75000"/>
                  </a:schemeClr>
                </a:solidFill>
              </a:rPr>
              <a:t>:</a:t>
            </a:r>
          </a:p>
          <a:p>
            <a:pPr lvl="1"/>
            <a:r>
              <a:rPr lang="en-US" b="1" dirty="0"/>
              <a:t>Main Flow</a:t>
            </a:r>
            <a:r>
              <a:rPr lang="en-US" dirty="0"/>
              <a:t>: </a:t>
            </a:r>
            <a:r>
              <a:rPr lang="en-US" dirty="0" smtClean="0"/>
              <a:t> The </a:t>
            </a:r>
            <a:r>
              <a:rPr lang="en-US" dirty="0"/>
              <a:t>central flow that orchestrates the sequence of </a:t>
            </a:r>
            <a:r>
              <a:rPr lang="en-US" dirty="0" smtClean="0"/>
              <a:t>actions.</a:t>
            </a:r>
          </a:p>
          <a:p>
            <a:pPr lvl="1"/>
            <a:r>
              <a:rPr lang="en-US" b="1" dirty="0" err="1" smtClean="0"/>
              <a:t>Subflows</a:t>
            </a:r>
            <a:r>
              <a:rPr lang="en-US" dirty="0"/>
              <a:t>: </a:t>
            </a:r>
            <a:r>
              <a:rPr lang="en-US" dirty="0" smtClean="0"/>
              <a:t> Smaller </a:t>
            </a:r>
            <a:r>
              <a:rPr lang="en-US" dirty="0"/>
              <a:t>flows that can be invoked from the main flow to modularize the automation</a:t>
            </a:r>
            <a:r>
              <a:rPr lang="en-US" dirty="0" smtClean="0"/>
              <a:t>.</a:t>
            </a:r>
          </a:p>
          <a:p>
            <a:pPr>
              <a:buFont typeface="Wingdings" panose="05000000000000000000" pitchFamily="2" charset="2"/>
              <a:buChar char="Ø"/>
            </a:pPr>
            <a:r>
              <a:rPr lang="en-US" dirty="0">
                <a:solidFill>
                  <a:schemeClr val="tx2">
                    <a:lumMod val="75000"/>
                  </a:schemeClr>
                </a:solidFill>
              </a:rPr>
              <a:t> </a:t>
            </a:r>
            <a:r>
              <a:rPr lang="en-IN" dirty="0">
                <a:solidFill>
                  <a:schemeClr val="tx2">
                    <a:lumMod val="75000"/>
                  </a:schemeClr>
                </a:solidFill>
              </a:rPr>
              <a:t>Conditions and </a:t>
            </a:r>
            <a:r>
              <a:rPr lang="en-IN" dirty="0" smtClean="0">
                <a:solidFill>
                  <a:schemeClr val="tx2">
                    <a:lumMod val="75000"/>
                  </a:schemeClr>
                </a:solidFill>
              </a:rPr>
              <a:t>Branching:</a:t>
            </a:r>
          </a:p>
          <a:p>
            <a:pPr lvl="1"/>
            <a:r>
              <a:rPr lang="en-US" b="1" dirty="0"/>
              <a:t>If Conditions</a:t>
            </a:r>
            <a:r>
              <a:rPr lang="en-US" dirty="0"/>
              <a:t>: Allow you to execute different actions based on whether certain conditions are met</a:t>
            </a:r>
            <a:r>
              <a:rPr lang="en-US" dirty="0" smtClean="0"/>
              <a:t>.</a:t>
            </a:r>
          </a:p>
          <a:p>
            <a:pPr lvl="1"/>
            <a:r>
              <a:rPr lang="en-US" b="1" dirty="0"/>
              <a:t>Switch Cases</a:t>
            </a:r>
            <a:r>
              <a:rPr lang="en-US" dirty="0"/>
              <a:t>: Handle multiple conditions by branching into different cases</a:t>
            </a:r>
            <a:r>
              <a:rPr lang="en-US" dirty="0" smtClean="0"/>
              <a:t>.</a:t>
            </a:r>
          </a:p>
          <a:p>
            <a:pPr>
              <a:buFont typeface="Wingdings" panose="05000000000000000000" pitchFamily="2" charset="2"/>
              <a:buChar char="Ø"/>
            </a:pPr>
            <a:r>
              <a:rPr lang="en-US" dirty="0">
                <a:solidFill>
                  <a:schemeClr val="tx2">
                    <a:lumMod val="75000"/>
                  </a:schemeClr>
                </a:solidFill>
              </a:rPr>
              <a:t> </a:t>
            </a:r>
            <a:r>
              <a:rPr lang="en-IN" dirty="0" smtClean="0">
                <a:solidFill>
                  <a:schemeClr val="tx2">
                    <a:lumMod val="75000"/>
                  </a:schemeClr>
                </a:solidFill>
              </a:rPr>
              <a:t>Loops:</a:t>
            </a:r>
          </a:p>
          <a:p>
            <a:pPr lvl="1"/>
            <a:r>
              <a:rPr lang="en-US" b="1" dirty="0"/>
              <a:t>For Each</a:t>
            </a:r>
            <a:r>
              <a:rPr lang="en-US" dirty="0"/>
              <a:t>: Iterate over a collection of items and perform actions for each item</a:t>
            </a:r>
            <a:r>
              <a:rPr lang="en-US" dirty="0" smtClean="0"/>
              <a:t>.</a:t>
            </a:r>
          </a:p>
          <a:p>
            <a:pPr lvl="1"/>
            <a:r>
              <a:rPr lang="en-US" b="1" dirty="0"/>
              <a:t>While</a:t>
            </a:r>
            <a:r>
              <a:rPr lang="en-US" dirty="0"/>
              <a:t>: Execute actions repeatedly as long as a specified condition is true.</a:t>
            </a:r>
            <a:endParaRPr lang="en-IN" dirty="0" smtClean="0">
              <a:solidFill>
                <a:schemeClr val="tx2">
                  <a:lumMod val="75000"/>
                </a:schemeClr>
              </a:solidFill>
            </a:endParaRPr>
          </a:p>
          <a:p>
            <a:pPr>
              <a:buFont typeface="Wingdings" panose="05000000000000000000" pitchFamily="2" charset="2"/>
              <a:buChar char="Ø"/>
            </a:pPr>
            <a:endParaRPr lang="en-IN" dirty="0">
              <a:solidFill>
                <a:schemeClr val="tx2">
                  <a:lumMod val="75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5840344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Components</a:t>
            </a:r>
            <a:endParaRPr lang="en-IN" dirty="0">
              <a:solidFill>
                <a:srgbClr val="FF0000"/>
              </a:solidFill>
            </a:endParaRPr>
          </a:p>
        </p:txBody>
      </p:sp>
      <p:sp>
        <p:nvSpPr>
          <p:cNvPr id="3" name="Content Placeholder 2"/>
          <p:cNvSpPr>
            <a:spLocks noGrp="1"/>
          </p:cNvSpPr>
          <p:nvPr>
            <p:ph idx="1"/>
          </p:nvPr>
        </p:nvSpPr>
        <p:spPr>
          <a:xfrm>
            <a:off x="913795" y="2096063"/>
            <a:ext cx="10353762" cy="4370997"/>
          </a:xfrm>
        </p:spPr>
        <p:txBody>
          <a:bodyPr>
            <a:normAutofit lnSpcReduction="10000"/>
          </a:bodyPr>
          <a:lstStyle/>
          <a:p>
            <a:pPr>
              <a:buFont typeface="Wingdings" panose="05000000000000000000" pitchFamily="2" charset="2"/>
              <a:buChar char="Ø"/>
            </a:pPr>
            <a:r>
              <a:rPr lang="en-US" dirty="0" smtClean="0">
                <a:solidFill>
                  <a:schemeClr val="tx2">
                    <a:lumMod val="75000"/>
                  </a:schemeClr>
                </a:solidFill>
              </a:rPr>
              <a:t> </a:t>
            </a:r>
            <a:r>
              <a:rPr lang="en-IN" b="1" dirty="0" smtClean="0">
                <a:solidFill>
                  <a:schemeClr val="tx2">
                    <a:lumMod val="75000"/>
                  </a:schemeClr>
                </a:solidFill>
              </a:rPr>
              <a:t>Error Handling:</a:t>
            </a:r>
          </a:p>
          <a:p>
            <a:pPr lvl="1"/>
            <a:r>
              <a:rPr lang="en-US" b="1" dirty="0"/>
              <a:t>Try-Catch</a:t>
            </a:r>
            <a:r>
              <a:rPr lang="en-US" dirty="0"/>
              <a:t>: Define actions to take when an error occurs in the flow</a:t>
            </a:r>
            <a:r>
              <a:rPr lang="en-US" dirty="0" smtClean="0"/>
              <a:t>.</a:t>
            </a:r>
          </a:p>
          <a:p>
            <a:pPr lvl="1"/>
            <a:r>
              <a:rPr lang="en-US" b="1" dirty="0"/>
              <a:t>Error Handling Actions</a:t>
            </a:r>
            <a:r>
              <a:rPr lang="en-US" dirty="0"/>
              <a:t>: Specific actions to manage errors, such as logging or retrying operations</a:t>
            </a:r>
            <a:r>
              <a:rPr lang="en-US" dirty="0" smtClean="0"/>
              <a:t>.</a:t>
            </a:r>
          </a:p>
          <a:p>
            <a:pPr>
              <a:buFont typeface="Wingdings" panose="05000000000000000000" pitchFamily="2" charset="2"/>
              <a:buChar char="Ø"/>
            </a:pPr>
            <a:r>
              <a:rPr lang="en-US" dirty="0">
                <a:solidFill>
                  <a:schemeClr val="tx2">
                    <a:lumMod val="75000"/>
                  </a:schemeClr>
                </a:solidFill>
              </a:rPr>
              <a:t> </a:t>
            </a:r>
            <a:r>
              <a:rPr lang="en-IN" dirty="0">
                <a:solidFill>
                  <a:schemeClr val="tx2">
                    <a:lumMod val="75000"/>
                  </a:schemeClr>
                </a:solidFill>
              </a:rPr>
              <a:t>Data </a:t>
            </a:r>
            <a:r>
              <a:rPr lang="en-IN" dirty="0" smtClean="0">
                <a:solidFill>
                  <a:schemeClr val="tx2">
                    <a:lumMod val="75000"/>
                  </a:schemeClr>
                </a:solidFill>
              </a:rPr>
              <a:t>Operations:</a:t>
            </a:r>
          </a:p>
          <a:p>
            <a:pPr lvl="1"/>
            <a:r>
              <a:rPr lang="en-US" b="1" dirty="0"/>
              <a:t>Data Parsing</a:t>
            </a:r>
            <a:r>
              <a:rPr lang="en-US" dirty="0"/>
              <a:t>: Extract and manipulate data from various sources, such as JSON or XML</a:t>
            </a:r>
            <a:r>
              <a:rPr lang="en-US" dirty="0" smtClean="0"/>
              <a:t>.</a:t>
            </a:r>
          </a:p>
          <a:p>
            <a:pPr lvl="1"/>
            <a:r>
              <a:rPr lang="en-US" b="1" dirty="0"/>
              <a:t>String Operations</a:t>
            </a:r>
            <a:r>
              <a:rPr lang="en-US" dirty="0"/>
              <a:t>: Perform operations on text, like substring extraction or string replacement</a:t>
            </a:r>
            <a:r>
              <a:rPr lang="en-US" dirty="0" smtClean="0"/>
              <a:t>.</a:t>
            </a:r>
          </a:p>
          <a:p>
            <a:r>
              <a:rPr lang="en-US" dirty="0" smtClean="0">
                <a:solidFill>
                  <a:schemeClr val="tx2">
                    <a:lumMod val="75000"/>
                  </a:schemeClr>
                </a:solidFill>
              </a:rPr>
              <a:t>User Input:</a:t>
            </a:r>
          </a:p>
          <a:p>
            <a:pPr lvl="1"/>
            <a:r>
              <a:rPr lang="en-US" b="1" dirty="0"/>
              <a:t>Forms</a:t>
            </a:r>
            <a:r>
              <a:rPr lang="en-US" dirty="0"/>
              <a:t>: Collect input from users through customizable forms</a:t>
            </a:r>
            <a:r>
              <a:rPr lang="en-US" dirty="0" smtClean="0"/>
              <a:t>.</a:t>
            </a:r>
          </a:p>
          <a:p>
            <a:pPr lvl="1"/>
            <a:r>
              <a:rPr lang="en-US" b="1" dirty="0"/>
              <a:t>Dialogs</a:t>
            </a:r>
            <a:r>
              <a:rPr lang="en-US" dirty="0"/>
              <a:t>: Display messages or prompts to users.</a:t>
            </a:r>
            <a:endParaRPr lang="en-IN" dirty="0">
              <a:solidFill>
                <a:schemeClr val="tx2">
                  <a:lumMod val="75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43198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Components</a:t>
            </a:r>
            <a:endParaRPr lang="en-IN" dirty="0">
              <a:solidFill>
                <a:srgbClr val="FF0000"/>
              </a:solidFill>
            </a:endParaRPr>
          </a:p>
        </p:txBody>
      </p:sp>
      <p:sp>
        <p:nvSpPr>
          <p:cNvPr id="3" name="Content Placeholder 2"/>
          <p:cNvSpPr>
            <a:spLocks noGrp="1"/>
          </p:cNvSpPr>
          <p:nvPr>
            <p:ph idx="1"/>
          </p:nvPr>
        </p:nvSpPr>
        <p:spPr>
          <a:xfrm>
            <a:off x="913795" y="2096063"/>
            <a:ext cx="10353762" cy="4370997"/>
          </a:xfrm>
        </p:spPr>
        <p:txBody>
          <a:bodyPr>
            <a:normAutofit/>
          </a:bodyPr>
          <a:lstStyle/>
          <a:p>
            <a:pPr>
              <a:buFont typeface="Wingdings" panose="05000000000000000000" pitchFamily="2" charset="2"/>
              <a:buChar char="Ø"/>
            </a:pPr>
            <a:r>
              <a:rPr lang="en-US" dirty="0" smtClean="0">
                <a:solidFill>
                  <a:schemeClr val="tx2">
                    <a:lumMod val="75000"/>
                  </a:schemeClr>
                </a:solidFill>
              </a:rPr>
              <a:t> Connectors: </a:t>
            </a:r>
          </a:p>
          <a:p>
            <a:pPr lvl="1"/>
            <a:r>
              <a:rPr lang="en-US" b="1" dirty="0"/>
              <a:t>Built-In Connectors</a:t>
            </a:r>
            <a:r>
              <a:rPr lang="en-US" dirty="0"/>
              <a:t>: Integrate with various services and applications, such as email, SharePoint, and social media</a:t>
            </a:r>
            <a:r>
              <a:rPr lang="en-US" dirty="0" smtClean="0"/>
              <a:t>.</a:t>
            </a:r>
          </a:p>
          <a:p>
            <a:pPr lvl="1"/>
            <a:r>
              <a:rPr lang="en-US" b="1" dirty="0"/>
              <a:t>Custom Connectors</a:t>
            </a:r>
            <a:r>
              <a:rPr lang="en-US" dirty="0"/>
              <a:t>: Create connections to APIs or services not covered by built-in connectors</a:t>
            </a:r>
            <a:r>
              <a:rPr lang="en-US" dirty="0" smtClean="0"/>
              <a:t>.</a:t>
            </a:r>
          </a:p>
          <a:p>
            <a:pPr>
              <a:buFont typeface="Wingdings" panose="05000000000000000000" pitchFamily="2" charset="2"/>
              <a:buChar char="Ø"/>
            </a:pPr>
            <a:r>
              <a:rPr lang="en-US" dirty="0" smtClean="0">
                <a:solidFill>
                  <a:schemeClr val="tx2">
                    <a:lumMod val="75000"/>
                  </a:schemeClr>
                </a:solidFill>
              </a:rPr>
              <a:t> </a:t>
            </a:r>
            <a:r>
              <a:rPr lang="en-IN" dirty="0">
                <a:solidFill>
                  <a:schemeClr val="tx2">
                    <a:lumMod val="75000"/>
                  </a:schemeClr>
                </a:solidFill>
              </a:rPr>
              <a:t>Debugging and </a:t>
            </a:r>
            <a:r>
              <a:rPr lang="en-IN" dirty="0" smtClean="0">
                <a:solidFill>
                  <a:schemeClr val="tx2">
                    <a:lumMod val="75000"/>
                  </a:schemeClr>
                </a:solidFill>
              </a:rPr>
              <a:t>Monitoring:</a:t>
            </a:r>
          </a:p>
          <a:p>
            <a:pPr lvl="1"/>
            <a:r>
              <a:rPr lang="en-US" b="1" dirty="0"/>
              <a:t>Debugging Tools</a:t>
            </a:r>
            <a:r>
              <a:rPr lang="en-US" dirty="0"/>
              <a:t>: Step through flows, set breakpoints, and inspect variable values to troubleshoot issues</a:t>
            </a:r>
            <a:r>
              <a:rPr lang="en-US" dirty="0" smtClean="0"/>
              <a:t>.</a:t>
            </a:r>
          </a:p>
          <a:p>
            <a:pPr lvl="1"/>
            <a:r>
              <a:rPr lang="en-US" b="1" dirty="0"/>
              <a:t>Logs</a:t>
            </a:r>
            <a:r>
              <a:rPr lang="en-US" dirty="0"/>
              <a:t>: Track the execution history and status of flows for monitoring and auditing purposes.</a:t>
            </a:r>
            <a:endParaRPr lang="en-IN" dirty="0">
              <a:solidFill>
                <a:schemeClr val="tx2">
                  <a:lumMod val="75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4409044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Common Use Cases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a:solidFill>
                  <a:schemeClr val="tx2">
                    <a:lumMod val="75000"/>
                  </a:schemeClr>
                </a:solidFill>
              </a:rPr>
              <a:t>Business Process Automation:</a:t>
            </a:r>
            <a:endParaRPr lang="en-US" dirty="0">
              <a:solidFill>
                <a:schemeClr val="tx2">
                  <a:lumMod val="75000"/>
                </a:schemeClr>
              </a:solidFill>
            </a:endParaRPr>
          </a:p>
          <a:p>
            <a:pPr lvl="1"/>
            <a:r>
              <a:rPr lang="en-US" b="1" dirty="0"/>
              <a:t>Invoice Processing:</a:t>
            </a:r>
            <a:r>
              <a:rPr lang="en-US" dirty="0"/>
              <a:t> Automate the extraction of data from invoices and update records in ERP systems.</a:t>
            </a:r>
          </a:p>
          <a:p>
            <a:pPr lvl="1"/>
            <a:r>
              <a:rPr lang="en-US" b="1" dirty="0"/>
              <a:t>Report Generation:</a:t>
            </a:r>
            <a:r>
              <a:rPr lang="en-US" dirty="0"/>
              <a:t> Automatically generate and distribute reports based on predefined schedules or triggers.</a:t>
            </a:r>
          </a:p>
          <a:p>
            <a:pPr>
              <a:buFont typeface="Wingdings" panose="05000000000000000000" pitchFamily="2" charset="2"/>
              <a:buChar char="Ø"/>
            </a:pPr>
            <a:r>
              <a:rPr lang="en-IN" b="1" dirty="0">
                <a:solidFill>
                  <a:schemeClr val="tx2">
                    <a:lumMod val="75000"/>
                  </a:schemeClr>
                </a:solidFill>
              </a:rPr>
              <a:t>Data Entry and Management:</a:t>
            </a:r>
            <a:endParaRPr lang="en-IN" dirty="0">
              <a:solidFill>
                <a:schemeClr val="tx2">
                  <a:lumMod val="75000"/>
                </a:schemeClr>
              </a:solidFill>
            </a:endParaRPr>
          </a:p>
          <a:p>
            <a:pPr lvl="1"/>
            <a:r>
              <a:rPr lang="en-IN" b="1" dirty="0"/>
              <a:t>Excel Automation:</a:t>
            </a:r>
            <a:r>
              <a:rPr lang="en-IN" dirty="0"/>
              <a:t> Automate data entry, updates, and report generation in Excel.</a:t>
            </a:r>
          </a:p>
          <a:p>
            <a:pPr lvl="1"/>
            <a:r>
              <a:rPr lang="en-IN" b="1" dirty="0"/>
              <a:t>Database Operations:</a:t>
            </a:r>
            <a:r>
              <a:rPr lang="en-IN" dirty="0"/>
              <a:t> Perform bulk data entry, updates, and queries in SQL databases.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7668396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Common Use Cases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a:solidFill>
                  <a:srgbClr val="00B0F0"/>
                </a:solidFill>
              </a:rPr>
              <a:t>Customer Support:</a:t>
            </a:r>
            <a:endParaRPr lang="en-US" dirty="0">
              <a:solidFill>
                <a:srgbClr val="00B0F0"/>
              </a:solidFill>
            </a:endParaRPr>
          </a:p>
          <a:p>
            <a:pPr lvl="1"/>
            <a:r>
              <a:rPr lang="en-US" b="1" dirty="0"/>
              <a:t>Ticket Management:</a:t>
            </a:r>
            <a:r>
              <a:rPr lang="en-US" dirty="0"/>
              <a:t> Automate ticket creation, updates, and notifications in customer support systems.</a:t>
            </a:r>
          </a:p>
          <a:p>
            <a:pPr lvl="1"/>
            <a:r>
              <a:rPr lang="en-US" b="1" dirty="0"/>
              <a:t>Email Handling:</a:t>
            </a:r>
            <a:r>
              <a:rPr lang="en-US" dirty="0"/>
              <a:t> Process and respond to emails based on specific rules or triggers.</a:t>
            </a:r>
          </a:p>
          <a:p>
            <a:pPr>
              <a:buFont typeface="Wingdings" panose="05000000000000000000" pitchFamily="2" charset="2"/>
              <a:buChar char="Ø"/>
            </a:pPr>
            <a:r>
              <a:rPr lang="en-IN" b="1" dirty="0">
                <a:solidFill>
                  <a:srgbClr val="00B0F0"/>
                </a:solidFill>
              </a:rPr>
              <a:t>Routine Task Automation:</a:t>
            </a:r>
            <a:endParaRPr lang="en-IN" dirty="0">
              <a:solidFill>
                <a:srgbClr val="00B0F0"/>
              </a:solidFill>
            </a:endParaRPr>
          </a:p>
          <a:p>
            <a:pPr lvl="1"/>
            <a:r>
              <a:rPr lang="en-IN" b="1" dirty="0"/>
              <a:t>File Management:</a:t>
            </a:r>
            <a:r>
              <a:rPr lang="en-IN" dirty="0"/>
              <a:t> Automate tasks like organizing files, archiving documents, and synchronizing directories.</a:t>
            </a:r>
          </a:p>
          <a:p>
            <a:pPr lvl="1"/>
            <a:r>
              <a:rPr lang="en-IN" b="1" dirty="0"/>
              <a:t>System Maintenance:</a:t>
            </a:r>
            <a:r>
              <a:rPr lang="en-IN" dirty="0"/>
              <a:t> Schedule and automate system backups, updates, and other maintenance tasks.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6275784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Getting Started</a:t>
            </a:r>
          </a:p>
        </p:txBody>
      </p:sp>
      <p:sp>
        <p:nvSpPr>
          <p:cNvPr id="3" name="Content Placeholder 2"/>
          <p:cNvSpPr>
            <a:spLocks noGrp="1"/>
          </p:cNvSpPr>
          <p:nvPr>
            <p:ph idx="1"/>
          </p:nvPr>
        </p:nvSpPr>
        <p:spPr>
          <a:xfrm>
            <a:off x="791308" y="1811215"/>
            <a:ext cx="10823330" cy="4598377"/>
          </a:xfrm>
        </p:spPr>
        <p:txBody>
          <a:bodyPr>
            <a:normAutofit fontScale="92500"/>
          </a:bodyPr>
          <a:lstStyle/>
          <a:p>
            <a:pPr>
              <a:buFont typeface="Wingdings" panose="05000000000000000000" pitchFamily="2" charset="2"/>
              <a:buChar char="v"/>
            </a:pPr>
            <a:r>
              <a:rPr lang="en-US" b="1" dirty="0">
                <a:solidFill>
                  <a:srgbClr val="00B050"/>
                </a:solidFill>
              </a:rPr>
              <a:t>Installation:</a:t>
            </a:r>
            <a:endParaRPr lang="en-US" dirty="0">
              <a:solidFill>
                <a:srgbClr val="00B050"/>
              </a:solidFill>
            </a:endParaRPr>
          </a:p>
          <a:p>
            <a:pPr lvl="1"/>
            <a:r>
              <a:rPr lang="en-US" b="1" dirty="0"/>
              <a:t>Download:</a:t>
            </a:r>
            <a:r>
              <a:rPr lang="en-US" dirty="0"/>
              <a:t> Available for download from the Microsoft website or via the Microsoft Store.</a:t>
            </a:r>
          </a:p>
          <a:p>
            <a:pPr lvl="1"/>
            <a:r>
              <a:rPr lang="en-US" b="1" dirty="0"/>
              <a:t>Setup:</a:t>
            </a:r>
            <a:r>
              <a:rPr lang="en-US" dirty="0"/>
              <a:t> Follow the installation prompts to set up Power Automate Desktop on your Windows machine.</a:t>
            </a:r>
          </a:p>
          <a:p>
            <a:pPr>
              <a:buFont typeface="Wingdings" panose="05000000000000000000" pitchFamily="2" charset="2"/>
              <a:buChar char="v"/>
            </a:pPr>
            <a:r>
              <a:rPr lang="en-US" b="1" dirty="0">
                <a:solidFill>
                  <a:srgbClr val="00B050"/>
                </a:solidFill>
              </a:rPr>
              <a:t>Creating a Flow:</a:t>
            </a:r>
            <a:endParaRPr lang="en-US" dirty="0">
              <a:solidFill>
                <a:srgbClr val="00B050"/>
              </a:solidFill>
            </a:endParaRPr>
          </a:p>
          <a:p>
            <a:pPr lvl="1"/>
            <a:r>
              <a:rPr lang="en-US" b="1" dirty="0"/>
              <a:t>New Flow:</a:t>
            </a:r>
            <a:r>
              <a:rPr lang="en-US" dirty="0"/>
              <a:t> Start by creating a new flow using the drag-and-drop interface.</a:t>
            </a:r>
          </a:p>
          <a:p>
            <a:pPr lvl="1"/>
            <a:r>
              <a:rPr lang="en-US" b="1" dirty="0"/>
              <a:t>Add Actions:</a:t>
            </a:r>
            <a:r>
              <a:rPr lang="en-US" dirty="0"/>
              <a:t> Use pre-built actions or custom scripts to define the steps of your workflow.</a:t>
            </a:r>
          </a:p>
          <a:p>
            <a:pPr lvl="1"/>
            <a:r>
              <a:rPr lang="en-US" b="1" dirty="0"/>
              <a:t>Test and Deploy:</a:t>
            </a:r>
            <a:r>
              <a:rPr lang="en-US" dirty="0"/>
              <a:t> Test your flow thoroughly before deploying it for regular use.</a:t>
            </a:r>
          </a:p>
          <a:p>
            <a:pPr>
              <a:buFont typeface="Wingdings" panose="05000000000000000000" pitchFamily="2" charset="2"/>
              <a:buChar char="v"/>
            </a:pPr>
            <a:r>
              <a:rPr lang="en-US" b="1" dirty="0">
                <a:solidFill>
                  <a:srgbClr val="00B050"/>
                </a:solidFill>
              </a:rPr>
              <a:t>Integration and Expansion:</a:t>
            </a:r>
            <a:endParaRPr lang="en-US" dirty="0">
              <a:solidFill>
                <a:srgbClr val="00B050"/>
              </a:solidFill>
            </a:endParaRPr>
          </a:p>
          <a:p>
            <a:pPr lvl="1"/>
            <a:r>
              <a:rPr lang="en-US" b="1" dirty="0"/>
              <a:t>Explore Connectors:</a:t>
            </a:r>
            <a:r>
              <a:rPr lang="en-US" dirty="0"/>
              <a:t> Utilize connectors to integrate with other Microsoft and third-party services.</a:t>
            </a:r>
          </a:p>
          <a:p>
            <a:pPr lvl="1"/>
            <a:r>
              <a:rPr lang="en-US" b="1" dirty="0"/>
              <a:t>Extend Capabilities:</a:t>
            </a:r>
            <a:r>
              <a:rPr lang="en-US" dirty="0"/>
              <a:t> Leverage Power </a:t>
            </a:r>
            <a:r>
              <a:rPr lang="en-US" dirty="0" err="1"/>
              <a:t>Automate’s</a:t>
            </a:r>
            <a:r>
              <a:rPr lang="en-US" dirty="0"/>
              <a:t> broader ecosystem to enhance automation capabilities.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4206486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8213"/>
          </a:xfrm>
        </p:spPr>
        <p:txBody>
          <a:bodyPr/>
          <a:lstStyle/>
          <a:p>
            <a:r>
              <a:rPr lang="en-US" dirty="0" smtClean="0">
                <a:solidFill>
                  <a:srgbClr val="FF0000"/>
                </a:solidFill>
              </a:rPr>
              <a:t>Getting Started with Desktop </a:t>
            </a:r>
            <a:r>
              <a:rPr lang="en-US" dirty="0" smtClean="0">
                <a:solidFill>
                  <a:srgbClr val="FF0000"/>
                </a:solidFill>
              </a:rPr>
              <a:t>Flows</a:t>
            </a:r>
            <a:endParaRPr lang="en-IN"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83881726"/>
              </p:ext>
            </p:extLst>
          </p:nvPr>
        </p:nvGraphicFramePr>
        <p:xfrm>
          <a:off x="530351" y="1529862"/>
          <a:ext cx="10574333" cy="50995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5386602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Benefits</a:t>
            </a:r>
          </a:p>
        </p:txBody>
      </p:sp>
      <p:sp>
        <p:nvSpPr>
          <p:cNvPr id="3" name="Content Placeholder 2"/>
          <p:cNvSpPr>
            <a:spLocks noGrp="1"/>
          </p:cNvSpPr>
          <p:nvPr>
            <p:ph idx="1"/>
          </p:nvPr>
        </p:nvSpPr>
        <p:spPr/>
        <p:txBody>
          <a:bodyPr/>
          <a:lstStyle/>
          <a:p>
            <a:r>
              <a:rPr lang="en-US" b="1" dirty="0"/>
              <a:t>Increased Efficiency:</a:t>
            </a:r>
            <a:r>
              <a:rPr lang="en-US" dirty="0"/>
              <a:t> Reduces manual effort and time spent on repetitive tasks</a:t>
            </a:r>
            <a:r>
              <a:rPr lang="en-US" dirty="0" smtClean="0"/>
              <a:t>.</a:t>
            </a:r>
          </a:p>
          <a:p>
            <a:r>
              <a:rPr lang="en-US" b="1" dirty="0"/>
              <a:t>Consistency:</a:t>
            </a:r>
            <a:r>
              <a:rPr lang="en-US" dirty="0"/>
              <a:t> Ensures processes are carried out consistently and accurately</a:t>
            </a:r>
            <a:r>
              <a:rPr lang="en-US" dirty="0" smtClean="0"/>
              <a:t>.</a:t>
            </a:r>
          </a:p>
          <a:p>
            <a:r>
              <a:rPr lang="en-US" b="1" dirty="0"/>
              <a:t>Scalability:</a:t>
            </a:r>
            <a:r>
              <a:rPr lang="en-US" dirty="0"/>
              <a:t> Scales automation solutions across different processes and departments</a:t>
            </a:r>
            <a:r>
              <a:rPr lang="en-US" dirty="0" smtClean="0"/>
              <a:t>.</a:t>
            </a:r>
          </a:p>
          <a:p>
            <a:r>
              <a:rPr lang="en-US" b="1" dirty="0"/>
              <a:t>Cost Savings:</a:t>
            </a:r>
            <a:r>
              <a:rPr lang="en-US" dirty="0"/>
              <a:t> Reduces operational costs by minimizing manual intervention and errors.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9583430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actions</a:t>
            </a:r>
            <a:endParaRPr lang="en-IN" dirty="0">
              <a:solidFill>
                <a:srgbClr val="FF0000"/>
              </a:solidFill>
            </a:endParaRPr>
          </a:p>
        </p:txBody>
      </p:sp>
      <p:sp>
        <p:nvSpPr>
          <p:cNvPr id="3" name="Content Placeholder 2"/>
          <p:cNvSpPr>
            <a:spLocks noGrp="1"/>
          </p:cNvSpPr>
          <p:nvPr>
            <p:ph idx="1"/>
          </p:nvPr>
        </p:nvSpPr>
        <p:spPr/>
        <p:txBody>
          <a:bodyPr/>
          <a:lstStyle/>
          <a:p>
            <a:endParaRPr lang="en-US" dirty="0"/>
          </a:p>
          <a:p>
            <a:r>
              <a:rPr lang="en-US" dirty="0"/>
              <a:t>In Power Automate Desktop, actions are the building blocks of automated workflows. </a:t>
            </a:r>
            <a:endParaRPr lang="en-US" dirty="0" smtClean="0"/>
          </a:p>
          <a:p>
            <a:r>
              <a:rPr lang="en-US" dirty="0" smtClean="0"/>
              <a:t>They </a:t>
            </a:r>
            <a:r>
              <a:rPr lang="en-US" dirty="0"/>
              <a:t>perform specific tasks or operations within your flow. </a:t>
            </a:r>
            <a:endParaRPr lang="en-US" dirty="0" smtClean="0"/>
          </a:p>
          <a:p>
            <a:r>
              <a:rPr lang="en-US" dirty="0"/>
              <a:t>By using </a:t>
            </a:r>
            <a:r>
              <a:rPr lang="en-US" dirty="0" smtClean="0"/>
              <a:t>actions</a:t>
            </a:r>
            <a:r>
              <a:rPr lang="en-US" dirty="0"/>
              <a:t>, you can automate a wide range of tasks, increasing efficiency and reducing manual effort in your daily workflows.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563334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smtClean="0">
                <a:solidFill>
                  <a:schemeClr val="accent6">
                    <a:lumMod val="60000"/>
                    <a:lumOff val="40000"/>
                  </a:schemeClr>
                </a:solidFill>
              </a:rPr>
              <a:t> </a:t>
            </a:r>
            <a:r>
              <a:rPr lang="en-US" sz="2400" b="1" dirty="0" smtClean="0">
                <a:solidFill>
                  <a:schemeClr val="accent6">
                    <a:lumMod val="60000"/>
                    <a:lumOff val="40000"/>
                  </a:schemeClr>
                </a:solidFill>
              </a:rPr>
              <a:t>File </a:t>
            </a:r>
            <a:r>
              <a:rPr lang="en-US" sz="2400" b="1" dirty="0">
                <a:solidFill>
                  <a:schemeClr val="accent6">
                    <a:lumMod val="60000"/>
                    <a:lumOff val="40000"/>
                  </a:schemeClr>
                </a:solidFill>
              </a:rPr>
              <a:t>and Folder Actions</a:t>
            </a:r>
          </a:p>
          <a:p>
            <a:pPr lvl="1"/>
            <a:r>
              <a:rPr lang="en-US" sz="2000" b="1" dirty="0"/>
              <a:t>Create File:</a:t>
            </a:r>
            <a:r>
              <a:rPr lang="en-US" sz="2000" dirty="0"/>
              <a:t> Create new files with specified content and format.</a:t>
            </a:r>
          </a:p>
          <a:p>
            <a:pPr lvl="1"/>
            <a:r>
              <a:rPr lang="en-US" sz="2000" b="1" dirty="0"/>
              <a:t>Delete File:</a:t>
            </a:r>
            <a:r>
              <a:rPr lang="en-US" sz="2000" dirty="0"/>
              <a:t> Remove files from your system.</a:t>
            </a:r>
          </a:p>
          <a:p>
            <a:pPr lvl="1"/>
            <a:r>
              <a:rPr lang="en-US" sz="2000" b="1" dirty="0"/>
              <a:t>Rename File:</a:t>
            </a:r>
            <a:r>
              <a:rPr lang="en-US" sz="2000" dirty="0"/>
              <a:t> Change the name of a file.</a:t>
            </a:r>
          </a:p>
          <a:p>
            <a:pPr lvl="1"/>
            <a:r>
              <a:rPr lang="en-US" sz="2000" b="1" dirty="0"/>
              <a:t>Move File:</a:t>
            </a:r>
            <a:r>
              <a:rPr lang="en-US" sz="2000" dirty="0"/>
              <a:t> Move files to a different directory.</a:t>
            </a:r>
          </a:p>
          <a:p>
            <a:pPr lvl="1"/>
            <a:r>
              <a:rPr lang="en-US" sz="2000" b="1" dirty="0"/>
              <a:t>Copy File:</a:t>
            </a:r>
            <a:r>
              <a:rPr lang="en-US" sz="2000" dirty="0"/>
              <a:t> Duplicate files to a specified location.</a:t>
            </a:r>
          </a:p>
          <a:p>
            <a:pPr lvl="1"/>
            <a:r>
              <a:rPr lang="en-US" sz="2000" b="1" dirty="0"/>
              <a:t>Create Folder:</a:t>
            </a:r>
            <a:r>
              <a:rPr lang="en-US" sz="2000" dirty="0"/>
              <a:t> Create new directories or folders.</a:t>
            </a:r>
          </a:p>
          <a:p>
            <a:pPr lvl="1"/>
            <a:r>
              <a:rPr lang="en-US" sz="2000" b="1" dirty="0"/>
              <a:t>Delete Folder:</a:t>
            </a:r>
            <a:r>
              <a:rPr lang="en-US" sz="2000" dirty="0"/>
              <a:t> Remove folders and their contents.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5267785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a:t>
            </a:r>
            <a:r>
              <a:rPr lang="en-US" sz="2400" b="1" dirty="0">
                <a:solidFill>
                  <a:schemeClr val="accent6">
                    <a:lumMod val="60000"/>
                    <a:lumOff val="40000"/>
                  </a:schemeClr>
                </a:solidFill>
              </a:rPr>
              <a:t>Excel Actions</a:t>
            </a:r>
          </a:p>
          <a:p>
            <a:pPr lvl="1"/>
            <a:r>
              <a:rPr lang="en-US" sz="2000" b="1" dirty="0"/>
              <a:t>Launch Excel:</a:t>
            </a:r>
            <a:r>
              <a:rPr lang="en-US" sz="2000" dirty="0"/>
              <a:t> Open Excel to interact with workbooks.</a:t>
            </a:r>
          </a:p>
          <a:p>
            <a:pPr lvl="1"/>
            <a:r>
              <a:rPr lang="en-US" sz="2000" b="1" dirty="0"/>
              <a:t>Read from Excel:</a:t>
            </a:r>
            <a:r>
              <a:rPr lang="en-US" sz="2000" dirty="0"/>
              <a:t> Extract data from cells, ranges, or sheets.</a:t>
            </a:r>
          </a:p>
          <a:p>
            <a:pPr lvl="1"/>
            <a:r>
              <a:rPr lang="en-US" sz="2000" b="1" dirty="0"/>
              <a:t>Write to Excel:</a:t>
            </a:r>
            <a:r>
              <a:rPr lang="en-US" sz="2000" dirty="0"/>
              <a:t> Input data into specified cells, ranges, or sheets.</a:t>
            </a:r>
          </a:p>
          <a:p>
            <a:pPr lvl="1"/>
            <a:r>
              <a:rPr lang="en-US" sz="2000" b="1" dirty="0"/>
              <a:t>Save Excel:</a:t>
            </a:r>
            <a:r>
              <a:rPr lang="en-US" sz="2000" dirty="0"/>
              <a:t> Save changes to a workbook.</a:t>
            </a:r>
          </a:p>
          <a:p>
            <a:pPr lvl="1"/>
            <a:r>
              <a:rPr lang="en-US" sz="2000" b="1" dirty="0"/>
              <a:t>Close Excel:</a:t>
            </a:r>
            <a:r>
              <a:rPr lang="en-US" sz="2000" dirty="0"/>
              <a:t> Close an Excel workbook or the application.</a:t>
            </a:r>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2965920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Web </a:t>
            </a:r>
            <a:r>
              <a:rPr lang="en-US" sz="2400" b="1" dirty="0">
                <a:solidFill>
                  <a:schemeClr val="accent6">
                    <a:lumMod val="60000"/>
                    <a:lumOff val="40000"/>
                  </a:schemeClr>
                </a:solidFill>
              </a:rPr>
              <a:t>Actions</a:t>
            </a:r>
          </a:p>
          <a:p>
            <a:pPr lvl="1"/>
            <a:r>
              <a:rPr lang="en-US" sz="2000" b="1" dirty="0"/>
              <a:t>Launch Browser:</a:t>
            </a:r>
            <a:r>
              <a:rPr lang="en-US" sz="2000" dirty="0"/>
              <a:t> Open a web browser and navigate to a specific URL.</a:t>
            </a:r>
          </a:p>
          <a:p>
            <a:pPr lvl="1"/>
            <a:r>
              <a:rPr lang="en-US" sz="2000" b="1" dirty="0"/>
              <a:t>Navigate to URL:</a:t>
            </a:r>
            <a:r>
              <a:rPr lang="en-US" sz="2000" dirty="0"/>
              <a:t> Direct the browser to a new web page.</a:t>
            </a:r>
          </a:p>
          <a:p>
            <a:pPr lvl="1"/>
            <a:r>
              <a:rPr lang="en-US" sz="2000" b="1" dirty="0"/>
              <a:t>Click Element:</a:t>
            </a:r>
            <a:r>
              <a:rPr lang="en-US" sz="2000" dirty="0"/>
              <a:t> Simulate a mouse click on a web element.</a:t>
            </a:r>
          </a:p>
          <a:p>
            <a:pPr lvl="1"/>
            <a:r>
              <a:rPr lang="en-US" sz="2000" b="1" dirty="0"/>
              <a:t>Extract Data:</a:t>
            </a:r>
            <a:r>
              <a:rPr lang="en-US" sz="2000" dirty="0"/>
              <a:t> Retrieve text or attributes from web elements.</a:t>
            </a:r>
          </a:p>
          <a:p>
            <a:pPr lvl="1"/>
            <a:r>
              <a:rPr lang="en-US" sz="2000" b="1" dirty="0"/>
              <a:t>Fill Form:</a:t>
            </a:r>
            <a:r>
              <a:rPr lang="en-US" sz="2000" dirty="0"/>
              <a:t> Enter data into web forms and submit them.</a:t>
            </a:r>
          </a:p>
          <a:p>
            <a:pPr lvl="1"/>
            <a:r>
              <a:rPr lang="en-US" sz="2000" b="1" dirty="0"/>
              <a:t>Get Web Page Content:</a:t>
            </a:r>
            <a:r>
              <a:rPr lang="en-US" sz="2000" dirty="0"/>
              <a:t> Extract the full HTML content of a web page</a:t>
            </a:r>
            <a:r>
              <a:rPr lang="en-US" sz="2200" dirty="0"/>
              <a:t>.</a:t>
            </a:r>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5600457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a:t>
            </a:r>
            <a:r>
              <a:rPr lang="en-US" sz="2400" b="1" dirty="0">
                <a:solidFill>
                  <a:schemeClr val="accent6">
                    <a:lumMod val="60000"/>
                    <a:lumOff val="40000"/>
                  </a:schemeClr>
                </a:solidFill>
              </a:rPr>
              <a:t>UI Automation Actions</a:t>
            </a:r>
          </a:p>
          <a:p>
            <a:pPr lvl="1"/>
            <a:r>
              <a:rPr lang="en-US" sz="2000" b="1" dirty="0"/>
              <a:t>Click Button:</a:t>
            </a:r>
            <a:r>
              <a:rPr lang="en-US" sz="2000" dirty="0"/>
              <a:t> Simulate a mouse click on a button or control.</a:t>
            </a:r>
          </a:p>
          <a:p>
            <a:pPr lvl="1"/>
            <a:r>
              <a:rPr lang="en-US" sz="2000" b="1" dirty="0"/>
              <a:t>Set Text:</a:t>
            </a:r>
            <a:r>
              <a:rPr lang="en-US" sz="2000" dirty="0"/>
              <a:t> Enter text into input fields or text boxes.</a:t>
            </a:r>
          </a:p>
          <a:p>
            <a:pPr lvl="1"/>
            <a:r>
              <a:rPr lang="en-US" sz="2000" b="1" dirty="0"/>
              <a:t>Get Text:</a:t>
            </a:r>
            <a:r>
              <a:rPr lang="en-US" sz="2000" dirty="0"/>
              <a:t> Retrieve text from a UI element.</a:t>
            </a:r>
          </a:p>
          <a:p>
            <a:pPr lvl="1"/>
            <a:r>
              <a:rPr lang="en-US" sz="2000" b="1" dirty="0"/>
              <a:t>Select Item:</a:t>
            </a:r>
            <a:r>
              <a:rPr lang="en-US" sz="2000" dirty="0"/>
              <a:t> Choose an item from a dropdown list or combo box.</a:t>
            </a:r>
          </a:p>
          <a:p>
            <a:pPr lvl="1"/>
            <a:r>
              <a:rPr lang="en-US" sz="2000" b="1" dirty="0"/>
              <a:t>Send Keys:</a:t>
            </a:r>
            <a:r>
              <a:rPr lang="en-US" sz="2000" dirty="0"/>
              <a:t> Simulate keystrokes to interact with applications.</a:t>
            </a:r>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40630114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a:t>
            </a:r>
            <a:r>
              <a:rPr lang="en-IN" sz="2400" b="1" dirty="0">
                <a:solidFill>
                  <a:schemeClr val="accent6">
                    <a:lumMod val="60000"/>
                    <a:lumOff val="40000"/>
                  </a:schemeClr>
                </a:solidFill>
              </a:rPr>
              <a:t>Data Actions</a:t>
            </a:r>
          </a:p>
          <a:p>
            <a:pPr lvl="1"/>
            <a:r>
              <a:rPr lang="en-IN" sz="2000" b="1" dirty="0"/>
              <a:t>Get Data:</a:t>
            </a:r>
            <a:r>
              <a:rPr lang="en-IN" sz="2000" dirty="0"/>
              <a:t> Extract data from various sources like databases or APIs.</a:t>
            </a:r>
          </a:p>
          <a:p>
            <a:pPr lvl="1"/>
            <a:r>
              <a:rPr lang="en-IN" sz="2000" b="1" dirty="0"/>
              <a:t>Set Data:</a:t>
            </a:r>
            <a:r>
              <a:rPr lang="en-IN" sz="2000" dirty="0"/>
              <a:t> Update or insert data into a database or other data source.</a:t>
            </a:r>
          </a:p>
          <a:p>
            <a:pPr lvl="1"/>
            <a:r>
              <a:rPr lang="en-IN" sz="2000" b="1" dirty="0"/>
              <a:t>Parse Data:</a:t>
            </a:r>
            <a:r>
              <a:rPr lang="en-IN" sz="2000" dirty="0"/>
              <a:t> Convert data from one format to another (e.g., JSON to XML).</a:t>
            </a:r>
          </a:p>
          <a:p>
            <a:pPr lvl="1"/>
            <a:r>
              <a:rPr lang="en-IN" sz="2000" b="1" dirty="0"/>
              <a:t>Format Data:</a:t>
            </a:r>
            <a:r>
              <a:rPr lang="en-IN" sz="2000" dirty="0"/>
              <a:t> Apply formatting to data (e.g., date formats, number formats).</a:t>
            </a:r>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25620589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a:t>
            </a:r>
            <a:r>
              <a:rPr lang="en-US" sz="2400" b="1" dirty="0">
                <a:solidFill>
                  <a:schemeClr val="accent6">
                    <a:lumMod val="60000"/>
                    <a:lumOff val="40000"/>
                  </a:schemeClr>
                </a:solidFill>
              </a:rPr>
              <a:t>System Actions</a:t>
            </a:r>
          </a:p>
          <a:p>
            <a:pPr lvl="1"/>
            <a:r>
              <a:rPr lang="en-US" sz="2000" b="1" dirty="0"/>
              <a:t>Launch Application:</a:t>
            </a:r>
            <a:r>
              <a:rPr lang="en-US" sz="2000" dirty="0"/>
              <a:t> Open any application installed on your machine.</a:t>
            </a:r>
          </a:p>
          <a:p>
            <a:pPr lvl="1"/>
            <a:r>
              <a:rPr lang="en-US" sz="2000" b="1" dirty="0"/>
              <a:t>Close Application:</a:t>
            </a:r>
            <a:r>
              <a:rPr lang="en-US" sz="2000" dirty="0"/>
              <a:t> Terminate running applications.</a:t>
            </a:r>
          </a:p>
          <a:p>
            <a:pPr lvl="1"/>
            <a:r>
              <a:rPr lang="en-US" sz="2000" b="1" dirty="0"/>
              <a:t>Run DOS Command:</a:t>
            </a:r>
            <a:r>
              <a:rPr lang="en-US" sz="2000" dirty="0"/>
              <a:t> Execute command-line operations.</a:t>
            </a:r>
          </a:p>
          <a:p>
            <a:pPr lvl="1"/>
            <a:r>
              <a:rPr lang="en-US" sz="2000" b="1" dirty="0"/>
              <a:t>Get System Information:</a:t>
            </a:r>
            <a:r>
              <a:rPr lang="en-US" sz="2000" dirty="0"/>
              <a:t> Retrieve details about your system or environment.</a:t>
            </a:r>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5278167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a:t>
            </a:r>
            <a:r>
              <a:rPr lang="en-US" b="1" dirty="0">
                <a:solidFill>
                  <a:schemeClr val="accent6">
                    <a:lumMod val="60000"/>
                    <a:lumOff val="40000"/>
                  </a:schemeClr>
                </a:solidFill>
              </a:rPr>
              <a:t>Control Actions</a:t>
            </a:r>
          </a:p>
          <a:p>
            <a:pPr lvl="1"/>
            <a:r>
              <a:rPr lang="en-US" sz="2000" b="1" dirty="0"/>
              <a:t>If Condition:</a:t>
            </a:r>
            <a:r>
              <a:rPr lang="en-US" sz="2000" dirty="0"/>
              <a:t> Perform actions based on conditional logic (if-then-else statements).</a:t>
            </a:r>
          </a:p>
          <a:p>
            <a:pPr lvl="1"/>
            <a:r>
              <a:rPr lang="en-US" sz="2000" b="1" dirty="0"/>
              <a:t>Loop:</a:t>
            </a:r>
            <a:r>
              <a:rPr lang="en-US" sz="2000" dirty="0"/>
              <a:t> Execute a set of actions multiple times based on a condition (e.g., for-each loops).</a:t>
            </a:r>
          </a:p>
          <a:p>
            <a:pPr lvl="1"/>
            <a:r>
              <a:rPr lang="en-US" sz="2000" b="1" dirty="0"/>
              <a:t>Delay:</a:t>
            </a:r>
            <a:r>
              <a:rPr lang="en-US" sz="2000" dirty="0"/>
              <a:t> Pause execution for a specified amount of time.</a:t>
            </a:r>
          </a:p>
          <a:p>
            <a:pPr lvl="1"/>
            <a:r>
              <a:rPr lang="en-US" sz="2000" b="1" dirty="0"/>
              <a:t>Terminate Flow:</a:t>
            </a:r>
            <a:r>
              <a:rPr lang="en-US" sz="2000" dirty="0"/>
              <a:t> End the flow execution based on certain conditions.</a:t>
            </a:r>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9236878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a:t>
            </a:r>
            <a:r>
              <a:rPr lang="en-IN" sz="2400" b="1" dirty="0">
                <a:solidFill>
                  <a:schemeClr val="accent6">
                    <a:lumMod val="60000"/>
                    <a:lumOff val="40000"/>
                  </a:schemeClr>
                </a:solidFill>
              </a:rPr>
              <a:t>Variables</a:t>
            </a:r>
            <a:r>
              <a:rPr lang="en-IN" sz="2400" b="1" dirty="0" smtClean="0">
                <a:solidFill>
                  <a:schemeClr val="accent6">
                    <a:lumMod val="60000"/>
                    <a:lumOff val="40000"/>
                  </a:schemeClr>
                </a:solidFill>
              </a:rPr>
              <a:t> </a:t>
            </a:r>
            <a:r>
              <a:rPr lang="en-IN" sz="2400" b="1" dirty="0">
                <a:solidFill>
                  <a:schemeClr val="accent6">
                    <a:lumMod val="60000"/>
                    <a:lumOff val="40000"/>
                  </a:schemeClr>
                </a:solidFill>
              </a:rPr>
              <a:t>and Data Manipulation</a:t>
            </a:r>
          </a:p>
          <a:p>
            <a:pPr lvl="1"/>
            <a:r>
              <a:rPr lang="en-IN" sz="2000" b="1" dirty="0"/>
              <a:t>Set Variable:</a:t>
            </a:r>
            <a:r>
              <a:rPr lang="en-IN" sz="2000" dirty="0"/>
              <a:t> Define and assign values to variables.</a:t>
            </a:r>
          </a:p>
          <a:p>
            <a:pPr lvl="1"/>
            <a:r>
              <a:rPr lang="en-IN" sz="2000" b="1" dirty="0"/>
              <a:t>Get Variable:</a:t>
            </a:r>
            <a:r>
              <a:rPr lang="en-IN" sz="2000" dirty="0"/>
              <a:t> Retrieve the value of a variable.</a:t>
            </a:r>
          </a:p>
          <a:p>
            <a:pPr lvl="1"/>
            <a:r>
              <a:rPr lang="en-IN" sz="2000" b="1" dirty="0"/>
              <a:t>Modify Variable:</a:t>
            </a:r>
            <a:r>
              <a:rPr lang="en-IN" sz="2000" dirty="0"/>
              <a:t> Change the value of an existing variable.</a:t>
            </a:r>
          </a:p>
          <a:p>
            <a:pPr lvl="1"/>
            <a:r>
              <a:rPr lang="en-IN" sz="2000" b="1" dirty="0"/>
              <a:t>Convert Data Type:</a:t>
            </a:r>
            <a:r>
              <a:rPr lang="en-IN" sz="2000" dirty="0"/>
              <a:t> Change data types for variables (e.g., string to integer).</a:t>
            </a:r>
          </a:p>
          <a:p>
            <a:pPr lvl="1">
              <a:buFont typeface="Wingdings" panose="05000000000000000000" pitchFamily="2" charset="2"/>
              <a:buChar char="Ø"/>
            </a:pPr>
            <a:endParaRPr lang="en-US" sz="2000" dirty="0"/>
          </a:p>
          <a:p>
            <a:pPr>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9071023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a:t>
            </a:r>
            <a:r>
              <a:rPr lang="en-US" sz="2400" b="1" dirty="0">
                <a:solidFill>
                  <a:schemeClr val="accent6">
                    <a:lumMod val="60000"/>
                    <a:lumOff val="40000"/>
                  </a:schemeClr>
                </a:solidFill>
              </a:rPr>
              <a:t>Application-Specific Actions</a:t>
            </a:r>
          </a:p>
          <a:p>
            <a:pPr lvl="1"/>
            <a:r>
              <a:rPr lang="en-US" sz="2200" b="1" dirty="0"/>
              <a:t>PowerPoint Actions:</a:t>
            </a:r>
            <a:r>
              <a:rPr lang="en-US" sz="2200" dirty="0"/>
              <a:t> Create and manipulate PowerPoint presentations, such as adding slides or setting slide content.</a:t>
            </a:r>
          </a:p>
          <a:p>
            <a:pPr lvl="1"/>
            <a:r>
              <a:rPr lang="en-US" sz="2200" b="1" dirty="0"/>
              <a:t>PDF Actions:</a:t>
            </a:r>
            <a:r>
              <a:rPr lang="en-US" sz="2200" dirty="0"/>
              <a:t> Extract data from or manipulate PDF documents.</a:t>
            </a:r>
          </a:p>
          <a:p>
            <a:pPr lvl="1">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8940388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types of actions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1" dirty="0" smtClean="0">
                <a:solidFill>
                  <a:schemeClr val="accent6">
                    <a:lumMod val="60000"/>
                    <a:lumOff val="40000"/>
                  </a:schemeClr>
                </a:solidFill>
              </a:rPr>
              <a:t>  Basic </a:t>
            </a:r>
            <a:r>
              <a:rPr lang="en-US" sz="2400" b="1" dirty="0">
                <a:solidFill>
                  <a:schemeClr val="accent6">
                    <a:lumMod val="60000"/>
                    <a:lumOff val="40000"/>
                  </a:schemeClr>
                </a:solidFill>
              </a:rPr>
              <a:t>Actions</a:t>
            </a:r>
          </a:p>
          <a:p>
            <a:pPr lvl="1"/>
            <a:r>
              <a:rPr lang="en-US" sz="2000" dirty="0"/>
              <a:t>Perform fundamental tasks like setting </a:t>
            </a:r>
            <a:r>
              <a:rPr lang="en-IN" sz="2000" dirty="0"/>
              <a:t>t</a:t>
            </a:r>
            <a:r>
              <a:rPr lang="en-IN" sz="2000" dirty="0" smtClean="0"/>
              <a:t>ext, </a:t>
            </a:r>
            <a:r>
              <a:rPr lang="en-US" sz="2000" dirty="0" smtClean="0"/>
              <a:t>variables</a:t>
            </a:r>
            <a:r>
              <a:rPr lang="en-US" sz="2000" dirty="0"/>
              <a:t>, loops</a:t>
            </a:r>
            <a:r>
              <a:rPr lang="en-US" sz="2000" dirty="0" smtClean="0"/>
              <a:t>, </a:t>
            </a:r>
            <a:r>
              <a:rPr lang="en-IN" sz="2000" dirty="0" smtClean="0"/>
              <a:t>control flow</a:t>
            </a:r>
            <a:r>
              <a:rPr lang="en-US" sz="2000" dirty="0" smtClean="0"/>
              <a:t>, p</a:t>
            </a:r>
            <a:r>
              <a:rPr lang="en-IN" sz="2000" dirty="0" err="1" smtClean="0"/>
              <a:t>ausing</a:t>
            </a:r>
            <a:r>
              <a:rPr lang="en-IN" sz="2000" dirty="0" smtClean="0"/>
              <a:t> </a:t>
            </a:r>
            <a:r>
              <a:rPr lang="en-IN" sz="2000" dirty="0"/>
              <a:t>&amp; delaying, </a:t>
            </a:r>
            <a:r>
              <a:rPr lang="en-IN" sz="2000" dirty="0" smtClean="0"/>
              <a:t>file operations </a:t>
            </a:r>
            <a:r>
              <a:rPr lang="en-US" sz="2000" dirty="0" smtClean="0"/>
              <a:t>and conditions.</a:t>
            </a:r>
          </a:p>
          <a:p>
            <a:pPr lvl="1"/>
            <a:r>
              <a:rPr lang="en-US" sz="2000" dirty="0" smtClean="0"/>
              <a:t>It </a:t>
            </a:r>
            <a:r>
              <a:rPr lang="en-US" sz="2000" dirty="0"/>
              <a:t>serve as the core components for building and controlling your automation processes.</a:t>
            </a:r>
            <a:endParaRPr lang="en-IN"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8742161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Creating a Flow with Actions</a:t>
            </a:r>
            <a:endParaRPr lang="en-IN" dirty="0">
              <a:solidFill>
                <a:srgbClr val="FF0000"/>
              </a:solidFill>
            </a:endParaRPr>
          </a:p>
        </p:txBody>
      </p:sp>
      <p:grpSp>
        <p:nvGrpSpPr>
          <p:cNvPr id="6" name="Group 5"/>
          <p:cNvGrpSpPr/>
          <p:nvPr/>
        </p:nvGrpSpPr>
        <p:grpSpPr>
          <a:xfrm>
            <a:off x="2215662" y="1828800"/>
            <a:ext cx="8080129" cy="4545623"/>
            <a:chOff x="3896740" y="2096064"/>
            <a:chExt cx="4542128" cy="4542128"/>
          </a:xfrm>
        </p:grpSpPr>
        <p:sp>
          <p:nvSpPr>
            <p:cNvPr id="7" name="Diamond 6"/>
            <p:cNvSpPr/>
            <p:nvPr/>
          </p:nvSpPr>
          <p:spPr>
            <a:xfrm>
              <a:off x="3896740" y="2096064"/>
              <a:ext cx="4542128" cy="4542128"/>
            </a:xfrm>
            <a:prstGeom prst="diamond">
              <a:avLst/>
            </a:prstGeom>
            <a:scene3d>
              <a:camera prst="orthographicFront"/>
              <a:lightRig rig="threePt" dir="t">
                <a:rot lat="0" lon="0" rev="7500000"/>
              </a:lightRig>
            </a:scene3d>
            <a:sp3d z="-152400" extrusionH="63500" prstMaterial="matte">
              <a:bevelT w="144450" h="6350" prst="relaxedInset"/>
              <a:contourClr>
                <a:schemeClr val="bg1"/>
              </a:contourClr>
            </a:sp3d>
          </p:spPr>
          <p:style>
            <a:lnRef idx="0">
              <a:schemeClr val="dk1">
                <a:hueOff val="0"/>
                <a:satOff val="0"/>
                <a:lumOff val="0"/>
                <a:alphaOff val="0"/>
              </a:schemeClr>
            </a:lnRef>
            <a:fillRef idx="3">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8" name="Freeform 7"/>
            <p:cNvSpPr/>
            <p:nvPr/>
          </p:nvSpPr>
          <p:spPr>
            <a:xfrm>
              <a:off x="4328242" y="2527566"/>
              <a:ext cx="1771429" cy="1771429"/>
            </a:xfrm>
            <a:custGeom>
              <a:avLst/>
              <a:gdLst>
                <a:gd name="connsiteX0" fmla="*/ 0 w 1771429"/>
                <a:gd name="connsiteY0" fmla="*/ 295244 h 1771429"/>
                <a:gd name="connsiteX1" fmla="*/ 295244 w 1771429"/>
                <a:gd name="connsiteY1" fmla="*/ 0 h 1771429"/>
                <a:gd name="connsiteX2" fmla="*/ 1476185 w 1771429"/>
                <a:gd name="connsiteY2" fmla="*/ 0 h 1771429"/>
                <a:gd name="connsiteX3" fmla="*/ 1771429 w 1771429"/>
                <a:gd name="connsiteY3" fmla="*/ 295244 h 1771429"/>
                <a:gd name="connsiteX4" fmla="*/ 1771429 w 1771429"/>
                <a:gd name="connsiteY4" fmla="*/ 1476185 h 1771429"/>
                <a:gd name="connsiteX5" fmla="*/ 1476185 w 1771429"/>
                <a:gd name="connsiteY5" fmla="*/ 1771429 h 1771429"/>
                <a:gd name="connsiteX6" fmla="*/ 295244 w 1771429"/>
                <a:gd name="connsiteY6" fmla="*/ 1771429 h 1771429"/>
                <a:gd name="connsiteX7" fmla="*/ 0 w 1771429"/>
                <a:gd name="connsiteY7" fmla="*/ 1476185 h 1771429"/>
                <a:gd name="connsiteX8" fmla="*/ 0 w 1771429"/>
                <a:gd name="connsiteY8" fmla="*/ 295244 h 177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1429" h="1771429">
                  <a:moveTo>
                    <a:pt x="0" y="295244"/>
                  </a:moveTo>
                  <a:cubicBezTo>
                    <a:pt x="0" y="132185"/>
                    <a:pt x="132185" y="0"/>
                    <a:pt x="295244" y="0"/>
                  </a:cubicBezTo>
                  <a:lnTo>
                    <a:pt x="1476185" y="0"/>
                  </a:lnTo>
                  <a:cubicBezTo>
                    <a:pt x="1639244" y="0"/>
                    <a:pt x="1771429" y="132185"/>
                    <a:pt x="1771429" y="295244"/>
                  </a:cubicBezTo>
                  <a:lnTo>
                    <a:pt x="1771429" y="1476185"/>
                  </a:lnTo>
                  <a:cubicBezTo>
                    <a:pt x="1771429" y="1639244"/>
                    <a:pt x="1639244" y="1771429"/>
                    <a:pt x="1476185" y="1771429"/>
                  </a:cubicBezTo>
                  <a:lnTo>
                    <a:pt x="295244" y="1771429"/>
                  </a:lnTo>
                  <a:cubicBezTo>
                    <a:pt x="132185" y="1771429"/>
                    <a:pt x="0" y="1639244"/>
                    <a:pt x="0" y="1476185"/>
                  </a:cubicBezTo>
                  <a:lnTo>
                    <a:pt x="0" y="295244"/>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36004" tIns="136004" rIns="136004" bIns="136004" numCol="1" spcCol="1270" anchor="ctr" anchorCtr="0">
              <a:noAutofit/>
            </a:bodyPr>
            <a:lstStyle/>
            <a:p>
              <a:pPr lvl="0" algn="ctr" defTabSz="577850" rtl="0">
                <a:lnSpc>
                  <a:spcPct val="90000"/>
                </a:lnSpc>
                <a:spcBef>
                  <a:spcPct val="0"/>
                </a:spcBef>
                <a:spcAft>
                  <a:spcPct val="35000"/>
                </a:spcAft>
              </a:pPr>
              <a:r>
                <a:rPr lang="en-US" sz="2000" b="1" i="0" kern="1200" baseline="0" dirty="0" smtClean="0">
                  <a:solidFill>
                    <a:srgbClr val="C00000"/>
                  </a:solidFill>
                </a:rPr>
                <a:t>Start a New Flow:</a:t>
              </a:r>
              <a:r>
                <a:rPr lang="en-US" sz="2000" b="0" i="0" kern="1200" baseline="0" dirty="0" smtClean="0">
                  <a:solidFill>
                    <a:srgbClr val="C00000"/>
                  </a:solidFill>
                </a:rPr>
                <a:t> </a:t>
              </a:r>
            </a:p>
            <a:p>
              <a:pPr lvl="0" algn="ctr" defTabSz="577850" rtl="0">
                <a:lnSpc>
                  <a:spcPct val="90000"/>
                </a:lnSpc>
                <a:spcBef>
                  <a:spcPct val="0"/>
                </a:spcBef>
                <a:spcAft>
                  <a:spcPct val="35000"/>
                </a:spcAft>
              </a:pPr>
              <a:r>
                <a:rPr lang="en-US" sz="1600" b="0" i="0" kern="1200" baseline="0" dirty="0" smtClean="0">
                  <a:solidFill>
                    <a:schemeClr val="tx2">
                      <a:lumMod val="25000"/>
                    </a:schemeClr>
                  </a:solidFill>
                </a:rPr>
                <a:t>Open Power Automate Desktop and create a new flow.</a:t>
              </a:r>
              <a:endParaRPr lang="en-IN" sz="1600" kern="1200" dirty="0">
                <a:solidFill>
                  <a:schemeClr val="tx2">
                    <a:lumMod val="25000"/>
                  </a:schemeClr>
                </a:solidFill>
              </a:endParaRPr>
            </a:p>
          </p:txBody>
        </p:sp>
        <p:sp>
          <p:nvSpPr>
            <p:cNvPr id="9" name="Freeform 8"/>
            <p:cNvSpPr/>
            <p:nvPr/>
          </p:nvSpPr>
          <p:spPr>
            <a:xfrm>
              <a:off x="6235935" y="2527566"/>
              <a:ext cx="1771429" cy="1771429"/>
            </a:xfrm>
            <a:custGeom>
              <a:avLst/>
              <a:gdLst>
                <a:gd name="connsiteX0" fmla="*/ 0 w 1771429"/>
                <a:gd name="connsiteY0" fmla="*/ 295244 h 1771429"/>
                <a:gd name="connsiteX1" fmla="*/ 295244 w 1771429"/>
                <a:gd name="connsiteY1" fmla="*/ 0 h 1771429"/>
                <a:gd name="connsiteX2" fmla="*/ 1476185 w 1771429"/>
                <a:gd name="connsiteY2" fmla="*/ 0 h 1771429"/>
                <a:gd name="connsiteX3" fmla="*/ 1771429 w 1771429"/>
                <a:gd name="connsiteY3" fmla="*/ 295244 h 1771429"/>
                <a:gd name="connsiteX4" fmla="*/ 1771429 w 1771429"/>
                <a:gd name="connsiteY4" fmla="*/ 1476185 h 1771429"/>
                <a:gd name="connsiteX5" fmla="*/ 1476185 w 1771429"/>
                <a:gd name="connsiteY5" fmla="*/ 1771429 h 1771429"/>
                <a:gd name="connsiteX6" fmla="*/ 295244 w 1771429"/>
                <a:gd name="connsiteY6" fmla="*/ 1771429 h 1771429"/>
                <a:gd name="connsiteX7" fmla="*/ 0 w 1771429"/>
                <a:gd name="connsiteY7" fmla="*/ 1476185 h 1771429"/>
                <a:gd name="connsiteX8" fmla="*/ 0 w 1771429"/>
                <a:gd name="connsiteY8" fmla="*/ 295244 h 177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1429" h="1771429">
                  <a:moveTo>
                    <a:pt x="0" y="295244"/>
                  </a:moveTo>
                  <a:cubicBezTo>
                    <a:pt x="0" y="132185"/>
                    <a:pt x="132185" y="0"/>
                    <a:pt x="295244" y="0"/>
                  </a:cubicBezTo>
                  <a:lnTo>
                    <a:pt x="1476185" y="0"/>
                  </a:lnTo>
                  <a:cubicBezTo>
                    <a:pt x="1639244" y="0"/>
                    <a:pt x="1771429" y="132185"/>
                    <a:pt x="1771429" y="295244"/>
                  </a:cubicBezTo>
                  <a:lnTo>
                    <a:pt x="1771429" y="1476185"/>
                  </a:lnTo>
                  <a:cubicBezTo>
                    <a:pt x="1771429" y="1639244"/>
                    <a:pt x="1639244" y="1771429"/>
                    <a:pt x="1476185" y="1771429"/>
                  </a:cubicBezTo>
                  <a:lnTo>
                    <a:pt x="295244" y="1771429"/>
                  </a:lnTo>
                  <a:cubicBezTo>
                    <a:pt x="132185" y="1771429"/>
                    <a:pt x="0" y="1639244"/>
                    <a:pt x="0" y="1476185"/>
                  </a:cubicBezTo>
                  <a:lnTo>
                    <a:pt x="0" y="295244"/>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36004" tIns="136004" rIns="136004" bIns="136004" numCol="1" spcCol="1270" anchor="ctr" anchorCtr="0">
              <a:noAutofit/>
            </a:bodyPr>
            <a:lstStyle/>
            <a:p>
              <a:pPr lvl="0" algn="ctr" defTabSz="577850" rtl="0">
                <a:lnSpc>
                  <a:spcPct val="90000"/>
                </a:lnSpc>
                <a:spcBef>
                  <a:spcPct val="0"/>
                </a:spcBef>
                <a:spcAft>
                  <a:spcPct val="35000"/>
                </a:spcAft>
              </a:pPr>
              <a:r>
                <a:rPr lang="en-US" sz="2000" b="1" i="0" kern="1200" baseline="0" dirty="0" smtClean="0">
                  <a:solidFill>
                    <a:srgbClr val="C00000"/>
                  </a:solidFill>
                </a:rPr>
                <a:t>Drag and Drop Actions:</a:t>
              </a:r>
              <a:r>
                <a:rPr lang="en-US" sz="2000" b="0" i="0" kern="1200" baseline="0" dirty="0" smtClean="0">
                  <a:solidFill>
                    <a:srgbClr val="C00000"/>
                  </a:solidFill>
                </a:rPr>
                <a:t> </a:t>
              </a:r>
            </a:p>
            <a:p>
              <a:pPr lvl="0" algn="ctr" defTabSz="577850" rtl="0">
                <a:lnSpc>
                  <a:spcPct val="90000"/>
                </a:lnSpc>
                <a:spcBef>
                  <a:spcPct val="0"/>
                </a:spcBef>
                <a:spcAft>
                  <a:spcPct val="35000"/>
                </a:spcAft>
              </a:pPr>
              <a:r>
                <a:rPr lang="en-US" sz="1600" b="0" i="0" kern="1200" baseline="0" dirty="0" smtClean="0">
                  <a:solidFill>
                    <a:schemeClr val="tx2">
                      <a:lumMod val="25000"/>
                    </a:schemeClr>
                  </a:solidFill>
                </a:rPr>
                <a:t>Use the actions pane to drag and drop desired actions onto the workflow canvas.</a:t>
              </a:r>
              <a:endParaRPr lang="en-IN" sz="1600" kern="1200" dirty="0">
                <a:solidFill>
                  <a:schemeClr val="tx2">
                    <a:lumMod val="25000"/>
                  </a:schemeClr>
                </a:solidFill>
              </a:endParaRPr>
            </a:p>
          </p:txBody>
        </p:sp>
        <p:sp>
          <p:nvSpPr>
            <p:cNvPr id="10" name="Freeform 9"/>
            <p:cNvSpPr/>
            <p:nvPr/>
          </p:nvSpPr>
          <p:spPr>
            <a:xfrm>
              <a:off x="4328242" y="4435259"/>
              <a:ext cx="1771429" cy="1771429"/>
            </a:xfrm>
            <a:custGeom>
              <a:avLst/>
              <a:gdLst>
                <a:gd name="connsiteX0" fmla="*/ 0 w 1771429"/>
                <a:gd name="connsiteY0" fmla="*/ 295244 h 1771429"/>
                <a:gd name="connsiteX1" fmla="*/ 295244 w 1771429"/>
                <a:gd name="connsiteY1" fmla="*/ 0 h 1771429"/>
                <a:gd name="connsiteX2" fmla="*/ 1476185 w 1771429"/>
                <a:gd name="connsiteY2" fmla="*/ 0 h 1771429"/>
                <a:gd name="connsiteX3" fmla="*/ 1771429 w 1771429"/>
                <a:gd name="connsiteY3" fmla="*/ 295244 h 1771429"/>
                <a:gd name="connsiteX4" fmla="*/ 1771429 w 1771429"/>
                <a:gd name="connsiteY4" fmla="*/ 1476185 h 1771429"/>
                <a:gd name="connsiteX5" fmla="*/ 1476185 w 1771429"/>
                <a:gd name="connsiteY5" fmla="*/ 1771429 h 1771429"/>
                <a:gd name="connsiteX6" fmla="*/ 295244 w 1771429"/>
                <a:gd name="connsiteY6" fmla="*/ 1771429 h 1771429"/>
                <a:gd name="connsiteX7" fmla="*/ 0 w 1771429"/>
                <a:gd name="connsiteY7" fmla="*/ 1476185 h 1771429"/>
                <a:gd name="connsiteX8" fmla="*/ 0 w 1771429"/>
                <a:gd name="connsiteY8" fmla="*/ 295244 h 177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1429" h="1771429">
                  <a:moveTo>
                    <a:pt x="0" y="295244"/>
                  </a:moveTo>
                  <a:cubicBezTo>
                    <a:pt x="0" y="132185"/>
                    <a:pt x="132185" y="0"/>
                    <a:pt x="295244" y="0"/>
                  </a:cubicBezTo>
                  <a:lnTo>
                    <a:pt x="1476185" y="0"/>
                  </a:lnTo>
                  <a:cubicBezTo>
                    <a:pt x="1639244" y="0"/>
                    <a:pt x="1771429" y="132185"/>
                    <a:pt x="1771429" y="295244"/>
                  </a:cubicBezTo>
                  <a:lnTo>
                    <a:pt x="1771429" y="1476185"/>
                  </a:lnTo>
                  <a:cubicBezTo>
                    <a:pt x="1771429" y="1639244"/>
                    <a:pt x="1639244" y="1771429"/>
                    <a:pt x="1476185" y="1771429"/>
                  </a:cubicBezTo>
                  <a:lnTo>
                    <a:pt x="295244" y="1771429"/>
                  </a:lnTo>
                  <a:cubicBezTo>
                    <a:pt x="132185" y="1771429"/>
                    <a:pt x="0" y="1639244"/>
                    <a:pt x="0" y="1476185"/>
                  </a:cubicBezTo>
                  <a:lnTo>
                    <a:pt x="0" y="295244"/>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36004" tIns="136004" rIns="136004" bIns="136004" numCol="1" spcCol="1270" anchor="ctr" anchorCtr="0">
              <a:noAutofit/>
            </a:bodyPr>
            <a:lstStyle/>
            <a:p>
              <a:pPr lvl="0" algn="ctr" defTabSz="577850" rtl="0">
                <a:lnSpc>
                  <a:spcPct val="90000"/>
                </a:lnSpc>
                <a:spcBef>
                  <a:spcPct val="0"/>
                </a:spcBef>
                <a:spcAft>
                  <a:spcPct val="35000"/>
                </a:spcAft>
              </a:pPr>
              <a:r>
                <a:rPr lang="en-US" sz="2000" b="1" i="0" kern="1200" baseline="0" dirty="0" smtClean="0">
                  <a:solidFill>
                    <a:srgbClr val="C00000"/>
                  </a:solidFill>
                </a:rPr>
                <a:t>Configure Actions:</a:t>
              </a:r>
              <a:r>
                <a:rPr lang="en-US" sz="2000" b="0" i="0" kern="1200" baseline="0" dirty="0" smtClean="0">
                  <a:solidFill>
                    <a:srgbClr val="C00000"/>
                  </a:solidFill>
                </a:rPr>
                <a:t> </a:t>
              </a:r>
              <a:r>
                <a:rPr lang="en-US" sz="1600" b="0" i="0" kern="1200" baseline="0" dirty="0" smtClean="0">
                  <a:solidFill>
                    <a:schemeClr val="tx2">
                      <a:lumMod val="25000"/>
                    </a:schemeClr>
                  </a:solidFill>
                </a:rPr>
                <a:t>Customize each action with parameters like file paths, data sources, and conditions.</a:t>
              </a:r>
              <a:endParaRPr lang="en-IN" sz="1600" kern="1200" dirty="0">
                <a:solidFill>
                  <a:schemeClr val="tx2">
                    <a:lumMod val="25000"/>
                  </a:schemeClr>
                </a:solidFill>
              </a:endParaRPr>
            </a:p>
          </p:txBody>
        </p:sp>
        <p:sp>
          <p:nvSpPr>
            <p:cNvPr id="11" name="Freeform 10"/>
            <p:cNvSpPr/>
            <p:nvPr/>
          </p:nvSpPr>
          <p:spPr>
            <a:xfrm>
              <a:off x="6235935" y="4435259"/>
              <a:ext cx="1771429" cy="1771429"/>
            </a:xfrm>
            <a:custGeom>
              <a:avLst/>
              <a:gdLst>
                <a:gd name="connsiteX0" fmla="*/ 0 w 1771429"/>
                <a:gd name="connsiteY0" fmla="*/ 295244 h 1771429"/>
                <a:gd name="connsiteX1" fmla="*/ 295244 w 1771429"/>
                <a:gd name="connsiteY1" fmla="*/ 0 h 1771429"/>
                <a:gd name="connsiteX2" fmla="*/ 1476185 w 1771429"/>
                <a:gd name="connsiteY2" fmla="*/ 0 h 1771429"/>
                <a:gd name="connsiteX3" fmla="*/ 1771429 w 1771429"/>
                <a:gd name="connsiteY3" fmla="*/ 295244 h 1771429"/>
                <a:gd name="connsiteX4" fmla="*/ 1771429 w 1771429"/>
                <a:gd name="connsiteY4" fmla="*/ 1476185 h 1771429"/>
                <a:gd name="connsiteX5" fmla="*/ 1476185 w 1771429"/>
                <a:gd name="connsiteY5" fmla="*/ 1771429 h 1771429"/>
                <a:gd name="connsiteX6" fmla="*/ 295244 w 1771429"/>
                <a:gd name="connsiteY6" fmla="*/ 1771429 h 1771429"/>
                <a:gd name="connsiteX7" fmla="*/ 0 w 1771429"/>
                <a:gd name="connsiteY7" fmla="*/ 1476185 h 1771429"/>
                <a:gd name="connsiteX8" fmla="*/ 0 w 1771429"/>
                <a:gd name="connsiteY8" fmla="*/ 295244 h 177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1429" h="1771429">
                  <a:moveTo>
                    <a:pt x="0" y="295244"/>
                  </a:moveTo>
                  <a:cubicBezTo>
                    <a:pt x="0" y="132185"/>
                    <a:pt x="132185" y="0"/>
                    <a:pt x="295244" y="0"/>
                  </a:cubicBezTo>
                  <a:lnTo>
                    <a:pt x="1476185" y="0"/>
                  </a:lnTo>
                  <a:cubicBezTo>
                    <a:pt x="1639244" y="0"/>
                    <a:pt x="1771429" y="132185"/>
                    <a:pt x="1771429" y="295244"/>
                  </a:cubicBezTo>
                  <a:lnTo>
                    <a:pt x="1771429" y="1476185"/>
                  </a:lnTo>
                  <a:cubicBezTo>
                    <a:pt x="1771429" y="1639244"/>
                    <a:pt x="1639244" y="1771429"/>
                    <a:pt x="1476185" y="1771429"/>
                  </a:cubicBezTo>
                  <a:lnTo>
                    <a:pt x="295244" y="1771429"/>
                  </a:lnTo>
                  <a:cubicBezTo>
                    <a:pt x="132185" y="1771429"/>
                    <a:pt x="0" y="1639244"/>
                    <a:pt x="0" y="1476185"/>
                  </a:cubicBezTo>
                  <a:lnTo>
                    <a:pt x="0" y="295244"/>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36004" tIns="136004" rIns="136004" bIns="136004" numCol="1" spcCol="1270" anchor="ctr" anchorCtr="0">
              <a:noAutofit/>
            </a:bodyPr>
            <a:lstStyle/>
            <a:p>
              <a:pPr lvl="0" algn="ctr" defTabSz="577850" rtl="0">
                <a:lnSpc>
                  <a:spcPct val="90000"/>
                </a:lnSpc>
                <a:spcBef>
                  <a:spcPct val="0"/>
                </a:spcBef>
                <a:spcAft>
                  <a:spcPct val="35000"/>
                </a:spcAft>
              </a:pPr>
              <a:r>
                <a:rPr lang="en-US" sz="2000" b="1" i="0" kern="1200" baseline="0" dirty="0" smtClean="0">
                  <a:solidFill>
                    <a:srgbClr val="C00000"/>
                  </a:solidFill>
                </a:rPr>
                <a:t>Test the Flow:</a:t>
              </a:r>
              <a:r>
                <a:rPr lang="en-US" sz="2000" b="0" i="0" kern="1200" baseline="0" dirty="0" smtClean="0">
                  <a:solidFill>
                    <a:srgbClr val="C00000"/>
                  </a:solidFill>
                </a:rPr>
                <a:t> </a:t>
              </a:r>
            </a:p>
            <a:p>
              <a:pPr lvl="0" algn="ctr" defTabSz="577850" rtl="0">
                <a:lnSpc>
                  <a:spcPct val="90000"/>
                </a:lnSpc>
                <a:spcBef>
                  <a:spcPct val="0"/>
                </a:spcBef>
                <a:spcAft>
                  <a:spcPct val="35000"/>
                </a:spcAft>
              </a:pPr>
              <a:r>
                <a:rPr lang="en-US" sz="1600" b="0" i="0" kern="1200" baseline="0" dirty="0" smtClean="0">
                  <a:solidFill>
                    <a:schemeClr val="tx2">
                      <a:lumMod val="25000"/>
                    </a:schemeClr>
                  </a:solidFill>
                </a:rPr>
                <a:t>Run the flow to ensure all actions execute as expected and refine as needed.</a:t>
              </a:r>
              <a:endParaRPr lang="en-IN" sz="1600" kern="1200" dirty="0">
                <a:solidFill>
                  <a:schemeClr val="tx2">
                    <a:lumMod val="25000"/>
                  </a:schemeClr>
                </a:solidFill>
              </a:endParaRPr>
            </a:p>
          </p:txBody>
        </p:sp>
      </p:gr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4995376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solidFill>
                  <a:srgbClr val="FF0000"/>
                </a:solidFill>
              </a:rPr>
              <a:t> Example: </a:t>
            </a:r>
            <a:r>
              <a:rPr lang="en-IN" sz="2400" dirty="0">
                <a:solidFill>
                  <a:schemeClr val="accent5">
                    <a:lumMod val="60000"/>
                    <a:lumOff val="40000"/>
                  </a:schemeClr>
                </a:solidFill>
              </a:rPr>
              <a:t>Automating Report </a:t>
            </a:r>
            <a:r>
              <a:rPr lang="en-IN" sz="2400" dirty="0" smtClean="0">
                <a:solidFill>
                  <a:schemeClr val="accent5">
                    <a:lumMod val="60000"/>
                    <a:lumOff val="40000"/>
                  </a:schemeClr>
                </a:solidFill>
              </a:rPr>
              <a:t>Generation</a:t>
            </a:r>
            <a:endParaRPr lang="en-IN" sz="2400" dirty="0">
              <a:solidFill>
                <a:schemeClr val="accent5">
                  <a:lumMod val="60000"/>
                  <a:lumOff val="40000"/>
                </a:schemeClr>
              </a:solidFill>
            </a:endParaRPr>
          </a:p>
        </p:txBody>
      </p:sp>
      <p:sp>
        <p:nvSpPr>
          <p:cNvPr id="3" name="Content Placeholder 2"/>
          <p:cNvSpPr>
            <a:spLocks noGrp="1"/>
          </p:cNvSpPr>
          <p:nvPr>
            <p:ph idx="1"/>
          </p:nvPr>
        </p:nvSpPr>
        <p:spPr/>
        <p:txBody>
          <a:bodyPr/>
          <a:lstStyle/>
          <a:p>
            <a:r>
              <a:rPr lang="en-US" dirty="0">
                <a:effectLst/>
              </a:rPr>
              <a:t>Actions in Excel Automation using Power Automate </a:t>
            </a:r>
            <a:r>
              <a:rPr lang="en-US" dirty="0" smtClean="0">
                <a:effectLst/>
              </a:rPr>
              <a:t>Desktop : </a:t>
            </a:r>
          </a:p>
          <a:p>
            <a:pPr marL="800100" lvl="1" indent="-342900">
              <a:buFont typeface="+mj-lt"/>
              <a:buAutoNum type="arabicPeriod"/>
            </a:pPr>
            <a:r>
              <a:rPr lang="en-US" dirty="0" smtClean="0"/>
              <a:t>Launch </a:t>
            </a:r>
            <a:r>
              <a:rPr lang="en-US" dirty="0"/>
              <a:t>Excel and open a report template</a:t>
            </a:r>
            <a:r>
              <a:rPr lang="en-US" dirty="0" smtClean="0"/>
              <a:t>.</a:t>
            </a:r>
          </a:p>
          <a:p>
            <a:pPr marL="800100" lvl="1" indent="-342900">
              <a:buFont typeface="+mj-lt"/>
              <a:buAutoNum type="arabicPeriod"/>
            </a:pPr>
            <a:r>
              <a:rPr lang="en-US" dirty="0" smtClean="0">
                <a:effectLst/>
              </a:rPr>
              <a:t>Read from Excel Work Sheet </a:t>
            </a:r>
          </a:p>
          <a:p>
            <a:pPr marL="800100" lvl="1" indent="-342900">
              <a:buFont typeface="+mj-lt"/>
              <a:buAutoNum type="arabicPeriod"/>
            </a:pPr>
            <a:r>
              <a:rPr lang="en-US" dirty="0"/>
              <a:t>Write data to the Excel template</a:t>
            </a:r>
            <a:r>
              <a:rPr lang="en-US" dirty="0" smtClean="0"/>
              <a:t>.</a:t>
            </a:r>
          </a:p>
          <a:p>
            <a:pPr marL="800100" lvl="1" indent="-342900">
              <a:buFont typeface="+mj-lt"/>
              <a:buAutoNum type="arabicPeriod"/>
            </a:pPr>
            <a:r>
              <a:rPr lang="en-US" dirty="0"/>
              <a:t>Save and close the Excel file</a:t>
            </a:r>
            <a:r>
              <a:rPr lang="en-US" dirty="0" smtClean="0"/>
              <a:t>.</a:t>
            </a:r>
          </a:p>
          <a:p>
            <a:pPr marL="800100" lvl="1" indent="-342900">
              <a:buFont typeface="+mj-lt"/>
              <a:buAutoNum type="arabicPeriod"/>
            </a:pPr>
            <a:r>
              <a:rPr lang="en-US" dirty="0"/>
              <a:t>Send the report via email.</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3012757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solidFill>
                  <a:srgbClr val="FF0000"/>
                </a:solidFill>
              </a:rPr>
              <a:t> Example: </a:t>
            </a:r>
            <a:r>
              <a:rPr lang="en-IN" sz="2400" dirty="0" smtClean="0">
                <a:solidFill>
                  <a:schemeClr val="accent5">
                    <a:lumMod val="60000"/>
                    <a:lumOff val="40000"/>
                  </a:schemeClr>
                </a:solidFill>
              </a:rPr>
              <a:t>web Scraping</a:t>
            </a:r>
            <a:endParaRPr lang="en-IN" sz="2400" dirty="0">
              <a:solidFill>
                <a:schemeClr val="accent5">
                  <a:lumMod val="60000"/>
                  <a:lumOff val="40000"/>
                </a:schemeClr>
              </a:solidFill>
            </a:endParaRPr>
          </a:p>
        </p:txBody>
      </p:sp>
      <p:sp>
        <p:nvSpPr>
          <p:cNvPr id="3" name="Content Placeholder 2"/>
          <p:cNvSpPr>
            <a:spLocks noGrp="1"/>
          </p:cNvSpPr>
          <p:nvPr>
            <p:ph idx="1"/>
          </p:nvPr>
        </p:nvSpPr>
        <p:spPr/>
        <p:txBody>
          <a:bodyPr/>
          <a:lstStyle/>
          <a:p>
            <a:r>
              <a:rPr lang="en-US" dirty="0">
                <a:effectLst/>
              </a:rPr>
              <a:t>Actions in </a:t>
            </a:r>
            <a:r>
              <a:rPr lang="en-US" dirty="0" smtClean="0">
                <a:effectLst/>
              </a:rPr>
              <a:t>Web Scraping using </a:t>
            </a:r>
            <a:r>
              <a:rPr lang="en-US" dirty="0">
                <a:effectLst/>
              </a:rPr>
              <a:t>Power Automate </a:t>
            </a:r>
            <a:r>
              <a:rPr lang="en-US" dirty="0" smtClean="0">
                <a:effectLst/>
              </a:rPr>
              <a:t>Desktop : </a:t>
            </a:r>
          </a:p>
          <a:p>
            <a:pPr marL="800100" lvl="1" indent="-342900">
              <a:buFont typeface="+mj-lt"/>
              <a:buAutoNum type="arabicPeriod"/>
            </a:pPr>
            <a:r>
              <a:rPr lang="en-US" dirty="0"/>
              <a:t>Launch a web browser and navigate to a webpage</a:t>
            </a:r>
            <a:r>
              <a:rPr lang="en-US" dirty="0" smtClean="0"/>
              <a:t>.</a:t>
            </a:r>
          </a:p>
          <a:p>
            <a:pPr marL="800100" lvl="1" indent="-342900">
              <a:buFont typeface="+mj-lt"/>
              <a:buAutoNum type="arabicPeriod"/>
            </a:pPr>
            <a:r>
              <a:rPr lang="en-US" dirty="0"/>
              <a:t>Extract data from specific elements on the page</a:t>
            </a:r>
            <a:r>
              <a:rPr lang="en-US" dirty="0" smtClean="0"/>
              <a:t>.</a:t>
            </a:r>
          </a:p>
          <a:p>
            <a:pPr marL="800100" lvl="1" indent="-342900">
              <a:buFont typeface="+mj-lt"/>
              <a:buAutoNum type="arabicPeriod"/>
            </a:pPr>
            <a:r>
              <a:rPr lang="en-US" dirty="0"/>
              <a:t>Save the extracted data to a file or database.</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14539256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795" y="1336431"/>
            <a:ext cx="10353762" cy="4053254"/>
          </a:xfrm>
        </p:spPr>
        <p:txBody>
          <a:bodyPr>
            <a:normAutofit/>
          </a:bodyPr>
          <a:lstStyle/>
          <a:p>
            <a:r>
              <a:rPr lang="en-US" sz="5400" i="1" dirty="0" smtClean="0">
                <a:solidFill>
                  <a:srgbClr val="FF0000"/>
                </a:solidFill>
                <a:latin typeface="Algerian" panose="04020705040A02060702" pitchFamily="82" charset="0"/>
              </a:rPr>
              <a:t>THANKYOU</a:t>
            </a:r>
            <a:endParaRPr lang="en-IN" sz="5400" i="1" dirty="0">
              <a:solidFill>
                <a:srgbClr val="FF0000"/>
              </a:solidFill>
              <a:latin typeface="Algerian" panose="04020705040A02060702" pitchFamily="82" charset="0"/>
            </a:endParaRPr>
          </a:p>
        </p:txBody>
      </p:sp>
      <p:sp>
        <p:nvSpPr>
          <p:cNvPr id="5" name="Text Placeholder 4"/>
          <p:cNvSpPr>
            <a:spLocks noGrp="1"/>
          </p:cNvSpPr>
          <p:nvPr>
            <p:ph type="body" sz="half" idx="2"/>
          </p:nvPr>
        </p:nvSpPr>
        <p:spPr/>
        <p:txBody>
          <a:bodyPr/>
          <a:lstStyle/>
          <a:p>
            <a:r>
              <a:rPr lang="en-US" dirty="0" smtClean="0"/>
              <a:t> </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536331" cy="536331"/>
          </a:xfrm>
          <a:prstGeom prst="rect">
            <a:avLst/>
          </a:prstGeom>
        </p:spPr>
      </p:pic>
    </p:spTree>
    <p:extLst>
      <p:ext uri="{BB962C8B-B14F-4D97-AF65-F5344CB8AC3E}">
        <p14:creationId xmlns:p14="http://schemas.microsoft.com/office/powerpoint/2010/main" val="32355794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1816</TotalTime>
  <Words>4724</Words>
  <Application>Microsoft Office PowerPoint</Application>
  <PresentationFormat>Widescreen</PresentationFormat>
  <Paragraphs>491</Paragraphs>
  <Slides>80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80</vt:i4>
      </vt:variant>
    </vt:vector>
  </HeadingPairs>
  <TitlesOfParts>
    <vt:vector size="87" baseType="lpstr">
      <vt:lpstr>Algerian</vt:lpstr>
      <vt:lpstr>Arial</vt:lpstr>
      <vt:lpstr>Bell MT</vt:lpstr>
      <vt:lpstr>Bookman Old Style</vt:lpstr>
      <vt:lpstr>Rockwell</vt:lpstr>
      <vt:lpstr>Wingdings</vt:lpstr>
      <vt:lpstr>Damask</vt:lpstr>
      <vt:lpstr>Power Automate</vt:lpstr>
      <vt:lpstr>agenda</vt:lpstr>
      <vt:lpstr>Introduction</vt:lpstr>
      <vt:lpstr>What is Power Automate?</vt:lpstr>
      <vt:lpstr>Key Features </vt:lpstr>
      <vt:lpstr>Key Features </vt:lpstr>
      <vt:lpstr>Key Features </vt:lpstr>
      <vt:lpstr>Components</vt:lpstr>
      <vt:lpstr>Components</vt:lpstr>
      <vt:lpstr>Components</vt:lpstr>
      <vt:lpstr>Components</vt:lpstr>
      <vt:lpstr>Benefits</vt:lpstr>
      <vt:lpstr>Benefits</vt:lpstr>
      <vt:lpstr>Getting Started with Power Automate:</vt:lpstr>
      <vt:lpstr>Power automate flow types</vt:lpstr>
      <vt:lpstr>Power automate flow types</vt:lpstr>
      <vt:lpstr>Power automate flow types</vt:lpstr>
      <vt:lpstr>Power automate flow types</vt:lpstr>
      <vt:lpstr>Power automate flow types</vt:lpstr>
      <vt:lpstr>Power automate flow types</vt:lpstr>
      <vt:lpstr>Desktop Flow Overview</vt:lpstr>
      <vt:lpstr>Power automate flow types</vt:lpstr>
      <vt:lpstr>Triggers</vt:lpstr>
      <vt:lpstr>Types of Triggers</vt:lpstr>
      <vt:lpstr>Types of Triggers</vt:lpstr>
      <vt:lpstr>Types of Triggers</vt:lpstr>
      <vt:lpstr>How Triggers Works</vt:lpstr>
      <vt:lpstr>Examples of Common Triggers</vt:lpstr>
      <vt:lpstr>Examples of Common Triggers</vt:lpstr>
      <vt:lpstr>Actions</vt:lpstr>
      <vt:lpstr>Types of Actions</vt:lpstr>
      <vt:lpstr>Types of Actions</vt:lpstr>
      <vt:lpstr>Types of Actions</vt:lpstr>
      <vt:lpstr>Types of Actions</vt:lpstr>
      <vt:lpstr>How to Use Actions in a Flow</vt:lpstr>
      <vt:lpstr>How to Use Actions in a Flow</vt:lpstr>
      <vt:lpstr>Examples of Common Actions</vt:lpstr>
      <vt:lpstr>Trigger And actions</vt:lpstr>
      <vt:lpstr>Example: reporting the email from power bi report builder</vt:lpstr>
      <vt:lpstr>Step 1:  Create a manual trigger flow</vt:lpstr>
      <vt:lpstr>Step 2:   Choose Text and give the input as Email address</vt:lpstr>
      <vt:lpstr>Step 3:  Choose an action ( Export to file for Paginated Reports)</vt:lpstr>
      <vt:lpstr>Step 4:  fill up the details in the parameter</vt:lpstr>
      <vt:lpstr>Step 5:  Again choose an action (send an email)</vt:lpstr>
      <vt:lpstr>Step 6:  Fill up the action parameter</vt:lpstr>
      <vt:lpstr>Step 7:  Save the flow and test it</vt:lpstr>
      <vt:lpstr>Step 8:  Check the connectors </vt:lpstr>
      <vt:lpstr>Step 9:  Run the flow by providing the email address in the input field</vt:lpstr>
      <vt:lpstr>Step 10:  After execution of the flow</vt:lpstr>
      <vt:lpstr>Power automate Desktop</vt:lpstr>
      <vt:lpstr>What is Power Automate Desktop?</vt:lpstr>
      <vt:lpstr> Power automate vs power automate desktop</vt:lpstr>
      <vt:lpstr> similarities</vt:lpstr>
      <vt:lpstr>Key Features</vt:lpstr>
      <vt:lpstr>Key Features</vt:lpstr>
      <vt:lpstr>Key Features</vt:lpstr>
      <vt:lpstr>Components</vt:lpstr>
      <vt:lpstr>Components</vt:lpstr>
      <vt:lpstr>Components</vt:lpstr>
      <vt:lpstr>Components</vt:lpstr>
      <vt:lpstr>Common Use Cases</vt:lpstr>
      <vt:lpstr>Common Use Cases</vt:lpstr>
      <vt:lpstr>Getting Started</vt:lpstr>
      <vt:lpstr>Getting Started with Desktop Flows</vt:lpstr>
      <vt:lpstr>Benefits</vt:lpstr>
      <vt:lpstr>actions</vt:lpstr>
      <vt:lpstr>types of actions </vt:lpstr>
      <vt:lpstr>types of actions </vt:lpstr>
      <vt:lpstr>types of actions </vt:lpstr>
      <vt:lpstr>types of actions </vt:lpstr>
      <vt:lpstr>types of actions </vt:lpstr>
      <vt:lpstr>types of actions </vt:lpstr>
      <vt:lpstr>types of actions </vt:lpstr>
      <vt:lpstr>types of actions </vt:lpstr>
      <vt:lpstr>types of actions </vt:lpstr>
      <vt:lpstr>types of actions </vt:lpstr>
      <vt:lpstr>Creating a Flow with Actions</vt:lpstr>
      <vt:lpstr> Example: Automating Report Generation</vt:lpstr>
      <vt:lpstr> Example: web Scraping</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Automate</dc:title>
  <dc:creator>DELL</dc:creator>
  <cp:lastModifiedBy>DELL</cp:lastModifiedBy>
  <cp:revision>45</cp:revision>
  <dcterms:created xsi:type="dcterms:W3CDTF">2024-09-02T09:55:48Z</dcterms:created>
  <dcterms:modified xsi:type="dcterms:W3CDTF">2024-09-09T03:51:10Z</dcterms:modified>
</cp:coreProperties>
</file>